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9" r:id="rId14"/>
  </p:sldIdLst>
  <p:sldSz cx="20104100" cy="11309350"/>
  <p:notesSz cx="20104100" cy="113093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46" d="100"/>
          <a:sy n="46" d="100"/>
        </p:scale>
        <p:origin x="48" y="10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6231485" y="4170418"/>
            <a:ext cx="7529830" cy="19888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5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015615" y="6333236"/>
            <a:ext cx="14072870" cy="28273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95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5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95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5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005205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10353611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6/4/2026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5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6/4/2026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6/4/2026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217458" y="822353"/>
            <a:ext cx="16156259" cy="104579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5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330438" y="2387096"/>
            <a:ext cx="17443223" cy="663829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95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835394" y="10517696"/>
            <a:ext cx="6433312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005205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4474953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mailto:prathmeshkadam883@gmaiI.com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://www.kaggle.com/datasets/sampadab17/network-intrusion-detection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848312" y="4011391"/>
            <a:ext cx="14313535" cy="11055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7050" dirty="0">
                <a:latin typeface="Arial MT"/>
                <a:cs typeface="Arial MT"/>
              </a:rPr>
              <a:t>IBM</a:t>
            </a:r>
            <a:r>
              <a:rPr sz="7050" spc="-484" dirty="0">
                <a:latin typeface="Arial MT"/>
                <a:cs typeface="Arial MT"/>
              </a:rPr>
              <a:t> </a:t>
            </a:r>
            <a:r>
              <a:rPr sz="7050" spc="90" dirty="0">
                <a:latin typeface="Arial MT"/>
                <a:cs typeface="Arial MT"/>
              </a:rPr>
              <a:t>University</a:t>
            </a:r>
            <a:r>
              <a:rPr sz="7050" spc="-175" dirty="0">
                <a:latin typeface="Arial MT"/>
                <a:cs typeface="Arial MT"/>
              </a:rPr>
              <a:t> </a:t>
            </a:r>
            <a:r>
              <a:rPr sz="7050" dirty="0">
                <a:latin typeface="Arial MT"/>
                <a:cs typeface="Arial MT"/>
              </a:rPr>
              <a:t>Engagement</a:t>
            </a:r>
            <a:r>
              <a:rPr sz="7050" spc="215" dirty="0">
                <a:latin typeface="Arial MT"/>
                <a:cs typeface="Arial MT"/>
              </a:rPr>
              <a:t> </a:t>
            </a:r>
            <a:r>
              <a:rPr sz="7050" spc="-10" dirty="0">
                <a:latin typeface="Arial MT"/>
                <a:cs typeface="Arial MT"/>
              </a:rPr>
              <a:t>Project</a:t>
            </a:r>
            <a:endParaRPr sz="7050">
              <a:latin typeface="Arial MT"/>
              <a:cs typeface="Arial MT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215211" y="5009398"/>
            <a:ext cx="13601065" cy="23882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9525" algn="ctr">
              <a:lnSpc>
                <a:spcPct val="100000"/>
              </a:lnSpc>
              <a:spcBef>
                <a:spcPts val="105"/>
              </a:spcBef>
            </a:pPr>
            <a:r>
              <a:rPr sz="6950" spc="125" dirty="0">
                <a:latin typeface="Arial MT"/>
                <a:cs typeface="Arial MT"/>
              </a:rPr>
              <a:t>Submission</a:t>
            </a:r>
            <a:endParaRPr sz="6950">
              <a:latin typeface="Arial MT"/>
              <a:cs typeface="Arial MT"/>
            </a:endParaRPr>
          </a:p>
          <a:p>
            <a:pPr algn="ctr">
              <a:lnSpc>
                <a:spcPct val="100000"/>
              </a:lnSpc>
              <a:spcBef>
                <a:spcPts val="5330"/>
              </a:spcBef>
            </a:pPr>
            <a:r>
              <a:rPr sz="4100" i="1" spc="-75" dirty="0">
                <a:latin typeface="Arial"/>
                <a:cs typeface="Arial"/>
              </a:rPr>
              <a:t>”Strengthening</a:t>
            </a:r>
            <a:r>
              <a:rPr sz="4100" i="1" spc="-210" dirty="0">
                <a:latin typeface="Arial"/>
                <a:cs typeface="Arial"/>
              </a:rPr>
              <a:t> </a:t>
            </a:r>
            <a:r>
              <a:rPr sz="4100" i="1" spc="-75" dirty="0">
                <a:latin typeface="Arial"/>
                <a:cs typeface="Arial"/>
              </a:rPr>
              <a:t>Cybersecurity:</a:t>
            </a:r>
            <a:r>
              <a:rPr sz="4100" i="1" spc="-210" dirty="0">
                <a:latin typeface="Arial"/>
                <a:cs typeface="Arial"/>
              </a:rPr>
              <a:t> </a:t>
            </a:r>
            <a:r>
              <a:rPr sz="4100" i="1" spc="-85" dirty="0">
                <a:latin typeface="Arial"/>
                <a:cs typeface="Arial"/>
              </a:rPr>
              <a:t>Autonomous</a:t>
            </a:r>
            <a:r>
              <a:rPr sz="4100" i="1" spc="-155" dirty="0">
                <a:latin typeface="Arial"/>
                <a:cs typeface="Arial"/>
              </a:rPr>
              <a:t> </a:t>
            </a:r>
            <a:r>
              <a:rPr sz="4100" i="1" spc="-35" dirty="0">
                <a:latin typeface="Arial"/>
                <a:cs typeface="Arial"/>
              </a:rPr>
              <a:t>Threat</a:t>
            </a:r>
            <a:r>
              <a:rPr sz="4100" i="1" spc="-114" dirty="0">
                <a:latin typeface="Arial"/>
                <a:cs typeface="Arial"/>
              </a:rPr>
              <a:t> </a:t>
            </a:r>
            <a:r>
              <a:rPr sz="4100" i="1" spc="-25" dirty="0">
                <a:latin typeface="Arial"/>
                <a:cs typeface="Arial"/>
              </a:rPr>
              <a:t>Detection”</a:t>
            </a:r>
            <a:endParaRPr sz="41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241873" y="2932236"/>
            <a:ext cx="5888355" cy="49720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3100" dirty="0"/>
              <a:t>Student</a:t>
            </a:r>
            <a:r>
              <a:rPr sz="3100" spc="-55" dirty="0"/>
              <a:t> </a:t>
            </a:r>
            <a:r>
              <a:rPr sz="3100" dirty="0"/>
              <a:t>Name: </a:t>
            </a:r>
            <a:r>
              <a:rPr sz="3100" spc="-85" dirty="0"/>
              <a:t>Prathmesh</a:t>
            </a:r>
            <a:r>
              <a:rPr sz="3100" spc="55" dirty="0"/>
              <a:t> </a:t>
            </a:r>
            <a:r>
              <a:rPr sz="3100" spc="-60" dirty="0"/>
              <a:t>Kadam</a:t>
            </a:r>
            <a:endParaRPr sz="3100"/>
          </a:p>
        </p:txBody>
      </p:sp>
      <p:sp>
        <p:nvSpPr>
          <p:cNvPr id="4" name="object 4"/>
          <p:cNvSpPr txBox="1"/>
          <p:nvPr/>
        </p:nvSpPr>
        <p:spPr>
          <a:xfrm>
            <a:off x="1234388" y="3749619"/>
            <a:ext cx="8248650" cy="43053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5875">
              <a:lnSpc>
                <a:spcPct val="100000"/>
              </a:lnSpc>
              <a:spcBef>
                <a:spcPts val="110"/>
              </a:spcBef>
            </a:pPr>
            <a:r>
              <a:rPr sz="2950" spc="80" dirty="0">
                <a:latin typeface="Arial MT"/>
                <a:cs typeface="Arial MT"/>
              </a:rPr>
              <a:t>Email</a:t>
            </a:r>
            <a:r>
              <a:rPr sz="2950" spc="85" dirty="0">
                <a:latin typeface="Arial MT"/>
                <a:cs typeface="Arial MT"/>
              </a:rPr>
              <a:t> </a:t>
            </a:r>
            <a:r>
              <a:rPr sz="2950" spc="55" dirty="0">
                <a:latin typeface="Arial MT"/>
                <a:cs typeface="Arial MT"/>
              </a:rPr>
              <a:t>ID:</a:t>
            </a:r>
            <a:r>
              <a:rPr sz="2950" spc="65" dirty="0">
                <a:latin typeface="Arial MT"/>
                <a:cs typeface="Arial MT"/>
              </a:rPr>
              <a:t> </a:t>
            </a:r>
            <a:r>
              <a:rPr sz="2950" spc="-10" dirty="0">
                <a:latin typeface="Arial MT"/>
                <a:cs typeface="Arial MT"/>
                <a:hlinkClick r:id="rId2"/>
              </a:rPr>
              <a:t>prathmeshkadam883@gmaiI.com</a:t>
            </a:r>
            <a:endParaRPr sz="295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2620"/>
              </a:spcBef>
              <a:tabLst>
                <a:tab pos="5157470" algn="l"/>
              </a:tabLst>
            </a:pPr>
            <a:r>
              <a:rPr sz="3100" spc="65" dirty="0">
                <a:latin typeface="Calibri"/>
                <a:cs typeface="Calibri"/>
              </a:rPr>
              <a:t>Mobile</a:t>
            </a:r>
            <a:r>
              <a:rPr sz="3100" spc="175" dirty="0">
                <a:latin typeface="Calibri"/>
                <a:cs typeface="Calibri"/>
              </a:rPr>
              <a:t> </a:t>
            </a:r>
            <a:r>
              <a:rPr sz="3100" spc="125" dirty="0">
                <a:latin typeface="Calibri"/>
                <a:cs typeface="Calibri"/>
              </a:rPr>
              <a:t>number</a:t>
            </a:r>
            <a:r>
              <a:rPr sz="3100" spc="195" dirty="0">
                <a:latin typeface="Calibri"/>
                <a:cs typeface="Calibri"/>
              </a:rPr>
              <a:t> </a:t>
            </a:r>
            <a:r>
              <a:rPr sz="3100" spc="114" dirty="0">
                <a:latin typeface="Calibri"/>
                <a:cs typeface="Calibri"/>
              </a:rPr>
              <a:t>(WhatsApp]:</a:t>
            </a:r>
            <a:r>
              <a:rPr sz="3100" dirty="0">
                <a:latin typeface="Calibri"/>
                <a:cs typeface="Calibri"/>
              </a:rPr>
              <a:t>	</a:t>
            </a:r>
            <a:r>
              <a:rPr sz="3100" spc="-10" dirty="0">
                <a:latin typeface="Calibri"/>
                <a:cs typeface="Calibri"/>
              </a:rPr>
              <a:t>9607116077</a:t>
            </a:r>
            <a:endParaRPr sz="31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315"/>
              </a:spcBef>
            </a:pPr>
            <a:endParaRPr sz="3100">
              <a:latin typeface="Calibri"/>
              <a:cs typeface="Calibri"/>
            </a:endParaRPr>
          </a:p>
          <a:p>
            <a:pPr marL="19050" marR="797560" indent="-5715">
              <a:lnSpc>
                <a:spcPct val="115900"/>
              </a:lnSpc>
            </a:pPr>
            <a:r>
              <a:rPr sz="3200" spc="-10" dirty="0">
                <a:latin typeface="Arial MT"/>
                <a:cs typeface="Arial MT"/>
              </a:rPr>
              <a:t>Domain</a:t>
            </a:r>
            <a:r>
              <a:rPr sz="3200" spc="-45" dirty="0">
                <a:latin typeface="Arial MT"/>
                <a:cs typeface="Arial MT"/>
              </a:rPr>
              <a:t> </a:t>
            </a:r>
            <a:r>
              <a:rPr sz="3200" dirty="0">
                <a:latin typeface="Arial MT"/>
                <a:cs typeface="Arial MT"/>
              </a:rPr>
              <a:t>of</a:t>
            </a:r>
            <a:r>
              <a:rPr sz="3200" spc="-125" dirty="0">
                <a:latin typeface="Arial MT"/>
                <a:cs typeface="Arial MT"/>
              </a:rPr>
              <a:t> </a:t>
            </a:r>
            <a:r>
              <a:rPr sz="3200" dirty="0">
                <a:latin typeface="Arial MT"/>
                <a:cs typeface="Arial MT"/>
              </a:rPr>
              <a:t>Project:</a:t>
            </a:r>
            <a:r>
              <a:rPr sz="3200" spc="-50" dirty="0">
                <a:latin typeface="Arial MT"/>
                <a:cs typeface="Arial MT"/>
              </a:rPr>
              <a:t> </a:t>
            </a:r>
            <a:r>
              <a:rPr sz="3200" spc="-125" dirty="0">
                <a:latin typeface="Arial MT"/>
                <a:cs typeface="Arial MT"/>
              </a:rPr>
              <a:t>Cybersecurity</a:t>
            </a:r>
            <a:r>
              <a:rPr sz="3200" spc="204" dirty="0">
                <a:latin typeface="Arial MT"/>
                <a:cs typeface="Arial MT"/>
              </a:rPr>
              <a:t> </a:t>
            </a:r>
            <a:r>
              <a:rPr sz="3200" dirty="0">
                <a:solidFill>
                  <a:srgbClr val="000F2A"/>
                </a:solidFill>
                <a:latin typeface="Arial MT"/>
                <a:cs typeface="Arial MT"/>
              </a:rPr>
              <a:t>/</a:t>
            </a:r>
            <a:r>
              <a:rPr sz="3200" spc="-200" dirty="0">
                <a:solidFill>
                  <a:srgbClr val="000F2A"/>
                </a:solidFill>
                <a:latin typeface="Arial MT"/>
                <a:cs typeface="Arial MT"/>
              </a:rPr>
              <a:t> </a:t>
            </a:r>
            <a:r>
              <a:rPr sz="3200" spc="-114" dirty="0">
                <a:latin typeface="Arial MT"/>
                <a:cs typeface="Arial MT"/>
              </a:rPr>
              <a:t>Network </a:t>
            </a:r>
            <a:r>
              <a:rPr sz="3200" spc="-25" dirty="0">
                <a:latin typeface="Arial MT"/>
                <a:cs typeface="Arial MT"/>
              </a:rPr>
              <a:t>Security</a:t>
            </a:r>
            <a:endParaRPr sz="3200">
              <a:latin typeface="Arial MT"/>
              <a:cs typeface="Arial MT"/>
            </a:endParaRPr>
          </a:p>
          <a:p>
            <a:pPr marL="24130" marR="5080" indent="-12065">
              <a:lnSpc>
                <a:spcPct val="121300"/>
              </a:lnSpc>
              <a:spcBef>
                <a:spcPts val="1775"/>
              </a:spcBef>
            </a:pPr>
            <a:r>
              <a:rPr sz="3100" spc="145" dirty="0">
                <a:latin typeface="Calibri"/>
                <a:cs typeface="Calibri"/>
              </a:rPr>
              <a:t>Project</a:t>
            </a:r>
            <a:r>
              <a:rPr sz="3100" spc="70" dirty="0">
                <a:latin typeface="Calibri"/>
                <a:cs typeface="Calibri"/>
              </a:rPr>
              <a:t> </a:t>
            </a:r>
            <a:r>
              <a:rPr sz="3100" spc="80" dirty="0">
                <a:latin typeface="Calibri"/>
                <a:cs typeface="Calibri"/>
              </a:rPr>
              <a:t>Title:</a:t>
            </a:r>
            <a:r>
              <a:rPr sz="3100" spc="150" dirty="0">
                <a:latin typeface="Calibri"/>
                <a:cs typeface="Calibri"/>
              </a:rPr>
              <a:t> </a:t>
            </a:r>
            <a:r>
              <a:rPr sz="3100" spc="114" dirty="0">
                <a:latin typeface="Calibri"/>
                <a:cs typeface="Calibri"/>
              </a:rPr>
              <a:t>[NIDS]</a:t>
            </a:r>
            <a:r>
              <a:rPr sz="3100" spc="40" dirty="0">
                <a:latin typeface="Calibri"/>
                <a:cs typeface="Calibri"/>
              </a:rPr>
              <a:t> </a:t>
            </a:r>
            <a:r>
              <a:rPr sz="3100" dirty="0">
                <a:latin typeface="Calibri"/>
                <a:cs typeface="Calibri"/>
              </a:rPr>
              <a:t>Network</a:t>
            </a:r>
            <a:r>
              <a:rPr sz="3100" spc="170" dirty="0">
                <a:latin typeface="Calibri"/>
                <a:cs typeface="Calibri"/>
              </a:rPr>
              <a:t> </a:t>
            </a:r>
            <a:r>
              <a:rPr sz="3100" dirty="0">
                <a:latin typeface="Calibri"/>
                <a:cs typeface="Calibri"/>
              </a:rPr>
              <a:t>Intrusion</a:t>
            </a:r>
            <a:r>
              <a:rPr sz="3100" spc="185" dirty="0">
                <a:latin typeface="Calibri"/>
                <a:cs typeface="Calibri"/>
              </a:rPr>
              <a:t> </a:t>
            </a:r>
            <a:r>
              <a:rPr sz="3100" spc="-10" dirty="0">
                <a:latin typeface="Calibri"/>
                <a:cs typeface="Calibri"/>
              </a:rPr>
              <a:t>Detection </a:t>
            </a:r>
            <a:r>
              <a:rPr sz="3100" spc="90" dirty="0">
                <a:latin typeface="Calibri"/>
                <a:cs typeface="Calibri"/>
              </a:rPr>
              <a:t>System</a:t>
            </a:r>
            <a:endParaRPr sz="3100">
              <a:latin typeface="Calibri"/>
              <a:cs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B0801EA-9543-F720-D495-B63D2B187E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33250" y="2759075"/>
            <a:ext cx="3639058" cy="456311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06043" rIns="0" bIns="0" rtlCol="0">
            <a:spAutoFit/>
          </a:bodyPr>
          <a:lstStyle/>
          <a:p>
            <a:pPr marL="34925">
              <a:lnSpc>
                <a:spcPct val="100000"/>
              </a:lnSpc>
              <a:spcBef>
                <a:spcPts val="125"/>
              </a:spcBef>
            </a:pPr>
            <a:r>
              <a:rPr sz="3450" spc="135" dirty="0"/>
              <a:t>Electronics</a:t>
            </a:r>
            <a:r>
              <a:rPr sz="3450" spc="305" dirty="0"/>
              <a:t> </a:t>
            </a:r>
            <a:r>
              <a:rPr sz="3450" spc="110" dirty="0"/>
              <a:t>and</a:t>
            </a:r>
            <a:r>
              <a:rPr sz="3450" spc="55" dirty="0"/>
              <a:t> </a:t>
            </a:r>
            <a:r>
              <a:rPr sz="3450" spc="140" dirty="0"/>
              <a:t>Telecommunications</a:t>
            </a:r>
            <a:r>
              <a:rPr sz="3450" spc="105" dirty="0"/>
              <a:t> </a:t>
            </a:r>
            <a:r>
              <a:rPr sz="3450" spc="120" dirty="0"/>
              <a:t>Engineering:</a:t>
            </a:r>
            <a:r>
              <a:rPr sz="3450" spc="340" dirty="0"/>
              <a:t> </a:t>
            </a:r>
            <a:r>
              <a:rPr sz="3450" spc="65" dirty="0"/>
              <a:t>(Machine</a:t>
            </a:r>
            <a:r>
              <a:rPr sz="3450" spc="330" dirty="0"/>
              <a:t> </a:t>
            </a:r>
            <a:r>
              <a:rPr sz="3450" spc="114" dirty="0"/>
              <a:t>learning</a:t>
            </a:r>
            <a:r>
              <a:rPr sz="3450" spc="225" dirty="0"/>
              <a:t> </a:t>
            </a:r>
            <a:r>
              <a:rPr sz="3450" spc="95" dirty="0"/>
              <a:t>project)</a:t>
            </a:r>
            <a:endParaRPr sz="3450"/>
          </a:p>
        </p:txBody>
      </p:sp>
      <p:sp>
        <p:nvSpPr>
          <p:cNvPr id="3" name="object 3"/>
          <p:cNvSpPr txBox="1"/>
          <p:nvPr/>
        </p:nvSpPr>
        <p:spPr>
          <a:xfrm>
            <a:off x="1234987" y="2585388"/>
            <a:ext cx="17611725" cy="64947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9685" algn="just">
              <a:lnSpc>
                <a:spcPct val="100000"/>
              </a:lnSpc>
              <a:spcBef>
                <a:spcPts val="100"/>
              </a:spcBef>
            </a:pPr>
            <a:r>
              <a:rPr sz="3350" spc="160" dirty="0">
                <a:latin typeface="Arial MT"/>
                <a:cs typeface="Arial MT"/>
              </a:rPr>
              <a:t>Problem</a:t>
            </a:r>
            <a:r>
              <a:rPr sz="3350" spc="235" dirty="0">
                <a:latin typeface="Arial MT"/>
                <a:cs typeface="Arial MT"/>
              </a:rPr>
              <a:t> </a:t>
            </a:r>
            <a:r>
              <a:rPr sz="3350" spc="140" dirty="0">
                <a:latin typeface="Arial MT"/>
                <a:cs typeface="Arial MT"/>
              </a:rPr>
              <a:t>statement</a:t>
            </a:r>
            <a:r>
              <a:rPr sz="3350" spc="300" dirty="0">
                <a:latin typeface="Arial MT"/>
                <a:cs typeface="Arial MT"/>
              </a:rPr>
              <a:t> </a:t>
            </a:r>
            <a:r>
              <a:rPr sz="3350" spc="85" dirty="0">
                <a:latin typeface="Arial MT"/>
                <a:cs typeface="Arial MT"/>
              </a:rPr>
              <a:t>No.40</a:t>
            </a:r>
            <a:r>
              <a:rPr sz="3350" spc="110" dirty="0">
                <a:latin typeface="Arial MT"/>
                <a:cs typeface="Arial MT"/>
              </a:rPr>
              <a:t> </a:t>
            </a:r>
            <a:r>
              <a:rPr sz="3350" spc="55" dirty="0">
                <a:latin typeface="Arial MT"/>
                <a:cs typeface="Arial MT"/>
              </a:rPr>
              <a:t>-</a:t>
            </a:r>
            <a:r>
              <a:rPr sz="3350" spc="795" dirty="0">
                <a:latin typeface="Arial MT"/>
                <a:cs typeface="Arial MT"/>
              </a:rPr>
              <a:t> </a:t>
            </a:r>
            <a:r>
              <a:rPr sz="3350" spc="155" dirty="0">
                <a:latin typeface="Arial MT"/>
                <a:cs typeface="Arial MT"/>
              </a:rPr>
              <a:t>Network</a:t>
            </a:r>
            <a:r>
              <a:rPr sz="3350" spc="160" dirty="0">
                <a:latin typeface="Arial MT"/>
                <a:cs typeface="Arial MT"/>
              </a:rPr>
              <a:t> </a:t>
            </a:r>
            <a:r>
              <a:rPr sz="3350" spc="204" dirty="0">
                <a:latin typeface="Arial MT"/>
                <a:cs typeface="Arial MT"/>
              </a:rPr>
              <a:t>Intrusion</a:t>
            </a:r>
            <a:r>
              <a:rPr sz="3350" spc="130" dirty="0">
                <a:latin typeface="Arial MT"/>
                <a:cs typeface="Arial MT"/>
              </a:rPr>
              <a:t> </a:t>
            </a:r>
            <a:r>
              <a:rPr sz="3350" spc="140" dirty="0">
                <a:latin typeface="Arial MT"/>
                <a:cs typeface="Arial MT"/>
              </a:rPr>
              <a:t>Detection</a:t>
            </a:r>
            <a:endParaRPr sz="335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3254"/>
              </a:spcBef>
            </a:pPr>
            <a:endParaRPr sz="3350">
              <a:latin typeface="Arial MT"/>
              <a:cs typeface="Arial MT"/>
            </a:endParaRPr>
          </a:p>
          <a:p>
            <a:pPr marL="19050" algn="just">
              <a:lnSpc>
                <a:spcPct val="100000"/>
              </a:lnSpc>
            </a:pPr>
            <a:r>
              <a:rPr sz="3350" spc="90" dirty="0">
                <a:latin typeface="Arial MT"/>
                <a:cs typeface="Arial MT"/>
              </a:rPr>
              <a:t>The</a:t>
            </a:r>
            <a:r>
              <a:rPr sz="3350" spc="40" dirty="0">
                <a:latin typeface="Arial MT"/>
                <a:cs typeface="Arial MT"/>
              </a:rPr>
              <a:t> </a:t>
            </a:r>
            <a:r>
              <a:rPr sz="3350" spc="110" dirty="0">
                <a:latin typeface="Arial MT"/>
                <a:cs typeface="Arial MT"/>
              </a:rPr>
              <a:t>Challenge:</a:t>
            </a:r>
            <a:endParaRPr sz="3350">
              <a:latin typeface="Arial MT"/>
              <a:cs typeface="Arial MT"/>
            </a:endParaRPr>
          </a:p>
          <a:p>
            <a:pPr marL="20320" marR="5080" indent="-2540" algn="just">
              <a:lnSpc>
                <a:spcPct val="125800"/>
              </a:lnSpc>
              <a:spcBef>
                <a:spcPts val="1280"/>
              </a:spcBef>
            </a:pPr>
            <a:r>
              <a:rPr sz="2950" dirty="0">
                <a:latin typeface="Arial MT"/>
                <a:cs typeface="Arial MT"/>
              </a:rPr>
              <a:t>Create</a:t>
            </a:r>
            <a:r>
              <a:rPr sz="2950" spc="345" dirty="0">
                <a:latin typeface="Arial MT"/>
                <a:cs typeface="Arial MT"/>
              </a:rPr>
              <a:t> </a:t>
            </a:r>
            <a:r>
              <a:rPr sz="2950" spc="110" dirty="0">
                <a:latin typeface="Arial MT"/>
                <a:cs typeface="Arial MT"/>
              </a:rPr>
              <a:t>a</a:t>
            </a:r>
            <a:r>
              <a:rPr sz="2950" spc="4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robust</a:t>
            </a:r>
            <a:r>
              <a:rPr sz="2950" spc="34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network</a:t>
            </a:r>
            <a:r>
              <a:rPr sz="2950" spc="34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intrusion</a:t>
            </a:r>
            <a:r>
              <a:rPr sz="2950" spc="33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detection</a:t>
            </a:r>
            <a:r>
              <a:rPr sz="2950" spc="40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system</a:t>
            </a:r>
            <a:r>
              <a:rPr sz="2950" spc="30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(NIDS)</a:t>
            </a:r>
            <a:r>
              <a:rPr sz="2950" spc="34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using</a:t>
            </a:r>
            <a:r>
              <a:rPr sz="2950" spc="229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machine</a:t>
            </a:r>
            <a:r>
              <a:rPr sz="2950" spc="30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learning.</a:t>
            </a:r>
            <a:r>
              <a:rPr sz="2950" spc="32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The</a:t>
            </a:r>
            <a:r>
              <a:rPr sz="2950" spc="254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system</a:t>
            </a:r>
            <a:r>
              <a:rPr sz="2950" spc="330" dirty="0">
                <a:latin typeface="Arial MT"/>
                <a:cs typeface="Arial MT"/>
              </a:rPr>
              <a:t> </a:t>
            </a:r>
            <a:r>
              <a:rPr sz="2950" spc="-10" dirty="0">
                <a:latin typeface="Arial MT"/>
                <a:cs typeface="Arial MT"/>
              </a:rPr>
              <a:t>should </a:t>
            </a:r>
            <a:r>
              <a:rPr sz="2950" dirty="0">
                <a:latin typeface="Arial MT"/>
                <a:cs typeface="Arial MT"/>
              </a:rPr>
              <a:t>be</a:t>
            </a:r>
            <a:r>
              <a:rPr sz="2950" spc="22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capable</a:t>
            </a:r>
            <a:r>
              <a:rPr sz="2950" spc="37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of</a:t>
            </a:r>
            <a:r>
              <a:rPr sz="2950" spc="254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analyzing</a:t>
            </a:r>
            <a:r>
              <a:rPr sz="2950" spc="40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network</a:t>
            </a:r>
            <a:r>
              <a:rPr sz="2950" spc="32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traffic</a:t>
            </a:r>
            <a:r>
              <a:rPr sz="2950" spc="36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data</a:t>
            </a:r>
            <a:r>
              <a:rPr sz="2950" spc="8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to</a:t>
            </a:r>
            <a:r>
              <a:rPr sz="2950" spc="15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identify</a:t>
            </a:r>
            <a:r>
              <a:rPr sz="2950" spc="280" dirty="0">
                <a:latin typeface="Arial MT"/>
                <a:cs typeface="Arial MT"/>
              </a:rPr>
              <a:t> </a:t>
            </a:r>
            <a:r>
              <a:rPr sz="2950" dirty="0">
                <a:solidFill>
                  <a:srgbClr val="00011F"/>
                </a:solidFill>
                <a:latin typeface="Arial MT"/>
                <a:cs typeface="Arial MT"/>
              </a:rPr>
              <a:t>and</a:t>
            </a:r>
            <a:r>
              <a:rPr sz="2950" spc="245" dirty="0">
                <a:solidFill>
                  <a:srgbClr val="00011F"/>
                </a:solidFill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classify</a:t>
            </a:r>
            <a:r>
              <a:rPr sz="2950" spc="29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various</a:t>
            </a:r>
            <a:r>
              <a:rPr sz="2950" spc="29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types</a:t>
            </a:r>
            <a:r>
              <a:rPr sz="2950" spc="26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of</a:t>
            </a:r>
            <a:r>
              <a:rPr sz="2950" spc="305" dirty="0">
                <a:latin typeface="Arial MT"/>
                <a:cs typeface="Arial MT"/>
              </a:rPr>
              <a:t> </a:t>
            </a:r>
            <a:r>
              <a:rPr sz="2950" spc="-35" dirty="0">
                <a:latin typeface="Arial MT"/>
                <a:cs typeface="Arial MT"/>
              </a:rPr>
              <a:t>cyber-</a:t>
            </a:r>
            <a:r>
              <a:rPr sz="2950" dirty="0">
                <a:latin typeface="Arial MT"/>
                <a:cs typeface="Arial MT"/>
              </a:rPr>
              <a:t>attacks</a:t>
            </a:r>
            <a:r>
              <a:rPr sz="2950" spc="425" dirty="0">
                <a:latin typeface="Arial MT"/>
                <a:cs typeface="Arial MT"/>
              </a:rPr>
              <a:t> </a:t>
            </a:r>
            <a:r>
              <a:rPr sz="2950" spc="-10" dirty="0">
                <a:latin typeface="Arial MT"/>
                <a:cs typeface="Arial MT"/>
              </a:rPr>
              <a:t>(e.g., </a:t>
            </a:r>
            <a:r>
              <a:rPr sz="2950" dirty="0">
                <a:latin typeface="Arial MT"/>
                <a:cs typeface="Arial MT"/>
              </a:rPr>
              <a:t>DoS,</a:t>
            </a:r>
            <a:r>
              <a:rPr sz="2950" spc="24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Probe,</a:t>
            </a:r>
            <a:r>
              <a:rPr sz="2950" spc="25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R2L,</a:t>
            </a:r>
            <a:r>
              <a:rPr sz="2950" spc="204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U2R)</a:t>
            </a:r>
            <a:r>
              <a:rPr sz="2950" spc="30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and</a:t>
            </a:r>
            <a:r>
              <a:rPr sz="2950" spc="19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distinguish</a:t>
            </a:r>
            <a:r>
              <a:rPr sz="2950" spc="37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them</a:t>
            </a:r>
            <a:r>
              <a:rPr sz="2950" spc="27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from</a:t>
            </a:r>
            <a:r>
              <a:rPr sz="2950" spc="22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normal</a:t>
            </a:r>
            <a:r>
              <a:rPr sz="2950" spc="24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network</a:t>
            </a:r>
            <a:r>
              <a:rPr sz="2950" spc="31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activity.</a:t>
            </a:r>
            <a:r>
              <a:rPr sz="2950" spc="24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The</a:t>
            </a:r>
            <a:r>
              <a:rPr sz="2950" spc="20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goal</a:t>
            </a:r>
            <a:r>
              <a:rPr sz="2950" spc="19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is</a:t>
            </a:r>
            <a:r>
              <a:rPr sz="2950" spc="10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to</a:t>
            </a:r>
            <a:r>
              <a:rPr sz="2950" spc="14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build</a:t>
            </a:r>
            <a:r>
              <a:rPr sz="2950" spc="28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a</a:t>
            </a:r>
            <a:r>
              <a:rPr sz="2950" spc="-5" dirty="0">
                <a:latin typeface="Arial MT"/>
                <a:cs typeface="Arial MT"/>
              </a:rPr>
              <a:t> </a:t>
            </a:r>
            <a:r>
              <a:rPr sz="2950" spc="-10" dirty="0">
                <a:latin typeface="Arial MT"/>
                <a:cs typeface="Arial MT"/>
              </a:rPr>
              <a:t>model </a:t>
            </a:r>
            <a:r>
              <a:rPr sz="2950" dirty="0">
                <a:latin typeface="Arial MT"/>
                <a:cs typeface="Arial MT"/>
              </a:rPr>
              <a:t>that</a:t>
            </a:r>
            <a:r>
              <a:rPr sz="2950" spc="-2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can</a:t>
            </a:r>
            <a:r>
              <a:rPr sz="2950" spc="-8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effectively</a:t>
            </a:r>
            <a:r>
              <a:rPr sz="2950" spc="3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secure</a:t>
            </a:r>
            <a:r>
              <a:rPr sz="2950" spc="90" dirty="0">
                <a:latin typeface="Arial MT"/>
                <a:cs typeface="Arial MT"/>
              </a:rPr>
              <a:t> </a:t>
            </a:r>
            <a:r>
              <a:rPr sz="2950" spc="-10" dirty="0">
                <a:latin typeface="Arial MT"/>
                <a:cs typeface="Arial MT"/>
              </a:rPr>
              <a:t>communication</a:t>
            </a:r>
            <a:r>
              <a:rPr sz="2950" spc="21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networks</a:t>
            </a:r>
            <a:r>
              <a:rPr sz="2950" spc="6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by</a:t>
            </a:r>
            <a:r>
              <a:rPr sz="2950" spc="-14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providing</a:t>
            </a:r>
            <a:r>
              <a:rPr sz="2950" spc="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an</a:t>
            </a:r>
            <a:r>
              <a:rPr sz="2950" spc="-4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early</a:t>
            </a:r>
            <a:r>
              <a:rPr sz="2950" spc="-5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warning</a:t>
            </a:r>
            <a:r>
              <a:rPr sz="2950" spc="2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of</a:t>
            </a:r>
            <a:r>
              <a:rPr sz="2950" spc="-3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malicious</a:t>
            </a:r>
            <a:r>
              <a:rPr sz="2950" spc="145" dirty="0">
                <a:latin typeface="Arial MT"/>
                <a:cs typeface="Arial MT"/>
              </a:rPr>
              <a:t> </a:t>
            </a:r>
            <a:r>
              <a:rPr sz="2950" spc="-10" dirty="0">
                <a:latin typeface="Arial MT"/>
                <a:cs typeface="Arial MT"/>
              </a:rPr>
              <a:t>activities.</a:t>
            </a:r>
            <a:endParaRPr sz="2950">
              <a:latin typeface="Arial MT"/>
              <a:cs typeface="Arial MT"/>
            </a:endParaRPr>
          </a:p>
          <a:p>
            <a:pPr marL="12700" marR="1328420" indent="4445" algn="just">
              <a:lnSpc>
                <a:spcPts val="8530"/>
              </a:lnSpc>
              <a:spcBef>
                <a:spcPts val="550"/>
              </a:spcBef>
            </a:pPr>
            <a:r>
              <a:rPr sz="2950" spc="85" dirty="0">
                <a:latin typeface="Arial MT"/>
                <a:cs typeface="Arial MT"/>
              </a:rPr>
              <a:t>Kaggle</a:t>
            </a:r>
            <a:r>
              <a:rPr sz="2950" spc="150" dirty="0">
                <a:latin typeface="Arial MT"/>
                <a:cs typeface="Arial MT"/>
              </a:rPr>
              <a:t> </a:t>
            </a:r>
            <a:r>
              <a:rPr sz="2950" spc="60" dirty="0">
                <a:latin typeface="Arial MT"/>
                <a:cs typeface="Arial MT"/>
              </a:rPr>
              <a:t>dataset</a:t>
            </a:r>
            <a:r>
              <a:rPr sz="2950" spc="215" dirty="0">
                <a:latin typeface="Arial MT"/>
                <a:cs typeface="Arial MT"/>
              </a:rPr>
              <a:t> </a:t>
            </a:r>
            <a:r>
              <a:rPr sz="2950" spc="140" dirty="0">
                <a:latin typeface="Arial MT"/>
                <a:cs typeface="Arial MT"/>
              </a:rPr>
              <a:t>link</a:t>
            </a:r>
            <a:r>
              <a:rPr sz="2950" spc="155" dirty="0">
                <a:latin typeface="Arial MT"/>
                <a:cs typeface="Arial MT"/>
              </a:rPr>
              <a:t> </a:t>
            </a:r>
            <a:r>
              <a:rPr sz="2950" spc="-1475" dirty="0">
                <a:latin typeface="Arial MT"/>
                <a:cs typeface="Arial MT"/>
              </a:rPr>
              <a:t>—</a:t>
            </a:r>
            <a:r>
              <a:rPr sz="2950" spc="100" dirty="0">
                <a:latin typeface="Arial MT"/>
                <a:cs typeface="Arial MT"/>
              </a:rPr>
              <a:t> </a:t>
            </a:r>
            <a:r>
              <a:rPr sz="2950" u="heavy" spc="-5" dirty="0">
                <a:solidFill>
                  <a:srgbClr val="005BB8"/>
                </a:solidFill>
                <a:uFill>
                  <a:solidFill>
                    <a:srgbClr val="0C60B3"/>
                  </a:solidFill>
                </a:uFill>
                <a:latin typeface="Arial MT"/>
                <a:cs typeface="Arial MT"/>
                <a:hlinkClick r:id="rId2"/>
              </a:rPr>
              <a:t>https://www.ka</a:t>
            </a:r>
            <a:r>
              <a:rPr sz="2950" spc="-5" dirty="0">
                <a:solidFill>
                  <a:srgbClr val="005BB8"/>
                </a:solidFill>
                <a:latin typeface="Arial MT"/>
                <a:cs typeface="Arial MT"/>
                <a:hlinkClick r:id="rId2"/>
              </a:rPr>
              <a:t>gg</a:t>
            </a:r>
            <a:r>
              <a:rPr sz="2950" u="heavy" spc="-5" dirty="0">
                <a:solidFill>
                  <a:srgbClr val="005BB8"/>
                </a:solidFill>
                <a:uFill>
                  <a:solidFill>
                    <a:srgbClr val="0C60B3"/>
                  </a:solidFill>
                </a:uFill>
                <a:latin typeface="Arial MT"/>
                <a:cs typeface="Arial MT"/>
                <a:hlinkClick r:id="rId2"/>
              </a:rPr>
              <a:t>le.com/datasets/sampadab17/network-intrusion-detection</a:t>
            </a:r>
            <a:r>
              <a:rPr sz="2950" spc="-5" dirty="0">
                <a:solidFill>
                  <a:srgbClr val="005BB8"/>
                </a:solidFill>
                <a:latin typeface="Arial MT"/>
                <a:cs typeface="Arial MT"/>
              </a:rPr>
              <a:t> </a:t>
            </a:r>
            <a:r>
              <a:rPr sz="2950" spc="90" dirty="0">
                <a:latin typeface="Arial MT"/>
                <a:cs typeface="Arial MT"/>
              </a:rPr>
              <a:t>Technology</a:t>
            </a:r>
            <a:r>
              <a:rPr sz="2950" spc="325" dirty="0">
                <a:latin typeface="Arial MT"/>
                <a:cs typeface="Arial MT"/>
              </a:rPr>
              <a:t> </a:t>
            </a:r>
            <a:r>
              <a:rPr sz="2950" spc="-1475" dirty="0">
                <a:latin typeface="Arial MT"/>
                <a:cs typeface="Arial MT"/>
              </a:rPr>
              <a:t>—</a:t>
            </a:r>
            <a:r>
              <a:rPr sz="2950" spc="120" dirty="0">
                <a:latin typeface="Arial MT"/>
                <a:cs typeface="Arial MT"/>
              </a:rPr>
              <a:t> </a:t>
            </a:r>
            <a:r>
              <a:rPr sz="2950" spc="-60" dirty="0">
                <a:latin typeface="Arial MT"/>
                <a:cs typeface="Arial MT"/>
              </a:rPr>
              <a:t>Use</a:t>
            </a:r>
            <a:r>
              <a:rPr sz="2950" spc="200" dirty="0">
                <a:latin typeface="Arial MT"/>
                <a:cs typeface="Arial MT"/>
              </a:rPr>
              <a:t> </a:t>
            </a:r>
            <a:r>
              <a:rPr sz="2950" spc="-90" dirty="0">
                <a:latin typeface="Arial MT"/>
                <a:cs typeface="Arial MT"/>
              </a:rPr>
              <a:t>of</a:t>
            </a:r>
            <a:r>
              <a:rPr sz="2950" spc="165" dirty="0">
                <a:latin typeface="Arial MT"/>
                <a:cs typeface="Arial MT"/>
              </a:rPr>
              <a:t> </a:t>
            </a:r>
            <a:r>
              <a:rPr sz="2950" spc="-35" dirty="0">
                <a:latin typeface="Arial MT"/>
                <a:cs typeface="Arial MT"/>
              </a:rPr>
              <a:t>IBM</a:t>
            </a:r>
            <a:r>
              <a:rPr sz="2950" spc="114" dirty="0">
                <a:latin typeface="Arial MT"/>
                <a:cs typeface="Arial MT"/>
              </a:rPr>
              <a:t> </a:t>
            </a:r>
            <a:r>
              <a:rPr sz="2950" spc="-20" dirty="0">
                <a:latin typeface="Arial MT"/>
                <a:cs typeface="Arial MT"/>
              </a:rPr>
              <a:t>cloud</a:t>
            </a:r>
            <a:r>
              <a:rPr sz="2950" spc="70" dirty="0">
                <a:latin typeface="Arial MT"/>
                <a:cs typeface="Arial MT"/>
              </a:rPr>
              <a:t> </a:t>
            </a:r>
            <a:r>
              <a:rPr sz="2950" spc="-25" dirty="0">
                <a:latin typeface="Arial MT"/>
                <a:cs typeface="Arial MT"/>
              </a:rPr>
              <a:t>lite</a:t>
            </a:r>
            <a:r>
              <a:rPr sz="2950" spc="80" dirty="0">
                <a:latin typeface="Arial MT"/>
                <a:cs typeface="Arial MT"/>
              </a:rPr>
              <a:t> </a:t>
            </a:r>
            <a:r>
              <a:rPr sz="2950" spc="-30" dirty="0">
                <a:latin typeface="Arial MT"/>
                <a:cs typeface="Arial MT"/>
              </a:rPr>
              <a:t>services</a:t>
            </a:r>
            <a:r>
              <a:rPr sz="2950" spc="235" dirty="0">
                <a:latin typeface="Arial MT"/>
                <a:cs typeface="Arial MT"/>
              </a:rPr>
              <a:t> </a:t>
            </a:r>
            <a:r>
              <a:rPr sz="2950" spc="-15" dirty="0">
                <a:latin typeface="Arial MT"/>
                <a:cs typeface="Arial MT"/>
              </a:rPr>
              <a:t>is</a:t>
            </a:r>
            <a:r>
              <a:rPr sz="2950" spc="30" dirty="0">
                <a:latin typeface="Arial MT"/>
                <a:cs typeface="Arial MT"/>
              </a:rPr>
              <a:t> </a:t>
            </a:r>
            <a:r>
              <a:rPr sz="2950" spc="-50" dirty="0">
                <a:latin typeface="Arial MT"/>
                <a:cs typeface="Arial MT"/>
              </a:rPr>
              <a:t>mandatory.</a:t>
            </a:r>
            <a:endParaRPr sz="295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30480">
              <a:lnSpc>
                <a:spcPct val="100000"/>
              </a:lnSpc>
              <a:spcBef>
                <a:spcPts val="110"/>
              </a:spcBef>
            </a:pPr>
            <a:r>
              <a:rPr sz="5400" spc="165" dirty="0"/>
              <a:t>Technology</a:t>
            </a:r>
            <a:r>
              <a:rPr sz="5400" spc="475" dirty="0"/>
              <a:t> </a:t>
            </a:r>
            <a:r>
              <a:rPr sz="5400" spc="130" dirty="0"/>
              <a:t>Used</a:t>
            </a:r>
            <a:endParaRPr sz="5400"/>
          </a:p>
        </p:txBody>
      </p:sp>
      <p:sp>
        <p:nvSpPr>
          <p:cNvPr id="3" name="object 3"/>
          <p:cNvSpPr txBox="1"/>
          <p:nvPr/>
        </p:nvSpPr>
        <p:spPr>
          <a:xfrm>
            <a:off x="1364266" y="2508820"/>
            <a:ext cx="17262475" cy="538861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351790" indent="-338455">
              <a:lnSpc>
                <a:spcPct val="100000"/>
              </a:lnSpc>
              <a:spcBef>
                <a:spcPts val="110"/>
              </a:spcBef>
              <a:buChar char="•"/>
              <a:tabLst>
                <a:tab pos="351790" algn="l"/>
              </a:tabLst>
            </a:pPr>
            <a:r>
              <a:rPr sz="2950" spc="70" dirty="0">
                <a:latin typeface="Arial MT"/>
                <a:cs typeface="Arial MT"/>
              </a:rPr>
              <a:t>IBM</a:t>
            </a:r>
            <a:r>
              <a:rPr sz="2950" spc="-100" dirty="0">
                <a:latin typeface="Arial MT"/>
                <a:cs typeface="Arial MT"/>
              </a:rPr>
              <a:t> </a:t>
            </a:r>
            <a:r>
              <a:rPr sz="2950" spc="120" dirty="0">
                <a:latin typeface="Arial MT"/>
                <a:cs typeface="Arial MT"/>
              </a:rPr>
              <a:t>Cloud:</a:t>
            </a:r>
            <a:r>
              <a:rPr sz="2950" spc="-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Provides</a:t>
            </a:r>
            <a:r>
              <a:rPr sz="2950" spc="15" dirty="0">
                <a:latin typeface="Arial MT"/>
                <a:cs typeface="Arial MT"/>
              </a:rPr>
              <a:t> </a:t>
            </a:r>
            <a:r>
              <a:rPr sz="2950" dirty="0">
                <a:solidFill>
                  <a:srgbClr val="000816"/>
                </a:solidFill>
                <a:latin typeface="Arial MT"/>
                <a:cs typeface="Arial MT"/>
              </a:rPr>
              <a:t>the</a:t>
            </a:r>
            <a:r>
              <a:rPr sz="2950" spc="5" dirty="0">
                <a:solidFill>
                  <a:srgbClr val="000816"/>
                </a:solidFill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scalable</a:t>
            </a:r>
            <a:r>
              <a:rPr sz="2950" spc="11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infrastructure</a:t>
            </a:r>
            <a:r>
              <a:rPr sz="2950" spc="-3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necessary</a:t>
            </a:r>
            <a:r>
              <a:rPr sz="2950" spc="130" dirty="0">
                <a:latin typeface="Arial MT"/>
                <a:cs typeface="Arial MT"/>
              </a:rPr>
              <a:t> </a:t>
            </a:r>
            <a:r>
              <a:rPr sz="2950" dirty="0">
                <a:solidFill>
                  <a:srgbClr val="000323"/>
                </a:solidFill>
                <a:latin typeface="Arial MT"/>
                <a:cs typeface="Arial MT"/>
              </a:rPr>
              <a:t>to</a:t>
            </a:r>
            <a:r>
              <a:rPr sz="2950" spc="-75" dirty="0">
                <a:solidFill>
                  <a:srgbClr val="000323"/>
                </a:solidFill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host</a:t>
            </a:r>
            <a:r>
              <a:rPr sz="2950" spc="-3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machine</a:t>
            </a:r>
            <a:r>
              <a:rPr sz="2950" spc="4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learning</a:t>
            </a:r>
            <a:r>
              <a:rPr sz="2950" spc="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models</a:t>
            </a:r>
            <a:r>
              <a:rPr sz="2950" spc="130" dirty="0">
                <a:latin typeface="Arial MT"/>
                <a:cs typeface="Arial MT"/>
              </a:rPr>
              <a:t> </a:t>
            </a:r>
            <a:r>
              <a:rPr sz="2950" spc="-10" dirty="0">
                <a:latin typeface="Arial MT"/>
                <a:cs typeface="Arial MT"/>
              </a:rPr>
              <a:t>securely.</a:t>
            </a:r>
            <a:endParaRPr sz="2950">
              <a:latin typeface="Arial MT"/>
              <a:cs typeface="Arial MT"/>
            </a:endParaRPr>
          </a:p>
          <a:p>
            <a:pPr marL="351790" marR="522605" indent="-339090">
              <a:lnSpc>
                <a:spcPct val="127499"/>
              </a:lnSpc>
              <a:spcBef>
                <a:spcPts val="1795"/>
              </a:spcBef>
              <a:buChar char="•"/>
              <a:tabLst>
                <a:tab pos="362585" algn="l"/>
              </a:tabLst>
            </a:pPr>
            <a:r>
              <a:rPr sz="2950" spc="70" dirty="0">
                <a:latin typeface="Arial MT"/>
                <a:cs typeface="Arial MT"/>
              </a:rPr>
              <a:t>IBM</a:t>
            </a:r>
            <a:r>
              <a:rPr sz="2950" spc="-100" dirty="0">
                <a:latin typeface="Arial MT"/>
                <a:cs typeface="Arial MT"/>
              </a:rPr>
              <a:t> </a:t>
            </a:r>
            <a:r>
              <a:rPr sz="2950" spc="85" dirty="0">
                <a:latin typeface="Arial MT"/>
                <a:cs typeface="Arial MT"/>
              </a:rPr>
              <a:t>watsonx.ai:</a:t>
            </a:r>
            <a:r>
              <a:rPr sz="2950" spc="15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The</a:t>
            </a:r>
            <a:r>
              <a:rPr sz="2950" spc="-4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core</a:t>
            </a:r>
            <a:r>
              <a:rPr sz="2950" spc="-1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studio</a:t>
            </a:r>
            <a:r>
              <a:rPr sz="2950" spc="-1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platform</a:t>
            </a:r>
            <a:r>
              <a:rPr sz="2950" spc="2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utilized</a:t>
            </a:r>
            <a:r>
              <a:rPr sz="2950" spc="6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for</a:t>
            </a:r>
            <a:r>
              <a:rPr sz="2950" spc="2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building,</a:t>
            </a:r>
            <a:r>
              <a:rPr sz="2950" spc="3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training,</a:t>
            </a:r>
            <a:r>
              <a:rPr sz="2950" spc="165" dirty="0">
                <a:latin typeface="Arial MT"/>
                <a:cs typeface="Arial MT"/>
              </a:rPr>
              <a:t> </a:t>
            </a:r>
            <a:r>
              <a:rPr sz="2950" dirty="0">
                <a:solidFill>
                  <a:srgbClr val="010C15"/>
                </a:solidFill>
                <a:latin typeface="Arial MT"/>
                <a:cs typeface="Arial MT"/>
              </a:rPr>
              <a:t>and</a:t>
            </a:r>
            <a:r>
              <a:rPr sz="2950" spc="15" dirty="0">
                <a:solidFill>
                  <a:srgbClr val="010C15"/>
                </a:solidFill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deploying</a:t>
            </a:r>
            <a:r>
              <a:rPr sz="2950" spc="85" dirty="0">
                <a:latin typeface="Arial MT"/>
                <a:cs typeface="Arial MT"/>
              </a:rPr>
              <a:t> </a:t>
            </a:r>
            <a:r>
              <a:rPr sz="2950" dirty="0">
                <a:solidFill>
                  <a:srgbClr val="00030F"/>
                </a:solidFill>
                <a:latin typeface="Arial MT"/>
                <a:cs typeface="Arial MT"/>
              </a:rPr>
              <a:t>the</a:t>
            </a:r>
            <a:r>
              <a:rPr sz="2950" spc="5" dirty="0">
                <a:solidFill>
                  <a:srgbClr val="00030F"/>
                </a:solidFill>
                <a:latin typeface="Arial MT"/>
                <a:cs typeface="Arial MT"/>
              </a:rPr>
              <a:t> </a:t>
            </a:r>
            <a:r>
              <a:rPr sz="2950" spc="-10" dirty="0">
                <a:latin typeface="Arial MT"/>
                <a:cs typeface="Arial MT"/>
              </a:rPr>
              <a:t>machine 	</a:t>
            </a:r>
            <a:r>
              <a:rPr sz="2950" dirty="0">
                <a:latin typeface="Arial MT"/>
                <a:cs typeface="Arial MT"/>
              </a:rPr>
              <a:t>learning</a:t>
            </a:r>
            <a:r>
              <a:rPr sz="2950" spc="-25" dirty="0">
                <a:latin typeface="Arial MT"/>
                <a:cs typeface="Arial MT"/>
              </a:rPr>
              <a:t> </a:t>
            </a:r>
            <a:r>
              <a:rPr sz="2950" spc="-10" dirty="0">
                <a:latin typeface="Arial MT"/>
                <a:cs typeface="Arial MT"/>
              </a:rPr>
              <a:t>models.</a:t>
            </a:r>
            <a:endParaRPr sz="2950">
              <a:latin typeface="Arial MT"/>
              <a:cs typeface="Arial MT"/>
            </a:endParaRPr>
          </a:p>
          <a:p>
            <a:pPr marL="357505" indent="-344170">
              <a:lnSpc>
                <a:spcPct val="100000"/>
              </a:lnSpc>
              <a:spcBef>
                <a:spcPts val="2705"/>
              </a:spcBef>
              <a:buChar char="•"/>
              <a:tabLst>
                <a:tab pos="357505" algn="l"/>
                <a:tab pos="12513945" algn="l"/>
              </a:tabLst>
            </a:pPr>
            <a:r>
              <a:rPr sz="2950" spc="120" dirty="0">
                <a:latin typeface="Arial MT"/>
                <a:cs typeface="Arial MT"/>
              </a:rPr>
              <a:t>Python:</a:t>
            </a:r>
            <a:r>
              <a:rPr sz="2950" spc="-3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The</a:t>
            </a:r>
            <a:r>
              <a:rPr sz="2950" spc="-6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primary</a:t>
            </a:r>
            <a:r>
              <a:rPr sz="2950" spc="3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programming</a:t>
            </a:r>
            <a:r>
              <a:rPr sz="2950" spc="22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language</a:t>
            </a:r>
            <a:r>
              <a:rPr sz="2950" spc="13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used</a:t>
            </a:r>
            <a:r>
              <a:rPr sz="2950" spc="-3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for</a:t>
            </a:r>
            <a:r>
              <a:rPr sz="2950" spc="4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data</a:t>
            </a:r>
            <a:r>
              <a:rPr sz="2950" spc="-165" dirty="0">
                <a:latin typeface="Arial MT"/>
                <a:cs typeface="Arial MT"/>
              </a:rPr>
              <a:t> </a:t>
            </a:r>
            <a:r>
              <a:rPr sz="2950" spc="-10" dirty="0">
                <a:latin typeface="Arial MT"/>
                <a:cs typeface="Arial MT"/>
              </a:rPr>
              <a:t>manipulation</a:t>
            </a:r>
            <a:r>
              <a:rPr sz="2950" dirty="0">
                <a:latin typeface="Arial MT"/>
                <a:cs typeface="Arial MT"/>
              </a:rPr>
              <a:t>	</a:t>
            </a:r>
            <a:r>
              <a:rPr sz="2950" dirty="0">
                <a:solidFill>
                  <a:srgbClr val="00071C"/>
                </a:solidFill>
                <a:latin typeface="Arial MT"/>
                <a:cs typeface="Arial MT"/>
              </a:rPr>
              <a:t>and</a:t>
            </a:r>
            <a:r>
              <a:rPr sz="2950" spc="-10" dirty="0">
                <a:solidFill>
                  <a:srgbClr val="00071C"/>
                </a:solidFill>
                <a:latin typeface="Arial MT"/>
                <a:cs typeface="Arial MT"/>
              </a:rPr>
              <a:t> </a:t>
            </a:r>
            <a:r>
              <a:rPr sz="2950" spc="-10" dirty="0">
                <a:latin typeface="Arial MT"/>
                <a:cs typeface="Arial MT"/>
              </a:rPr>
              <a:t>scripting.</a:t>
            </a:r>
            <a:endParaRPr sz="2950">
              <a:latin typeface="Arial MT"/>
              <a:cs typeface="Arial MT"/>
            </a:endParaRPr>
          </a:p>
          <a:p>
            <a:pPr marL="361315" marR="737235" indent="-349250">
              <a:lnSpc>
                <a:spcPct val="119700"/>
              </a:lnSpc>
              <a:spcBef>
                <a:spcPts val="1885"/>
              </a:spcBef>
              <a:buChar char="•"/>
              <a:tabLst>
                <a:tab pos="362585" algn="l"/>
              </a:tabLst>
            </a:pPr>
            <a:r>
              <a:rPr sz="3100" dirty="0">
                <a:latin typeface="Arial MT"/>
                <a:cs typeface="Arial MT"/>
              </a:rPr>
              <a:t>Scikit-Learn:</a:t>
            </a:r>
            <a:r>
              <a:rPr sz="3100" spc="-50" dirty="0">
                <a:latin typeface="Arial MT"/>
                <a:cs typeface="Arial MT"/>
              </a:rPr>
              <a:t> </a:t>
            </a:r>
            <a:r>
              <a:rPr sz="3100" spc="-35" dirty="0">
                <a:latin typeface="Arial MT"/>
                <a:cs typeface="Arial MT"/>
              </a:rPr>
              <a:t>The</a:t>
            </a:r>
            <a:r>
              <a:rPr sz="3100" spc="-120" dirty="0">
                <a:latin typeface="Arial MT"/>
                <a:cs typeface="Arial MT"/>
              </a:rPr>
              <a:t> </a:t>
            </a:r>
            <a:r>
              <a:rPr sz="3100" spc="-80" dirty="0">
                <a:latin typeface="Arial MT"/>
                <a:cs typeface="Arial MT"/>
              </a:rPr>
              <a:t>foundational</a:t>
            </a:r>
            <a:r>
              <a:rPr sz="3100" spc="50" dirty="0">
                <a:latin typeface="Arial MT"/>
                <a:cs typeface="Arial MT"/>
              </a:rPr>
              <a:t> </a:t>
            </a:r>
            <a:r>
              <a:rPr sz="3100" spc="-75" dirty="0">
                <a:latin typeface="Arial MT"/>
                <a:cs typeface="Arial MT"/>
              </a:rPr>
              <a:t>machine</a:t>
            </a:r>
            <a:r>
              <a:rPr sz="3100" spc="15" dirty="0">
                <a:latin typeface="Arial MT"/>
                <a:cs typeface="Arial MT"/>
              </a:rPr>
              <a:t> </a:t>
            </a:r>
            <a:r>
              <a:rPr sz="3100" spc="-65" dirty="0">
                <a:latin typeface="Arial MT"/>
                <a:cs typeface="Arial MT"/>
              </a:rPr>
              <a:t>learning</a:t>
            </a:r>
            <a:r>
              <a:rPr sz="3100" spc="-25" dirty="0">
                <a:latin typeface="Arial MT"/>
                <a:cs typeface="Arial MT"/>
              </a:rPr>
              <a:t> </a:t>
            </a:r>
            <a:r>
              <a:rPr sz="3100" spc="-45" dirty="0">
                <a:latin typeface="Arial MT"/>
                <a:cs typeface="Arial MT"/>
              </a:rPr>
              <a:t>library</a:t>
            </a:r>
            <a:r>
              <a:rPr sz="3100" spc="-55" dirty="0">
                <a:latin typeface="Arial MT"/>
                <a:cs typeface="Arial MT"/>
              </a:rPr>
              <a:t> </a:t>
            </a:r>
            <a:r>
              <a:rPr sz="3100" spc="-65" dirty="0">
                <a:latin typeface="Arial MT"/>
                <a:cs typeface="Arial MT"/>
              </a:rPr>
              <a:t>used</a:t>
            </a:r>
            <a:r>
              <a:rPr sz="3100" spc="-90" dirty="0">
                <a:latin typeface="Arial MT"/>
                <a:cs typeface="Arial MT"/>
              </a:rPr>
              <a:t> </a:t>
            </a:r>
            <a:r>
              <a:rPr sz="3100" dirty="0">
                <a:latin typeface="Arial MT"/>
                <a:cs typeface="Arial MT"/>
              </a:rPr>
              <a:t>to</a:t>
            </a:r>
            <a:r>
              <a:rPr sz="3100" spc="-215" dirty="0">
                <a:latin typeface="Arial MT"/>
                <a:cs typeface="Arial MT"/>
              </a:rPr>
              <a:t> </a:t>
            </a:r>
            <a:r>
              <a:rPr sz="3100" spc="-35" dirty="0">
                <a:latin typeface="Arial MT"/>
                <a:cs typeface="Arial MT"/>
              </a:rPr>
              <a:t>train</a:t>
            </a:r>
            <a:r>
              <a:rPr sz="3100" spc="-130" dirty="0">
                <a:latin typeface="Arial MT"/>
                <a:cs typeface="Arial MT"/>
              </a:rPr>
              <a:t> </a:t>
            </a:r>
            <a:r>
              <a:rPr sz="3100" dirty="0">
                <a:latin typeface="Arial MT"/>
                <a:cs typeface="Arial MT"/>
              </a:rPr>
              <a:t>the</a:t>
            </a:r>
            <a:r>
              <a:rPr sz="3100" spc="-85" dirty="0">
                <a:latin typeface="Arial MT"/>
                <a:cs typeface="Arial MT"/>
              </a:rPr>
              <a:t> </a:t>
            </a:r>
            <a:r>
              <a:rPr sz="3100" spc="-65" dirty="0">
                <a:latin typeface="Arial MT"/>
                <a:cs typeface="Arial MT"/>
              </a:rPr>
              <a:t>classification</a:t>
            </a:r>
            <a:r>
              <a:rPr sz="3100" spc="-150" dirty="0">
                <a:latin typeface="Arial MT"/>
                <a:cs typeface="Arial MT"/>
              </a:rPr>
              <a:t> </a:t>
            </a:r>
            <a:r>
              <a:rPr sz="3100" spc="-10" dirty="0">
                <a:latin typeface="Arial MT"/>
                <a:cs typeface="Arial MT"/>
              </a:rPr>
              <a:t>algorithms 	</a:t>
            </a:r>
            <a:r>
              <a:rPr sz="3100" spc="-35" dirty="0">
                <a:latin typeface="Arial MT"/>
                <a:cs typeface="Arial MT"/>
              </a:rPr>
              <a:t>(e.g.,</a:t>
            </a:r>
            <a:r>
              <a:rPr sz="3100" spc="-170" dirty="0">
                <a:latin typeface="Arial MT"/>
                <a:cs typeface="Arial MT"/>
              </a:rPr>
              <a:t> </a:t>
            </a:r>
            <a:r>
              <a:rPr sz="3100" spc="-100" dirty="0">
                <a:latin typeface="Arial MT"/>
                <a:cs typeface="Arial MT"/>
              </a:rPr>
              <a:t>Random</a:t>
            </a:r>
            <a:r>
              <a:rPr sz="3100" spc="-114" dirty="0">
                <a:latin typeface="Arial MT"/>
                <a:cs typeface="Arial MT"/>
              </a:rPr>
              <a:t> </a:t>
            </a:r>
            <a:r>
              <a:rPr sz="3100" spc="-45" dirty="0">
                <a:latin typeface="Arial MT"/>
                <a:cs typeface="Arial MT"/>
              </a:rPr>
              <a:t>Forest,</a:t>
            </a:r>
            <a:r>
              <a:rPr sz="3100" spc="-130" dirty="0">
                <a:latin typeface="Arial MT"/>
                <a:cs typeface="Arial MT"/>
              </a:rPr>
              <a:t> </a:t>
            </a:r>
            <a:r>
              <a:rPr sz="3100" spc="-10" dirty="0">
                <a:latin typeface="Arial MT"/>
                <a:cs typeface="Arial MT"/>
              </a:rPr>
              <a:t>SVM).</a:t>
            </a:r>
            <a:endParaRPr sz="3100">
              <a:latin typeface="Arial MT"/>
              <a:cs typeface="Arial MT"/>
            </a:endParaRPr>
          </a:p>
          <a:p>
            <a:pPr marL="356235" marR="725805" indent="-344170">
              <a:lnSpc>
                <a:spcPct val="121300"/>
              </a:lnSpc>
              <a:spcBef>
                <a:spcPts val="1795"/>
              </a:spcBef>
              <a:buChar char="•"/>
              <a:tabLst>
                <a:tab pos="365760" algn="l"/>
              </a:tabLst>
            </a:pPr>
            <a:r>
              <a:rPr sz="3100" dirty="0">
                <a:latin typeface="Arial MT"/>
                <a:cs typeface="Arial MT"/>
              </a:rPr>
              <a:t>Pandas</a:t>
            </a:r>
            <a:r>
              <a:rPr sz="3100" spc="-125" dirty="0">
                <a:latin typeface="Arial MT"/>
                <a:cs typeface="Arial MT"/>
              </a:rPr>
              <a:t> </a:t>
            </a:r>
            <a:r>
              <a:rPr sz="3100" dirty="0">
                <a:latin typeface="Arial MT"/>
                <a:cs typeface="Arial MT"/>
              </a:rPr>
              <a:t>&amp;</a:t>
            </a:r>
            <a:r>
              <a:rPr sz="3100" spc="-200" dirty="0">
                <a:latin typeface="Arial MT"/>
                <a:cs typeface="Arial MT"/>
              </a:rPr>
              <a:t> </a:t>
            </a:r>
            <a:r>
              <a:rPr sz="3100" dirty="0">
                <a:latin typeface="Arial MT"/>
                <a:cs typeface="Arial MT"/>
              </a:rPr>
              <a:t>NumPy:</a:t>
            </a:r>
            <a:r>
              <a:rPr sz="3100" spc="-110" dirty="0">
                <a:latin typeface="Arial MT"/>
                <a:cs typeface="Arial MT"/>
              </a:rPr>
              <a:t> </a:t>
            </a:r>
            <a:r>
              <a:rPr sz="3100" spc="-55" dirty="0">
                <a:latin typeface="Arial MT"/>
                <a:cs typeface="Arial MT"/>
              </a:rPr>
              <a:t>Used</a:t>
            </a:r>
            <a:r>
              <a:rPr sz="3100" spc="-120" dirty="0">
                <a:latin typeface="Arial MT"/>
                <a:cs typeface="Arial MT"/>
              </a:rPr>
              <a:t> </a:t>
            </a:r>
            <a:r>
              <a:rPr sz="3100" spc="-70" dirty="0">
                <a:latin typeface="Arial MT"/>
                <a:cs typeface="Arial MT"/>
              </a:rPr>
              <a:t>extensively</a:t>
            </a:r>
            <a:r>
              <a:rPr sz="3100" spc="60" dirty="0">
                <a:latin typeface="Arial MT"/>
                <a:cs typeface="Arial MT"/>
              </a:rPr>
              <a:t> </a:t>
            </a:r>
            <a:r>
              <a:rPr sz="3100" spc="-25" dirty="0">
                <a:latin typeface="Arial MT"/>
                <a:cs typeface="Arial MT"/>
              </a:rPr>
              <a:t>for</a:t>
            </a:r>
            <a:r>
              <a:rPr sz="3100" spc="-75" dirty="0">
                <a:latin typeface="Arial MT"/>
                <a:cs typeface="Arial MT"/>
              </a:rPr>
              <a:t> </a:t>
            </a:r>
            <a:r>
              <a:rPr sz="3100" spc="-60" dirty="0">
                <a:solidFill>
                  <a:srgbClr val="00051D"/>
                </a:solidFill>
                <a:latin typeface="Arial MT"/>
                <a:cs typeface="Arial MT"/>
              </a:rPr>
              <a:t>data</a:t>
            </a:r>
            <a:r>
              <a:rPr sz="3100" spc="-155" dirty="0">
                <a:solidFill>
                  <a:srgbClr val="00051D"/>
                </a:solidFill>
                <a:latin typeface="Arial MT"/>
                <a:cs typeface="Arial MT"/>
              </a:rPr>
              <a:t> </a:t>
            </a:r>
            <a:r>
              <a:rPr sz="3100" spc="-65" dirty="0">
                <a:latin typeface="Arial MT"/>
                <a:cs typeface="Arial MT"/>
              </a:rPr>
              <a:t>preprocessing,</a:t>
            </a:r>
            <a:r>
              <a:rPr sz="3100" spc="-150" dirty="0">
                <a:latin typeface="Arial MT"/>
                <a:cs typeface="Arial MT"/>
              </a:rPr>
              <a:t> </a:t>
            </a:r>
            <a:r>
              <a:rPr sz="3100" spc="-60" dirty="0">
                <a:latin typeface="Arial MT"/>
                <a:cs typeface="Arial MT"/>
              </a:rPr>
              <a:t>feature</a:t>
            </a:r>
            <a:r>
              <a:rPr sz="3100" spc="-70" dirty="0">
                <a:latin typeface="Arial MT"/>
                <a:cs typeface="Arial MT"/>
              </a:rPr>
              <a:t> </a:t>
            </a:r>
            <a:r>
              <a:rPr sz="3100" spc="-65" dirty="0">
                <a:latin typeface="Arial MT"/>
                <a:cs typeface="Arial MT"/>
              </a:rPr>
              <a:t>extraction,</a:t>
            </a:r>
            <a:r>
              <a:rPr sz="3100" spc="40" dirty="0">
                <a:latin typeface="Arial MT"/>
                <a:cs typeface="Arial MT"/>
              </a:rPr>
              <a:t> </a:t>
            </a:r>
            <a:r>
              <a:rPr sz="3100" spc="-45" dirty="0">
                <a:latin typeface="Arial MT"/>
                <a:cs typeface="Arial MT"/>
              </a:rPr>
              <a:t>and</a:t>
            </a:r>
            <a:r>
              <a:rPr sz="3100" spc="-125" dirty="0">
                <a:latin typeface="Arial MT"/>
                <a:cs typeface="Arial MT"/>
              </a:rPr>
              <a:t> </a:t>
            </a:r>
            <a:r>
              <a:rPr sz="3100" spc="-70" dirty="0">
                <a:latin typeface="Arial MT"/>
                <a:cs typeface="Arial MT"/>
              </a:rPr>
              <a:t>handling</a:t>
            </a:r>
            <a:r>
              <a:rPr sz="3100" spc="-50" dirty="0">
                <a:latin typeface="Arial MT"/>
                <a:cs typeface="Arial MT"/>
              </a:rPr>
              <a:t> </a:t>
            </a:r>
            <a:r>
              <a:rPr sz="3100" spc="-25" dirty="0">
                <a:latin typeface="Arial MT"/>
                <a:cs typeface="Arial MT"/>
              </a:rPr>
              <a:t>the 	</a:t>
            </a:r>
            <a:r>
              <a:rPr sz="3100" spc="-75" dirty="0">
                <a:latin typeface="Arial MT"/>
                <a:cs typeface="Arial MT"/>
              </a:rPr>
              <a:t>Kaggle</a:t>
            </a:r>
            <a:r>
              <a:rPr sz="3100" spc="-90" dirty="0">
                <a:latin typeface="Arial MT"/>
                <a:cs typeface="Arial MT"/>
              </a:rPr>
              <a:t> </a:t>
            </a:r>
            <a:r>
              <a:rPr sz="3100" spc="-10" dirty="0">
                <a:latin typeface="Arial MT"/>
                <a:cs typeface="Arial MT"/>
              </a:rPr>
              <a:t>dataset.</a:t>
            </a:r>
            <a:endParaRPr sz="31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35560">
              <a:lnSpc>
                <a:spcPct val="100000"/>
              </a:lnSpc>
              <a:spcBef>
                <a:spcPts val="110"/>
              </a:spcBef>
            </a:pPr>
            <a:r>
              <a:rPr sz="5400" b="1" dirty="0">
                <a:latin typeface="Arial"/>
                <a:cs typeface="Arial"/>
              </a:rPr>
              <a:t>Proposed</a:t>
            </a:r>
            <a:r>
              <a:rPr sz="5400" b="1" spc="160" dirty="0">
                <a:latin typeface="Arial"/>
                <a:cs typeface="Arial"/>
              </a:rPr>
              <a:t> </a:t>
            </a:r>
            <a:r>
              <a:rPr sz="5400" b="1" dirty="0">
                <a:latin typeface="Arial"/>
                <a:cs typeface="Arial"/>
              </a:rPr>
              <a:t>Solution:</a:t>
            </a:r>
            <a:r>
              <a:rPr sz="5400" b="1" spc="125" dirty="0">
                <a:latin typeface="Arial"/>
                <a:cs typeface="Arial"/>
              </a:rPr>
              <a:t> </a:t>
            </a:r>
            <a:r>
              <a:rPr sz="5400" b="1" spc="-20" dirty="0">
                <a:latin typeface="Arial"/>
                <a:cs typeface="Arial"/>
              </a:rPr>
              <a:t>NIDS</a:t>
            </a:r>
            <a:endParaRPr sz="540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241671" y="2241158"/>
            <a:ext cx="17491075" cy="76276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455930" indent="635">
              <a:lnSpc>
                <a:spcPct val="119700"/>
              </a:lnSpc>
              <a:spcBef>
                <a:spcPts val="100"/>
              </a:spcBef>
            </a:pPr>
            <a:r>
              <a:rPr sz="3100" spc="-55" dirty="0">
                <a:latin typeface="Arial MT"/>
                <a:cs typeface="Arial MT"/>
              </a:rPr>
              <a:t>The</a:t>
            </a:r>
            <a:r>
              <a:rPr sz="3100" spc="-165" dirty="0">
                <a:latin typeface="Arial MT"/>
                <a:cs typeface="Arial MT"/>
              </a:rPr>
              <a:t> </a:t>
            </a:r>
            <a:r>
              <a:rPr sz="3100" spc="-75" dirty="0">
                <a:latin typeface="Arial MT"/>
                <a:cs typeface="Arial MT"/>
              </a:rPr>
              <a:t>proposed</a:t>
            </a:r>
            <a:r>
              <a:rPr sz="3100" spc="-140" dirty="0">
                <a:latin typeface="Arial MT"/>
                <a:cs typeface="Arial MT"/>
              </a:rPr>
              <a:t> </a:t>
            </a:r>
            <a:r>
              <a:rPr sz="3100" spc="-70" dirty="0">
                <a:latin typeface="Arial MT"/>
                <a:cs typeface="Arial MT"/>
              </a:rPr>
              <a:t>solution</a:t>
            </a:r>
            <a:r>
              <a:rPr sz="3100" spc="-145" dirty="0">
                <a:latin typeface="Arial MT"/>
                <a:cs typeface="Arial MT"/>
              </a:rPr>
              <a:t> </a:t>
            </a:r>
            <a:r>
              <a:rPr sz="3100" dirty="0">
                <a:latin typeface="Arial MT"/>
                <a:cs typeface="Arial MT"/>
              </a:rPr>
              <a:t>is</a:t>
            </a:r>
            <a:r>
              <a:rPr sz="3100" spc="-200" dirty="0">
                <a:latin typeface="Arial MT"/>
                <a:cs typeface="Arial MT"/>
              </a:rPr>
              <a:t> </a:t>
            </a:r>
            <a:r>
              <a:rPr sz="3100" dirty="0">
                <a:latin typeface="Arial MT"/>
                <a:cs typeface="Arial MT"/>
              </a:rPr>
              <a:t>a</a:t>
            </a:r>
            <a:r>
              <a:rPr sz="3100" spc="-215" dirty="0">
                <a:latin typeface="Arial MT"/>
                <a:cs typeface="Arial MT"/>
              </a:rPr>
              <a:t> </a:t>
            </a:r>
            <a:r>
              <a:rPr sz="3100" spc="-75" dirty="0">
                <a:latin typeface="Arial MT"/>
                <a:cs typeface="Arial MT"/>
              </a:rPr>
              <a:t>machine</a:t>
            </a:r>
            <a:r>
              <a:rPr sz="3100" spc="-20" dirty="0">
                <a:latin typeface="Arial MT"/>
                <a:cs typeface="Arial MT"/>
              </a:rPr>
              <a:t> </a:t>
            </a:r>
            <a:r>
              <a:rPr sz="3100" spc="-80" dirty="0">
                <a:latin typeface="Arial MT"/>
                <a:cs typeface="Arial MT"/>
              </a:rPr>
              <a:t>learning-</a:t>
            </a:r>
            <a:r>
              <a:rPr sz="3100" spc="-65" dirty="0">
                <a:latin typeface="Arial MT"/>
                <a:cs typeface="Arial MT"/>
              </a:rPr>
              <a:t>based</a:t>
            </a:r>
            <a:r>
              <a:rPr sz="3100" spc="-150" dirty="0">
                <a:latin typeface="Arial MT"/>
                <a:cs typeface="Arial MT"/>
              </a:rPr>
              <a:t> </a:t>
            </a:r>
            <a:r>
              <a:rPr sz="3100" spc="-70" dirty="0">
                <a:latin typeface="Arial MT"/>
                <a:cs typeface="Arial MT"/>
              </a:rPr>
              <a:t>Network</a:t>
            </a:r>
            <a:r>
              <a:rPr sz="3100" spc="-60" dirty="0">
                <a:latin typeface="Arial MT"/>
                <a:cs typeface="Arial MT"/>
              </a:rPr>
              <a:t> Intrusion</a:t>
            </a:r>
            <a:r>
              <a:rPr sz="3100" spc="-20" dirty="0">
                <a:latin typeface="Arial MT"/>
                <a:cs typeface="Arial MT"/>
              </a:rPr>
              <a:t> </a:t>
            </a:r>
            <a:r>
              <a:rPr sz="3100" spc="-75" dirty="0">
                <a:latin typeface="Arial MT"/>
                <a:cs typeface="Arial MT"/>
              </a:rPr>
              <a:t>Detection</a:t>
            </a:r>
            <a:r>
              <a:rPr sz="3100" spc="-40" dirty="0">
                <a:latin typeface="Arial MT"/>
                <a:cs typeface="Arial MT"/>
              </a:rPr>
              <a:t> </a:t>
            </a:r>
            <a:r>
              <a:rPr sz="3100" spc="-80" dirty="0">
                <a:latin typeface="Arial MT"/>
                <a:cs typeface="Arial MT"/>
              </a:rPr>
              <a:t>System</a:t>
            </a:r>
            <a:r>
              <a:rPr sz="3100" spc="-85" dirty="0">
                <a:latin typeface="Arial MT"/>
                <a:cs typeface="Arial MT"/>
              </a:rPr>
              <a:t> </a:t>
            </a:r>
            <a:r>
              <a:rPr sz="3100" spc="-20" dirty="0">
                <a:latin typeface="Arial MT"/>
                <a:cs typeface="Arial MT"/>
              </a:rPr>
              <a:t>built</a:t>
            </a:r>
            <a:r>
              <a:rPr sz="3100" spc="-110" dirty="0">
                <a:latin typeface="Arial MT"/>
                <a:cs typeface="Arial MT"/>
              </a:rPr>
              <a:t> </a:t>
            </a:r>
            <a:r>
              <a:rPr sz="3100" spc="-50" dirty="0">
                <a:latin typeface="Arial MT"/>
                <a:cs typeface="Arial MT"/>
              </a:rPr>
              <a:t>on</a:t>
            </a:r>
            <a:r>
              <a:rPr sz="3100" spc="-165" dirty="0">
                <a:latin typeface="Arial MT"/>
                <a:cs typeface="Arial MT"/>
              </a:rPr>
              <a:t> </a:t>
            </a:r>
            <a:r>
              <a:rPr sz="3100" spc="-25" dirty="0">
                <a:latin typeface="Arial MT"/>
                <a:cs typeface="Arial MT"/>
              </a:rPr>
              <a:t>IBM </a:t>
            </a:r>
            <a:r>
              <a:rPr sz="3100" spc="-70" dirty="0">
                <a:latin typeface="Arial MT"/>
                <a:cs typeface="Arial MT"/>
              </a:rPr>
              <a:t>watsonx.</a:t>
            </a:r>
            <a:r>
              <a:rPr sz="3100" spc="-150" dirty="0">
                <a:latin typeface="Arial MT"/>
                <a:cs typeface="Arial MT"/>
              </a:rPr>
              <a:t> </a:t>
            </a:r>
            <a:r>
              <a:rPr sz="3100" dirty="0">
                <a:latin typeface="Arial MT"/>
                <a:cs typeface="Arial MT"/>
              </a:rPr>
              <a:t>It</a:t>
            </a:r>
            <a:r>
              <a:rPr sz="3100" spc="-215" dirty="0">
                <a:latin typeface="Arial MT"/>
                <a:cs typeface="Arial MT"/>
              </a:rPr>
              <a:t> </a:t>
            </a:r>
            <a:r>
              <a:rPr sz="3100" spc="-80" dirty="0">
                <a:latin typeface="Arial MT"/>
                <a:cs typeface="Arial MT"/>
              </a:rPr>
              <a:t>addresses</a:t>
            </a:r>
            <a:r>
              <a:rPr sz="3100" spc="-135" dirty="0">
                <a:latin typeface="Arial MT"/>
                <a:cs typeface="Arial MT"/>
              </a:rPr>
              <a:t> </a:t>
            </a:r>
            <a:r>
              <a:rPr sz="3100" dirty="0">
                <a:latin typeface="Arial MT"/>
                <a:cs typeface="Arial MT"/>
              </a:rPr>
              <a:t>the</a:t>
            </a:r>
            <a:r>
              <a:rPr sz="3100" spc="-150" dirty="0">
                <a:latin typeface="Arial MT"/>
                <a:cs typeface="Arial MT"/>
              </a:rPr>
              <a:t> </a:t>
            </a:r>
            <a:r>
              <a:rPr sz="3100" spc="-70" dirty="0">
                <a:latin typeface="Arial MT"/>
                <a:cs typeface="Arial MT"/>
              </a:rPr>
              <a:t>challenge</a:t>
            </a:r>
            <a:r>
              <a:rPr sz="3100" spc="-35" dirty="0">
                <a:latin typeface="Arial MT"/>
                <a:cs typeface="Arial MT"/>
              </a:rPr>
              <a:t> </a:t>
            </a:r>
            <a:r>
              <a:rPr sz="3100" spc="-20" dirty="0">
                <a:latin typeface="Arial MT"/>
                <a:cs typeface="Arial MT"/>
              </a:rPr>
              <a:t>of</a:t>
            </a:r>
            <a:r>
              <a:rPr sz="3100" spc="-165" dirty="0">
                <a:latin typeface="Arial MT"/>
                <a:cs typeface="Arial MT"/>
              </a:rPr>
              <a:t> </a:t>
            </a:r>
            <a:r>
              <a:rPr sz="3100" spc="-65" dirty="0">
                <a:latin typeface="Arial MT"/>
                <a:cs typeface="Arial MT"/>
              </a:rPr>
              <a:t>identifying </a:t>
            </a:r>
            <a:r>
              <a:rPr sz="3100" spc="-60" dirty="0">
                <a:latin typeface="Arial MT"/>
                <a:cs typeface="Arial MT"/>
              </a:rPr>
              <a:t>network</a:t>
            </a:r>
            <a:r>
              <a:rPr sz="3100" spc="-40" dirty="0">
                <a:latin typeface="Arial MT"/>
                <a:cs typeface="Arial MT"/>
              </a:rPr>
              <a:t> </a:t>
            </a:r>
            <a:r>
              <a:rPr sz="3100" spc="-70" dirty="0">
                <a:latin typeface="Arial MT"/>
                <a:cs typeface="Arial MT"/>
              </a:rPr>
              <a:t>attacks</a:t>
            </a:r>
            <a:r>
              <a:rPr sz="3100" spc="-145" dirty="0">
                <a:latin typeface="Arial MT"/>
                <a:cs typeface="Arial MT"/>
              </a:rPr>
              <a:t> </a:t>
            </a:r>
            <a:r>
              <a:rPr sz="3100" dirty="0">
                <a:latin typeface="Arial MT"/>
                <a:cs typeface="Arial MT"/>
              </a:rPr>
              <a:t>by</a:t>
            </a:r>
            <a:r>
              <a:rPr sz="3100" spc="-185" dirty="0">
                <a:latin typeface="Arial MT"/>
                <a:cs typeface="Arial MT"/>
              </a:rPr>
              <a:t> </a:t>
            </a:r>
            <a:r>
              <a:rPr sz="3100" spc="-75" dirty="0">
                <a:latin typeface="Arial MT"/>
                <a:cs typeface="Arial MT"/>
              </a:rPr>
              <a:t>establishing</a:t>
            </a:r>
            <a:r>
              <a:rPr sz="3100" dirty="0">
                <a:latin typeface="Arial MT"/>
                <a:cs typeface="Arial MT"/>
              </a:rPr>
              <a:t> a</a:t>
            </a:r>
            <a:r>
              <a:rPr sz="3100" spc="-215" dirty="0">
                <a:latin typeface="Arial MT"/>
                <a:cs typeface="Arial MT"/>
              </a:rPr>
              <a:t> </a:t>
            </a:r>
            <a:r>
              <a:rPr sz="3100" spc="-65" dirty="0">
                <a:latin typeface="Arial MT"/>
                <a:cs typeface="Arial MT"/>
              </a:rPr>
              <a:t>baseline</a:t>
            </a:r>
            <a:r>
              <a:rPr sz="3100" spc="-55" dirty="0">
                <a:latin typeface="Arial MT"/>
                <a:cs typeface="Arial MT"/>
              </a:rPr>
              <a:t> </a:t>
            </a:r>
            <a:r>
              <a:rPr sz="3100" dirty="0">
                <a:latin typeface="Arial MT"/>
                <a:cs typeface="Arial MT"/>
              </a:rPr>
              <a:t>of</a:t>
            </a:r>
            <a:r>
              <a:rPr sz="3100" spc="-114" dirty="0">
                <a:latin typeface="Arial MT"/>
                <a:cs typeface="Arial MT"/>
              </a:rPr>
              <a:t> </a:t>
            </a:r>
            <a:r>
              <a:rPr sz="3100" spc="-10" dirty="0">
                <a:latin typeface="Arial MT"/>
                <a:cs typeface="Arial MT"/>
              </a:rPr>
              <a:t>normal </a:t>
            </a:r>
            <a:r>
              <a:rPr sz="3100" spc="-65" dirty="0">
                <a:latin typeface="Arial MT"/>
                <a:cs typeface="Arial MT"/>
              </a:rPr>
              <a:t>behavior and</a:t>
            </a:r>
            <a:r>
              <a:rPr sz="3100" spc="-155" dirty="0">
                <a:latin typeface="Arial MT"/>
                <a:cs typeface="Arial MT"/>
              </a:rPr>
              <a:t> </a:t>
            </a:r>
            <a:r>
              <a:rPr sz="3100" spc="-75" dirty="0">
                <a:latin typeface="Arial MT"/>
                <a:cs typeface="Arial MT"/>
              </a:rPr>
              <a:t>categorizing</a:t>
            </a:r>
            <a:r>
              <a:rPr sz="3100" spc="-10" dirty="0">
                <a:latin typeface="Arial MT"/>
                <a:cs typeface="Arial MT"/>
              </a:rPr>
              <a:t> anomalies.</a:t>
            </a:r>
            <a:endParaRPr sz="310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689"/>
              </a:spcBef>
            </a:pPr>
            <a:endParaRPr sz="3100" dirty="0">
              <a:latin typeface="Arial MT"/>
              <a:cs typeface="Arial MT"/>
            </a:endParaRPr>
          </a:p>
          <a:p>
            <a:pPr marL="478790" marR="1054100" indent="-344170">
              <a:lnSpc>
                <a:spcPct val="121300"/>
              </a:lnSpc>
              <a:spcBef>
                <a:spcPts val="5"/>
              </a:spcBef>
              <a:buChar char="•"/>
              <a:tabLst>
                <a:tab pos="483234" algn="l"/>
              </a:tabLst>
            </a:pPr>
            <a:r>
              <a:rPr sz="3100" b="1" dirty="0">
                <a:latin typeface="Arial MT"/>
                <a:cs typeface="Arial MT"/>
              </a:rPr>
              <a:t>Data</a:t>
            </a:r>
            <a:r>
              <a:rPr sz="3100" spc="-220" dirty="0">
                <a:latin typeface="Arial MT"/>
                <a:cs typeface="Arial MT"/>
              </a:rPr>
              <a:t> </a:t>
            </a:r>
            <a:r>
              <a:rPr sz="3100" b="1" spc="-80" dirty="0">
                <a:latin typeface="Arial"/>
                <a:cs typeface="Arial"/>
              </a:rPr>
              <a:t>Preprocessing:</a:t>
            </a:r>
            <a:r>
              <a:rPr sz="3100" b="1" spc="-135" dirty="0">
                <a:latin typeface="Arial"/>
                <a:cs typeface="Arial"/>
              </a:rPr>
              <a:t> </a:t>
            </a:r>
            <a:r>
              <a:rPr sz="3100" spc="-45" dirty="0">
                <a:latin typeface="Arial MT"/>
                <a:cs typeface="Arial MT"/>
              </a:rPr>
              <a:t>The</a:t>
            </a:r>
            <a:r>
              <a:rPr sz="3100" spc="-170" dirty="0">
                <a:latin typeface="Arial MT"/>
                <a:cs typeface="Arial MT"/>
              </a:rPr>
              <a:t> </a:t>
            </a:r>
            <a:r>
              <a:rPr sz="3100" spc="-135" dirty="0">
                <a:latin typeface="Arial MT"/>
                <a:cs typeface="Arial MT"/>
              </a:rPr>
              <a:t>NSL-</a:t>
            </a:r>
            <a:r>
              <a:rPr sz="3100" spc="-30" dirty="0">
                <a:latin typeface="Arial MT"/>
                <a:cs typeface="Arial MT"/>
              </a:rPr>
              <a:t>KDD</a:t>
            </a:r>
            <a:r>
              <a:rPr sz="3100" spc="-105" dirty="0">
                <a:latin typeface="Arial MT"/>
                <a:cs typeface="Arial MT"/>
              </a:rPr>
              <a:t> </a:t>
            </a:r>
            <a:r>
              <a:rPr sz="3100" spc="-80" dirty="0">
                <a:latin typeface="Arial MT"/>
                <a:cs typeface="Arial MT"/>
              </a:rPr>
              <a:t>dataset</a:t>
            </a:r>
            <a:r>
              <a:rPr sz="3100" spc="-135" dirty="0">
                <a:latin typeface="Arial MT"/>
                <a:cs typeface="Arial MT"/>
              </a:rPr>
              <a:t> </a:t>
            </a:r>
            <a:r>
              <a:rPr sz="3100" dirty="0">
                <a:latin typeface="Arial MT"/>
                <a:cs typeface="Arial MT"/>
              </a:rPr>
              <a:t>is</a:t>
            </a:r>
            <a:r>
              <a:rPr sz="3100" spc="-204" dirty="0">
                <a:latin typeface="Arial MT"/>
                <a:cs typeface="Arial MT"/>
              </a:rPr>
              <a:t> </a:t>
            </a:r>
            <a:r>
              <a:rPr sz="3100" spc="-65" dirty="0">
                <a:latin typeface="Arial MT"/>
                <a:cs typeface="Arial MT"/>
              </a:rPr>
              <a:t>ingested</a:t>
            </a:r>
            <a:r>
              <a:rPr sz="3100" spc="-100" dirty="0">
                <a:latin typeface="Arial MT"/>
                <a:cs typeface="Arial MT"/>
              </a:rPr>
              <a:t> </a:t>
            </a:r>
            <a:r>
              <a:rPr sz="3100" spc="-40" dirty="0">
                <a:solidFill>
                  <a:srgbClr val="00010F"/>
                </a:solidFill>
                <a:latin typeface="Arial MT"/>
                <a:cs typeface="Arial MT"/>
              </a:rPr>
              <a:t>and</a:t>
            </a:r>
            <a:r>
              <a:rPr sz="3100" spc="-130" dirty="0">
                <a:solidFill>
                  <a:srgbClr val="00010F"/>
                </a:solidFill>
                <a:latin typeface="Arial MT"/>
                <a:cs typeface="Arial MT"/>
              </a:rPr>
              <a:t> </a:t>
            </a:r>
            <a:r>
              <a:rPr sz="3100" spc="-70" dirty="0">
                <a:latin typeface="Arial MT"/>
                <a:cs typeface="Arial MT"/>
              </a:rPr>
              <a:t>cleaned.</a:t>
            </a:r>
            <a:r>
              <a:rPr sz="3100" spc="-45" dirty="0">
                <a:latin typeface="Arial MT"/>
                <a:cs typeface="Arial MT"/>
              </a:rPr>
              <a:t> </a:t>
            </a:r>
            <a:r>
              <a:rPr sz="3100" spc="-75" dirty="0">
                <a:latin typeface="Arial MT"/>
                <a:cs typeface="Arial MT"/>
              </a:rPr>
              <a:t>Categorical</a:t>
            </a:r>
            <a:r>
              <a:rPr sz="3100" spc="15" dirty="0">
                <a:latin typeface="Arial MT"/>
                <a:cs typeface="Arial MT"/>
              </a:rPr>
              <a:t> </a:t>
            </a:r>
            <a:r>
              <a:rPr sz="3100" spc="-60" dirty="0">
                <a:latin typeface="Arial MT"/>
                <a:cs typeface="Arial MT"/>
              </a:rPr>
              <a:t>features</a:t>
            </a:r>
            <a:r>
              <a:rPr sz="3100" spc="-70" dirty="0">
                <a:latin typeface="Arial MT"/>
                <a:cs typeface="Arial MT"/>
              </a:rPr>
              <a:t> </a:t>
            </a:r>
            <a:r>
              <a:rPr sz="3100" spc="-10" dirty="0">
                <a:latin typeface="Arial MT"/>
                <a:cs typeface="Arial MT"/>
              </a:rPr>
              <a:t>(like 	</a:t>
            </a:r>
            <a:r>
              <a:rPr sz="3100" spc="-80" dirty="0">
                <a:latin typeface="Arial MT"/>
                <a:cs typeface="Arial MT"/>
              </a:rPr>
              <a:t>protocoI_type)</a:t>
            </a:r>
            <a:r>
              <a:rPr sz="3100" spc="-140" dirty="0">
                <a:latin typeface="Arial MT"/>
                <a:cs typeface="Arial MT"/>
              </a:rPr>
              <a:t> </a:t>
            </a:r>
            <a:r>
              <a:rPr sz="3100" spc="-60" dirty="0">
                <a:latin typeface="Arial MT"/>
                <a:cs typeface="Arial MT"/>
              </a:rPr>
              <a:t>are</a:t>
            </a:r>
            <a:r>
              <a:rPr sz="3100" spc="-155" dirty="0">
                <a:latin typeface="Arial MT"/>
                <a:cs typeface="Arial MT"/>
              </a:rPr>
              <a:t> </a:t>
            </a:r>
            <a:r>
              <a:rPr sz="3100" spc="-75" dirty="0">
                <a:latin typeface="Arial MT"/>
                <a:cs typeface="Arial MT"/>
              </a:rPr>
              <a:t>encoded,</a:t>
            </a:r>
            <a:r>
              <a:rPr sz="3100" spc="-130" dirty="0">
                <a:latin typeface="Arial MT"/>
                <a:cs typeface="Arial MT"/>
              </a:rPr>
              <a:t> </a:t>
            </a:r>
            <a:r>
              <a:rPr sz="3100" spc="-45" dirty="0">
                <a:latin typeface="Arial MT"/>
                <a:cs typeface="Arial MT"/>
              </a:rPr>
              <a:t>and</a:t>
            </a:r>
            <a:r>
              <a:rPr sz="3100" spc="-165" dirty="0">
                <a:latin typeface="Arial MT"/>
                <a:cs typeface="Arial MT"/>
              </a:rPr>
              <a:t> </a:t>
            </a:r>
            <a:r>
              <a:rPr sz="3100" spc="-75" dirty="0">
                <a:latin typeface="Arial MT"/>
                <a:cs typeface="Arial MT"/>
              </a:rPr>
              <a:t>numerical</a:t>
            </a:r>
            <a:r>
              <a:rPr sz="3100" spc="-25" dirty="0">
                <a:latin typeface="Arial MT"/>
                <a:cs typeface="Arial MT"/>
              </a:rPr>
              <a:t> </a:t>
            </a:r>
            <a:r>
              <a:rPr sz="3100" spc="-60" dirty="0">
                <a:latin typeface="Arial MT"/>
                <a:cs typeface="Arial MT"/>
              </a:rPr>
              <a:t>features</a:t>
            </a:r>
            <a:r>
              <a:rPr sz="3100" spc="-85" dirty="0">
                <a:latin typeface="Arial MT"/>
                <a:cs typeface="Arial MT"/>
              </a:rPr>
              <a:t> </a:t>
            </a:r>
            <a:r>
              <a:rPr sz="3100" spc="-45" dirty="0">
                <a:latin typeface="Arial MT"/>
                <a:cs typeface="Arial MT"/>
              </a:rPr>
              <a:t>are</a:t>
            </a:r>
            <a:r>
              <a:rPr sz="3100" spc="-165" dirty="0">
                <a:latin typeface="Arial MT"/>
                <a:cs typeface="Arial MT"/>
              </a:rPr>
              <a:t> </a:t>
            </a:r>
            <a:r>
              <a:rPr sz="3100" spc="-60" dirty="0">
                <a:latin typeface="Arial MT"/>
                <a:cs typeface="Arial MT"/>
              </a:rPr>
              <a:t>scaled</a:t>
            </a:r>
            <a:r>
              <a:rPr sz="3100" spc="-114" dirty="0">
                <a:latin typeface="Arial MT"/>
                <a:cs typeface="Arial MT"/>
              </a:rPr>
              <a:t> </a:t>
            </a:r>
            <a:r>
              <a:rPr sz="3100" dirty="0">
                <a:latin typeface="Arial MT"/>
                <a:cs typeface="Arial MT"/>
              </a:rPr>
              <a:t>for</a:t>
            </a:r>
            <a:r>
              <a:rPr sz="3100" spc="-114" dirty="0">
                <a:latin typeface="Arial MT"/>
                <a:cs typeface="Arial MT"/>
              </a:rPr>
              <a:t> </a:t>
            </a:r>
            <a:r>
              <a:rPr sz="3100" spc="-75" dirty="0">
                <a:latin typeface="Arial MT"/>
                <a:cs typeface="Arial MT"/>
              </a:rPr>
              <a:t>optimal</a:t>
            </a:r>
            <a:r>
              <a:rPr sz="3100" spc="-130" dirty="0">
                <a:latin typeface="Arial MT"/>
                <a:cs typeface="Arial MT"/>
              </a:rPr>
              <a:t> </a:t>
            </a:r>
            <a:r>
              <a:rPr sz="3100" spc="-70" dirty="0">
                <a:latin typeface="Arial MT"/>
                <a:cs typeface="Arial MT"/>
              </a:rPr>
              <a:t>model</a:t>
            </a:r>
            <a:r>
              <a:rPr sz="3100" spc="-145" dirty="0">
                <a:latin typeface="Arial MT"/>
                <a:cs typeface="Arial MT"/>
              </a:rPr>
              <a:t> </a:t>
            </a:r>
            <a:r>
              <a:rPr sz="3100" spc="-10" dirty="0">
                <a:latin typeface="Arial MT"/>
                <a:cs typeface="Arial MT"/>
              </a:rPr>
              <a:t>performance.</a:t>
            </a:r>
            <a:endParaRPr sz="3100" dirty="0">
              <a:latin typeface="Arial MT"/>
              <a:cs typeface="Arial MT"/>
            </a:endParaRPr>
          </a:p>
          <a:p>
            <a:pPr marL="481330" marR="351790" indent="-346075">
              <a:lnSpc>
                <a:spcPct val="119700"/>
              </a:lnSpc>
              <a:spcBef>
                <a:spcPts val="1789"/>
              </a:spcBef>
              <a:buFont typeface="Arial MT"/>
              <a:buChar char="•"/>
              <a:tabLst>
                <a:tab pos="483870" algn="l"/>
              </a:tabLst>
            </a:pPr>
            <a:r>
              <a:rPr sz="3100" b="1" spc="-85" dirty="0">
                <a:latin typeface="Arial"/>
                <a:cs typeface="Arial"/>
              </a:rPr>
              <a:t>Model</a:t>
            </a:r>
            <a:r>
              <a:rPr sz="3100" b="1" spc="-135" dirty="0">
                <a:latin typeface="Arial"/>
                <a:cs typeface="Arial"/>
              </a:rPr>
              <a:t> </a:t>
            </a:r>
            <a:r>
              <a:rPr sz="3100" b="1" spc="-95" dirty="0">
                <a:latin typeface="Arial"/>
                <a:cs typeface="Arial"/>
              </a:rPr>
              <a:t>Training:</a:t>
            </a:r>
            <a:r>
              <a:rPr sz="3100" b="1" spc="-120" dirty="0">
                <a:latin typeface="Arial"/>
                <a:cs typeface="Arial"/>
              </a:rPr>
              <a:t> </a:t>
            </a:r>
            <a:r>
              <a:rPr sz="3100" spc="-385" dirty="0">
                <a:latin typeface="Arial"/>
                <a:cs typeface="Arial"/>
              </a:rPr>
              <a:t>A</a:t>
            </a:r>
            <a:r>
              <a:rPr sz="3100" b="1" spc="-160" dirty="0">
                <a:latin typeface="Arial"/>
                <a:cs typeface="Arial"/>
              </a:rPr>
              <a:t> </a:t>
            </a:r>
            <a:r>
              <a:rPr sz="3100" spc="-65" dirty="0">
                <a:latin typeface="Arial MT"/>
                <a:cs typeface="Arial MT"/>
              </a:rPr>
              <a:t>multiclass</a:t>
            </a:r>
            <a:r>
              <a:rPr sz="3100" spc="-140" dirty="0">
                <a:latin typeface="Arial MT"/>
                <a:cs typeface="Arial MT"/>
              </a:rPr>
              <a:t> </a:t>
            </a:r>
            <a:r>
              <a:rPr sz="3100" spc="-60" dirty="0">
                <a:latin typeface="Arial MT"/>
                <a:cs typeface="Arial MT"/>
              </a:rPr>
              <a:t>classification</a:t>
            </a:r>
            <a:r>
              <a:rPr sz="3100" spc="-155" dirty="0">
                <a:latin typeface="Arial MT"/>
                <a:cs typeface="Arial MT"/>
              </a:rPr>
              <a:t> </a:t>
            </a:r>
            <a:r>
              <a:rPr sz="3100" spc="-70" dirty="0">
                <a:latin typeface="Arial MT"/>
                <a:cs typeface="Arial MT"/>
              </a:rPr>
              <a:t>model</a:t>
            </a:r>
            <a:r>
              <a:rPr sz="3100" spc="-110" dirty="0">
                <a:latin typeface="Arial MT"/>
                <a:cs typeface="Arial MT"/>
              </a:rPr>
              <a:t> </a:t>
            </a:r>
            <a:r>
              <a:rPr sz="3100" dirty="0">
                <a:latin typeface="Arial MT"/>
                <a:cs typeface="Arial MT"/>
              </a:rPr>
              <a:t>is</a:t>
            </a:r>
            <a:r>
              <a:rPr sz="3100" spc="-215" dirty="0">
                <a:latin typeface="Arial MT"/>
                <a:cs typeface="Arial MT"/>
              </a:rPr>
              <a:t> </a:t>
            </a:r>
            <a:r>
              <a:rPr sz="3100" spc="-55" dirty="0">
                <a:latin typeface="Arial MT"/>
                <a:cs typeface="Arial MT"/>
              </a:rPr>
              <a:t>trained</a:t>
            </a:r>
            <a:r>
              <a:rPr sz="3100" spc="-20" dirty="0">
                <a:latin typeface="Arial MT"/>
                <a:cs typeface="Arial MT"/>
              </a:rPr>
              <a:t> </a:t>
            </a:r>
            <a:r>
              <a:rPr sz="3100" spc="-50" dirty="0">
                <a:latin typeface="Arial MT"/>
                <a:cs typeface="Arial MT"/>
              </a:rPr>
              <a:t>on</a:t>
            </a:r>
            <a:r>
              <a:rPr sz="3100" spc="-165" dirty="0">
                <a:latin typeface="Arial MT"/>
                <a:cs typeface="Arial MT"/>
              </a:rPr>
              <a:t> </a:t>
            </a:r>
            <a:r>
              <a:rPr sz="3100" spc="-65" dirty="0">
                <a:latin typeface="Arial MT"/>
                <a:cs typeface="Arial MT"/>
              </a:rPr>
              <a:t>IBM</a:t>
            </a:r>
            <a:r>
              <a:rPr sz="3100" spc="-145" dirty="0">
                <a:latin typeface="Arial MT"/>
                <a:cs typeface="Arial MT"/>
              </a:rPr>
              <a:t> </a:t>
            </a:r>
            <a:r>
              <a:rPr sz="3100" spc="-75" dirty="0">
                <a:latin typeface="Arial MT"/>
                <a:cs typeface="Arial MT"/>
              </a:rPr>
              <a:t>watsonx.ai</a:t>
            </a:r>
            <a:r>
              <a:rPr sz="3100" spc="15" dirty="0">
                <a:latin typeface="Arial MT"/>
                <a:cs typeface="Arial MT"/>
              </a:rPr>
              <a:t> </a:t>
            </a:r>
            <a:r>
              <a:rPr sz="3100" dirty="0">
                <a:latin typeface="Arial MT"/>
                <a:cs typeface="Arial MT"/>
              </a:rPr>
              <a:t>to</a:t>
            </a:r>
            <a:r>
              <a:rPr sz="3100" spc="-145" dirty="0">
                <a:latin typeface="Arial MT"/>
                <a:cs typeface="Arial MT"/>
              </a:rPr>
              <a:t> </a:t>
            </a:r>
            <a:r>
              <a:rPr sz="3100" spc="-75" dirty="0">
                <a:latin typeface="Arial MT"/>
                <a:cs typeface="Arial MT"/>
              </a:rPr>
              <a:t>recognize</a:t>
            </a:r>
            <a:r>
              <a:rPr sz="3100" spc="-35" dirty="0">
                <a:latin typeface="Arial MT"/>
                <a:cs typeface="Arial MT"/>
              </a:rPr>
              <a:t> </a:t>
            </a:r>
            <a:r>
              <a:rPr sz="3100" spc="-10" dirty="0">
                <a:latin typeface="Arial MT"/>
                <a:cs typeface="Arial MT"/>
              </a:rPr>
              <a:t>patterns 	</a:t>
            </a:r>
            <a:r>
              <a:rPr sz="3100" spc="-75" dirty="0">
                <a:latin typeface="Arial MT"/>
                <a:cs typeface="Arial MT"/>
              </a:rPr>
              <a:t>belonging</a:t>
            </a:r>
            <a:r>
              <a:rPr sz="3100" spc="-110" dirty="0">
                <a:latin typeface="Arial MT"/>
                <a:cs typeface="Arial MT"/>
              </a:rPr>
              <a:t> </a:t>
            </a:r>
            <a:r>
              <a:rPr sz="3100" dirty="0">
                <a:latin typeface="Arial MT"/>
                <a:cs typeface="Arial MT"/>
              </a:rPr>
              <a:t>to</a:t>
            </a:r>
            <a:r>
              <a:rPr sz="3100" spc="-215" dirty="0">
                <a:latin typeface="Arial MT"/>
                <a:cs typeface="Arial MT"/>
              </a:rPr>
              <a:t> </a:t>
            </a:r>
            <a:r>
              <a:rPr sz="3100" spc="-80" dirty="0">
                <a:latin typeface="Arial MT"/>
                <a:cs typeface="Arial MT"/>
              </a:rPr>
              <a:t>Normal</a:t>
            </a:r>
            <a:r>
              <a:rPr sz="3100" spc="-110" dirty="0">
                <a:latin typeface="Arial MT"/>
                <a:cs typeface="Arial MT"/>
              </a:rPr>
              <a:t> </a:t>
            </a:r>
            <a:r>
              <a:rPr sz="3100" spc="-50" dirty="0">
                <a:latin typeface="Arial MT"/>
                <a:cs typeface="Arial MT"/>
              </a:rPr>
              <a:t>traffic,</a:t>
            </a:r>
            <a:r>
              <a:rPr sz="3100" spc="-160" dirty="0">
                <a:latin typeface="Arial MT"/>
                <a:cs typeface="Arial MT"/>
              </a:rPr>
              <a:t> </a:t>
            </a:r>
            <a:r>
              <a:rPr sz="3100" spc="-60" dirty="0">
                <a:latin typeface="Arial MT"/>
                <a:cs typeface="Arial MT"/>
              </a:rPr>
              <a:t>DoS,</a:t>
            </a:r>
            <a:r>
              <a:rPr sz="3100" spc="-140" dirty="0">
                <a:latin typeface="Arial MT"/>
                <a:cs typeface="Arial MT"/>
              </a:rPr>
              <a:t> </a:t>
            </a:r>
            <a:r>
              <a:rPr sz="3100" spc="-60" dirty="0">
                <a:latin typeface="Arial MT"/>
                <a:cs typeface="Arial MT"/>
              </a:rPr>
              <a:t>Probe,</a:t>
            </a:r>
            <a:r>
              <a:rPr sz="3100" spc="-100" dirty="0">
                <a:latin typeface="Arial MT"/>
                <a:cs typeface="Arial MT"/>
              </a:rPr>
              <a:t> </a:t>
            </a:r>
            <a:r>
              <a:rPr sz="3100" spc="-50" dirty="0">
                <a:latin typeface="Arial MT"/>
                <a:cs typeface="Arial MT"/>
              </a:rPr>
              <a:t>R2L,</a:t>
            </a:r>
            <a:r>
              <a:rPr sz="3100" spc="-130" dirty="0">
                <a:latin typeface="Arial MT"/>
                <a:cs typeface="Arial MT"/>
              </a:rPr>
              <a:t> </a:t>
            </a:r>
            <a:r>
              <a:rPr sz="3100" spc="-65" dirty="0">
                <a:latin typeface="Arial MT"/>
                <a:cs typeface="Arial MT"/>
              </a:rPr>
              <a:t>and</a:t>
            </a:r>
            <a:r>
              <a:rPr sz="3100" spc="-150" dirty="0">
                <a:latin typeface="Arial MT"/>
                <a:cs typeface="Arial MT"/>
              </a:rPr>
              <a:t> </a:t>
            </a:r>
            <a:r>
              <a:rPr sz="3100" spc="-65" dirty="0">
                <a:latin typeface="Arial MT"/>
                <a:cs typeface="Arial MT"/>
              </a:rPr>
              <a:t>U2R</a:t>
            </a:r>
            <a:r>
              <a:rPr sz="3100" spc="-35" dirty="0">
                <a:latin typeface="Arial MT"/>
                <a:cs typeface="Arial MT"/>
              </a:rPr>
              <a:t> </a:t>
            </a:r>
            <a:r>
              <a:rPr sz="3100" spc="-10" dirty="0">
                <a:latin typeface="Arial MT"/>
                <a:cs typeface="Arial MT"/>
              </a:rPr>
              <a:t>attacks.</a:t>
            </a:r>
            <a:endParaRPr sz="3100" dirty="0">
              <a:latin typeface="Arial MT"/>
              <a:cs typeface="Arial MT"/>
            </a:endParaRPr>
          </a:p>
          <a:p>
            <a:pPr marL="480695" marR="517525" indent="-345440">
              <a:lnSpc>
                <a:spcPct val="119700"/>
              </a:lnSpc>
              <a:spcBef>
                <a:spcPts val="1855"/>
              </a:spcBef>
              <a:buFont typeface="Arial MT"/>
              <a:buChar char="•"/>
              <a:tabLst>
                <a:tab pos="490220" algn="l"/>
              </a:tabLst>
            </a:pPr>
            <a:r>
              <a:rPr sz="3100" b="1" spc="-120" dirty="0">
                <a:latin typeface="Arial"/>
                <a:cs typeface="Arial"/>
              </a:rPr>
              <a:t>Real-</a:t>
            </a:r>
            <a:r>
              <a:rPr sz="3100" b="1" spc="-40" dirty="0">
                <a:latin typeface="Arial"/>
                <a:cs typeface="Arial"/>
              </a:rPr>
              <a:t>Time</a:t>
            </a:r>
            <a:r>
              <a:rPr sz="3100" b="1" spc="-155" dirty="0">
                <a:latin typeface="Arial"/>
                <a:cs typeface="Arial"/>
              </a:rPr>
              <a:t> </a:t>
            </a:r>
            <a:r>
              <a:rPr sz="3100" b="1" spc="-75" dirty="0">
                <a:latin typeface="Arial"/>
                <a:cs typeface="Arial"/>
              </a:rPr>
              <a:t>Inference:</a:t>
            </a:r>
            <a:r>
              <a:rPr sz="3100" b="1" spc="-60" dirty="0">
                <a:latin typeface="Arial"/>
                <a:cs typeface="Arial"/>
              </a:rPr>
              <a:t> </a:t>
            </a:r>
            <a:r>
              <a:rPr sz="3100" spc="-80" dirty="0">
                <a:latin typeface="Arial MT"/>
                <a:cs typeface="Arial MT"/>
              </a:rPr>
              <a:t>The</a:t>
            </a:r>
            <a:r>
              <a:rPr sz="3100" spc="-135" dirty="0">
                <a:latin typeface="Arial MT"/>
                <a:cs typeface="Arial MT"/>
              </a:rPr>
              <a:t> </a:t>
            </a:r>
            <a:r>
              <a:rPr sz="3100" spc="-50" dirty="0">
                <a:latin typeface="Arial MT"/>
                <a:cs typeface="Arial MT"/>
              </a:rPr>
              <a:t>trained</a:t>
            </a:r>
            <a:r>
              <a:rPr sz="3100" spc="-130" dirty="0">
                <a:latin typeface="Arial MT"/>
                <a:cs typeface="Arial MT"/>
              </a:rPr>
              <a:t> </a:t>
            </a:r>
            <a:r>
              <a:rPr sz="3100" spc="-70" dirty="0">
                <a:latin typeface="Arial MT"/>
                <a:cs typeface="Arial MT"/>
              </a:rPr>
              <a:t>model</a:t>
            </a:r>
            <a:r>
              <a:rPr sz="3100" spc="-145" dirty="0">
                <a:latin typeface="Arial MT"/>
                <a:cs typeface="Arial MT"/>
              </a:rPr>
              <a:t> </a:t>
            </a:r>
            <a:r>
              <a:rPr sz="3100" dirty="0">
                <a:latin typeface="Arial MT"/>
                <a:cs typeface="Arial MT"/>
              </a:rPr>
              <a:t>is</a:t>
            </a:r>
            <a:r>
              <a:rPr sz="3100" spc="-185" dirty="0">
                <a:latin typeface="Arial MT"/>
                <a:cs typeface="Arial MT"/>
              </a:rPr>
              <a:t> </a:t>
            </a:r>
            <a:r>
              <a:rPr sz="3100" spc="-75" dirty="0">
                <a:latin typeface="Arial MT"/>
                <a:cs typeface="Arial MT"/>
              </a:rPr>
              <a:t>deployed</a:t>
            </a:r>
            <a:r>
              <a:rPr sz="3100" spc="-40" dirty="0">
                <a:latin typeface="Arial MT"/>
                <a:cs typeface="Arial MT"/>
              </a:rPr>
              <a:t> </a:t>
            </a:r>
            <a:r>
              <a:rPr sz="3100" dirty="0">
                <a:latin typeface="Arial MT"/>
                <a:cs typeface="Arial MT"/>
              </a:rPr>
              <a:t>as</a:t>
            </a:r>
            <a:r>
              <a:rPr sz="3100" spc="-180" dirty="0">
                <a:latin typeface="Arial MT"/>
                <a:cs typeface="Arial MT"/>
              </a:rPr>
              <a:t> </a:t>
            </a:r>
            <a:r>
              <a:rPr sz="3100" spc="-120" dirty="0">
                <a:latin typeface="Arial MT"/>
                <a:cs typeface="Arial MT"/>
              </a:rPr>
              <a:t>an</a:t>
            </a:r>
            <a:r>
              <a:rPr sz="3100" spc="-95" dirty="0">
                <a:latin typeface="Arial MT"/>
                <a:cs typeface="Arial MT"/>
              </a:rPr>
              <a:t> </a:t>
            </a:r>
            <a:r>
              <a:rPr sz="3100" spc="-65" dirty="0">
                <a:latin typeface="Arial MT"/>
                <a:cs typeface="Arial MT"/>
              </a:rPr>
              <a:t>API</a:t>
            </a:r>
            <a:r>
              <a:rPr sz="3100" spc="-135" dirty="0">
                <a:latin typeface="Arial MT"/>
                <a:cs typeface="Arial MT"/>
              </a:rPr>
              <a:t> </a:t>
            </a:r>
            <a:r>
              <a:rPr sz="3100" spc="-70" dirty="0">
                <a:latin typeface="Arial MT"/>
                <a:cs typeface="Arial MT"/>
              </a:rPr>
              <a:t>endpoint.</a:t>
            </a:r>
            <a:r>
              <a:rPr sz="3100" spc="-50" dirty="0">
                <a:latin typeface="Arial MT"/>
                <a:cs typeface="Arial MT"/>
              </a:rPr>
              <a:t> </a:t>
            </a:r>
            <a:r>
              <a:rPr sz="3100" spc="-75" dirty="0">
                <a:latin typeface="Arial MT"/>
                <a:cs typeface="Arial MT"/>
              </a:rPr>
              <a:t>Incoming</a:t>
            </a:r>
            <a:r>
              <a:rPr sz="3100" spc="-114" dirty="0">
                <a:latin typeface="Arial MT"/>
                <a:cs typeface="Arial MT"/>
              </a:rPr>
              <a:t> </a:t>
            </a:r>
            <a:r>
              <a:rPr sz="3100" spc="-75" dirty="0">
                <a:latin typeface="Arial MT"/>
                <a:cs typeface="Arial MT"/>
              </a:rPr>
              <a:t>network</a:t>
            </a:r>
            <a:r>
              <a:rPr sz="3100" spc="-85" dirty="0">
                <a:latin typeface="Arial MT"/>
                <a:cs typeface="Arial MT"/>
              </a:rPr>
              <a:t> </a:t>
            </a:r>
            <a:r>
              <a:rPr sz="3100" spc="-10" dirty="0">
                <a:latin typeface="Arial MT"/>
                <a:cs typeface="Arial MT"/>
              </a:rPr>
              <a:t>packet 	</a:t>
            </a:r>
            <a:r>
              <a:rPr sz="3100" spc="-60" dirty="0">
                <a:latin typeface="Arial MT"/>
                <a:cs typeface="Arial MT"/>
              </a:rPr>
              <a:t>features</a:t>
            </a:r>
            <a:r>
              <a:rPr sz="3100" spc="-160" dirty="0">
                <a:latin typeface="Arial MT"/>
                <a:cs typeface="Arial MT"/>
              </a:rPr>
              <a:t> </a:t>
            </a:r>
            <a:r>
              <a:rPr sz="3100" spc="-45" dirty="0">
                <a:latin typeface="Arial MT"/>
                <a:cs typeface="Arial MT"/>
              </a:rPr>
              <a:t>are</a:t>
            </a:r>
            <a:r>
              <a:rPr sz="3100" spc="-170" dirty="0">
                <a:latin typeface="Arial MT"/>
                <a:cs typeface="Arial MT"/>
              </a:rPr>
              <a:t> </a:t>
            </a:r>
            <a:r>
              <a:rPr sz="3100" spc="-50" dirty="0">
                <a:latin typeface="Arial MT"/>
                <a:cs typeface="Arial MT"/>
              </a:rPr>
              <a:t>sent</a:t>
            </a:r>
            <a:r>
              <a:rPr sz="3100" spc="-165" dirty="0">
                <a:latin typeface="Arial MT"/>
                <a:cs typeface="Arial MT"/>
              </a:rPr>
              <a:t> </a:t>
            </a:r>
            <a:r>
              <a:rPr sz="3100" spc="-35" dirty="0">
                <a:latin typeface="Arial MT"/>
                <a:cs typeface="Arial MT"/>
              </a:rPr>
              <a:t>via</a:t>
            </a:r>
            <a:r>
              <a:rPr sz="3100" spc="-180" dirty="0">
                <a:latin typeface="Arial MT"/>
                <a:cs typeface="Arial MT"/>
              </a:rPr>
              <a:t> </a:t>
            </a:r>
            <a:r>
              <a:rPr sz="3100" spc="-85" dirty="0">
                <a:latin typeface="Arial MT"/>
                <a:cs typeface="Arial MT"/>
              </a:rPr>
              <a:t>JSON</a:t>
            </a:r>
            <a:r>
              <a:rPr sz="3100" spc="-130" dirty="0">
                <a:latin typeface="Arial MT"/>
                <a:cs typeface="Arial MT"/>
              </a:rPr>
              <a:t> </a:t>
            </a:r>
            <a:r>
              <a:rPr sz="3100" dirty="0">
                <a:solidFill>
                  <a:srgbClr val="000C1D"/>
                </a:solidFill>
                <a:latin typeface="Arial MT"/>
                <a:cs typeface="Arial MT"/>
              </a:rPr>
              <a:t>to</a:t>
            </a:r>
            <a:r>
              <a:rPr sz="3100" spc="-215" dirty="0">
                <a:solidFill>
                  <a:srgbClr val="000C1D"/>
                </a:solidFill>
                <a:latin typeface="Arial MT"/>
                <a:cs typeface="Arial MT"/>
              </a:rPr>
              <a:t> </a:t>
            </a:r>
            <a:r>
              <a:rPr sz="3100" spc="-45" dirty="0">
                <a:solidFill>
                  <a:srgbClr val="00011C"/>
                </a:solidFill>
                <a:latin typeface="Arial MT"/>
                <a:cs typeface="Arial MT"/>
              </a:rPr>
              <a:t>the</a:t>
            </a:r>
            <a:r>
              <a:rPr sz="3100" spc="-170" dirty="0">
                <a:solidFill>
                  <a:srgbClr val="00011C"/>
                </a:solidFill>
                <a:latin typeface="Arial MT"/>
                <a:cs typeface="Arial MT"/>
              </a:rPr>
              <a:t> </a:t>
            </a:r>
            <a:r>
              <a:rPr sz="3100" spc="-60" dirty="0">
                <a:latin typeface="Arial MT"/>
                <a:cs typeface="Arial MT"/>
              </a:rPr>
              <a:t>model,</a:t>
            </a:r>
            <a:r>
              <a:rPr sz="3100" spc="-135" dirty="0">
                <a:latin typeface="Arial MT"/>
                <a:cs typeface="Arial MT"/>
              </a:rPr>
              <a:t> </a:t>
            </a:r>
            <a:r>
              <a:rPr sz="3100" spc="-70" dirty="0">
                <a:latin typeface="Arial MT"/>
                <a:cs typeface="Arial MT"/>
              </a:rPr>
              <a:t>which</a:t>
            </a:r>
            <a:r>
              <a:rPr sz="3100" spc="-114" dirty="0">
                <a:latin typeface="Arial MT"/>
                <a:cs typeface="Arial MT"/>
              </a:rPr>
              <a:t> </a:t>
            </a:r>
            <a:r>
              <a:rPr sz="3100" spc="-55" dirty="0">
                <a:latin typeface="Arial MT"/>
                <a:cs typeface="Arial MT"/>
              </a:rPr>
              <a:t>instantly</a:t>
            </a:r>
            <a:r>
              <a:rPr sz="3100" spc="-70" dirty="0">
                <a:latin typeface="Arial MT"/>
                <a:cs typeface="Arial MT"/>
              </a:rPr>
              <a:t> </a:t>
            </a:r>
            <a:r>
              <a:rPr sz="3100" spc="-50" dirty="0">
                <a:latin typeface="Arial MT"/>
                <a:cs typeface="Arial MT"/>
              </a:rPr>
              <a:t>returns </a:t>
            </a:r>
            <a:r>
              <a:rPr sz="3100" dirty="0">
                <a:solidFill>
                  <a:srgbClr val="000324"/>
                </a:solidFill>
                <a:latin typeface="Arial MT"/>
                <a:cs typeface="Arial MT"/>
              </a:rPr>
              <a:t>a</a:t>
            </a:r>
            <a:r>
              <a:rPr sz="3100" spc="-229" dirty="0">
                <a:solidFill>
                  <a:srgbClr val="000324"/>
                </a:solidFill>
                <a:latin typeface="Arial MT"/>
                <a:cs typeface="Arial MT"/>
              </a:rPr>
              <a:t> </a:t>
            </a:r>
            <a:r>
              <a:rPr sz="3100" spc="-45" dirty="0">
                <a:latin typeface="Arial MT"/>
                <a:cs typeface="Arial MT"/>
              </a:rPr>
              <a:t>threat</a:t>
            </a:r>
            <a:r>
              <a:rPr sz="3100" spc="-55" dirty="0">
                <a:latin typeface="Arial MT"/>
                <a:cs typeface="Arial MT"/>
              </a:rPr>
              <a:t> </a:t>
            </a:r>
            <a:r>
              <a:rPr sz="3100" spc="-10" dirty="0">
                <a:latin typeface="Arial MT"/>
                <a:cs typeface="Arial MT"/>
              </a:rPr>
              <a:t>classification.</a:t>
            </a:r>
            <a:endParaRPr sz="3100" dirty="0">
              <a:latin typeface="Arial MT"/>
              <a:cs typeface="Arial MT"/>
            </a:endParaRPr>
          </a:p>
          <a:p>
            <a:pPr marL="478790" marR="5080" indent="-344170">
              <a:lnSpc>
                <a:spcPct val="119700"/>
              </a:lnSpc>
              <a:spcBef>
                <a:spcPts val="1855"/>
              </a:spcBef>
              <a:buChar char="•"/>
              <a:tabLst>
                <a:tab pos="483870" algn="l"/>
              </a:tabLst>
            </a:pPr>
            <a:r>
              <a:rPr sz="3100" dirty="0">
                <a:latin typeface="Arial MT"/>
                <a:cs typeface="Arial MT"/>
              </a:rPr>
              <a:t>Proactive</a:t>
            </a:r>
            <a:r>
              <a:rPr sz="3100" spc="-200" dirty="0">
                <a:latin typeface="Arial MT"/>
                <a:cs typeface="Arial MT"/>
              </a:rPr>
              <a:t> </a:t>
            </a:r>
            <a:r>
              <a:rPr sz="3100" dirty="0">
                <a:latin typeface="Arial MT"/>
                <a:cs typeface="Arial MT"/>
              </a:rPr>
              <a:t>Security:</a:t>
            </a:r>
            <a:r>
              <a:rPr sz="3100" spc="-30" dirty="0">
                <a:latin typeface="Arial MT"/>
                <a:cs typeface="Arial MT"/>
              </a:rPr>
              <a:t> </a:t>
            </a:r>
            <a:r>
              <a:rPr sz="3100" dirty="0">
                <a:latin typeface="Arial MT"/>
                <a:cs typeface="Arial MT"/>
              </a:rPr>
              <a:t>By</a:t>
            </a:r>
            <a:r>
              <a:rPr sz="3100" spc="-85" dirty="0">
                <a:latin typeface="Arial MT"/>
                <a:cs typeface="Arial MT"/>
              </a:rPr>
              <a:t> </a:t>
            </a:r>
            <a:r>
              <a:rPr sz="3100" spc="-50" dirty="0">
                <a:latin typeface="Arial MT"/>
                <a:cs typeface="Arial MT"/>
              </a:rPr>
              <a:t>utilizing</a:t>
            </a:r>
            <a:r>
              <a:rPr sz="3100" spc="30" dirty="0">
                <a:latin typeface="Arial MT"/>
                <a:cs typeface="Arial MT"/>
              </a:rPr>
              <a:t> </a:t>
            </a:r>
            <a:r>
              <a:rPr sz="3100" spc="-175" dirty="0">
                <a:latin typeface="Arial MT"/>
                <a:cs typeface="Arial MT"/>
              </a:rPr>
              <a:t>ML</a:t>
            </a:r>
            <a:r>
              <a:rPr sz="3100" spc="-70" dirty="0">
                <a:latin typeface="Arial MT"/>
                <a:cs typeface="Arial MT"/>
              </a:rPr>
              <a:t> </a:t>
            </a:r>
            <a:r>
              <a:rPr sz="3100" spc="-55" dirty="0">
                <a:latin typeface="Arial MT"/>
                <a:cs typeface="Arial MT"/>
              </a:rPr>
              <a:t>instead</a:t>
            </a:r>
            <a:r>
              <a:rPr sz="3100" spc="-40" dirty="0">
                <a:latin typeface="Arial MT"/>
                <a:cs typeface="Arial MT"/>
              </a:rPr>
              <a:t> </a:t>
            </a:r>
            <a:r>
              <a:rPr sz="3100" dirty="0">
                <a:latin typeface="Arial MT"/>
                <a:cs typeface="Arial MT"/>
              </a:rPr>
              <a:t>of</a:t>
            </a:r>
            <a:r>
              <a:rPr sz="3100" spc="-70" dirty="0">
                <a:latin typeface="Arial MT"/>
                <a:cs typeface="Arial MT"/>
              </a:rPr>
              <a:t> </a:t>
            </a:r>
            <a:r>
              <a:rPr sz="3100" spc="-55" dirty="0">
                <a:latin typeface="Arial MT"/>
                <a:cs typeface="Arial MT"/>
              </a:rPr>
              <a:t>traditional</a:t>
            </a:r>
            <a:r>
              <a:rPr sz="3100" spc="10" dirty="0">
                <a:latin typeface="Arial MT"/>
                <a:cs typeface="Arial MT"/>
              </a:rPr>
              <a:t> </a:t>
            </a:r>
            <a:r>
              <a:rPr sz="3100" spc="-80" dirty="0">
                <a:latin typeface="Arial MT"/>
                <a:cs typeface="Arial MT"/>
              </a:rPr>
              <a:t>signature-</a:t>
            </a:r>
            <a:r>
              <a:rPr sz="3100" spc="-75" dirty="0">
                <a:latin typeface="Arial MT"/>
                <a:cs typeface="Arial MT"/>
              </a:rPr>
              <a:t>based</a:t>
            </a:r>
            <a:r>
              <a:rPr sz="3100" spc="-140" dirty="0">
                <a:latin typeface="Arial MT"/>
                <a:cs typeface="Arial MT"/>
              </a:rPr>
              <a:t> </a:t>
            </a:r>
            <a:r>
              <a:rPr sz="3100" spc="-55" dirty="0">
                <a:latin typeface="Arial MT"/>
                <a:cs typeface="Arial MT"/>
              </a:rPr>
              <a:t>rules,</a:t>
            </a:r>
            <a:r>
              <a:rPr sz="3100" spc="-30" dirty="0">
                <a:latin typeface="Arial MT"/>
                <a:cs typeface="Arial MT"/>
              </a:rPr>
              <a:t> </a:t>
            </a:r>
            <a:r>
              <a:rPr sz="3100" spc="-20" dirty="0">
                <a:latin typeface="Arial MT"/>
                <a:cs typeface="Arial MT"/>
              </a:rPr>
              <a:t>the</a:t>
            </a:r>
            <a:r>
              <a:rPr sz="3100" spc="-65" dirty="0">
                <a:latin typeface="Arial MT"/>
                <a:cs typeface="Arial MT"/>
              </a:rPr>
              <a:t> </a:t>
            </a:r>
            <a:r>
              <a:rPr sz="3100" spc="-70" dirty="0">
                <a:latin typeface="Arial MT"/>
                <a:cs typeface="Arial MT"/>
              </a:rPr>
              <a:t>system</a:t>
            </a:r>
            <a:r>
              <a:rPr sz="3100" spc="25" dirty="0">
                <a:latin typeface="Arial MT"/>
                <a:cs typeface="Arial MT"/>
              </a:rPr>
              <a:t> </a:t>
            </a:r>
            <a:r>
              <a:rPr sz="3100" spc="-25" dirty="0">
                <a:latin typeface="Arial MT"/>
                <a:cs typeface="Arial MT"/>
              </a:rPr>
              <a:t>can</a:t>
            </a:r>
            <a:r>
              <a:rPr sz="3100" spc="-35" dirty="0">
                <a:latin typeface="Arial MT"/>
                <a:cs typeface="Arial MT"/>
              </a:rPr>
              <a:t> </a:t>
            </a:r>
            <a:r>
              <a:rPr sz="3100" spc="-10" dirty="0">
                <a:latin typeface="Arial MT"/>
                <a:cs typeface="Arial MT"/>
              </a:rPr>
              <a:t>detect 	</a:t>
            </a:r>
            <a:r>
              <a:rPr sz="3100" spc="-80" dirty="0">
                <a:latin typeface="Arial MT"/>
                <a:cs typeface="Arial MT"/>
              </a:rPr>
              <a:t>unknown</a:t>
            </a:r>
            <a:r>
              <a:rPr sz="3100" spc="-85" dirty="0">
                <a:latin typeface="Arial MT"/>
                <a:cs typeface="Arial MT"/>
              </a:rPr>
              <a:t> </a:t>
            </a:r>
            <a:r>
              <a:rPr sz="3100" spc="-10" dirty="0">
                <a:latin typeface="Arial MT"/>
                <a:cs typeface="Arial MT"/>
              </a:rPr>
              <a:t>or</a:t>
            </a:r>
            <a:r>
              <a:rPr sz="3100" spc="-170" dirty="0">
                <a:latin typeface="Arial MT"/>
                <a:cs typeface="Arial MT"/>
              </a:rPr>
              <a:t> </a:t>
            </a:r>
            <a:r>
              <a:rPr sz="3100" spc="-110" dirty="0">
                <a:latin typeface="Arial MT"/>
                <a:cs typeface="Arial MT"/>
              </a:rPr>
              <a:t>"zero-</a:t>
            </a:r>
            <a:r>
              <a:rPr sz="3100" spc="-25" dirty="0">
                <a:latin typeface="Arial MT"/>
                <a:cs typeface="Arial MT"/>
              </a:rPr>
              <a:t>day"</a:t>
            </a:r>
            <a:r>
              <a:rPr sz="3100" spc="-70" dirty="0">
                <a:latin typeface="Arial MT"/>
                <a:cs typeface="Arial MT"/>
              </a:rPr>
              <a:t> </a:t>
            </a:r>
            <a:r>
              <a:rPr sz="3100" spc="-45" dirty="0">
                <a:latin typeface="Arial MT"/>
                <a:cs typeface="Arial MT"/>
              </a:rPr>
              <a:t>threats</a:t>
            </a:r>
            <a:r>
              <a:rPr sz="3100" spc="-170" dirty="0">
                <a:latin typeface="Arial MT"/>
                <a:cs typeface="Arial MT"/>
              </a:rPr>
              <a:t> </a:t>
            </a:r>
            <a:r>
              <a:rPr sz="3100" spc="-60" dirty="0">
                <a:latin typeface="Arial MT"/>
                <a:cs typeface="Arial MT"/>
              </a:rPr>
              <a:t>based</a:t>
            </a:r>
            <a:r>
              <a:rPr sz="3100" spc="-114" dirty="0">
                <a:latin typeface="Arial MT"/>
                <a:cs typeface="Arial MT"/>
              </a:rPr>
              <a:t> </a:t>
            </a:r>
            <a:r>
              <a:rPr sz="3100" spc="-50" dirty="0">
                <a:latin typeface="Arial MT"/>
                <a:cs typeface="Arial MT"/>
              </a:rPr>
              <a:t>on</a:t>
            </a:r>
            <a:r>
              <a:rPr sz="3100" spc="-165" dirty="0">
                <a:latin typeface="Arial MT"/>
                <a:cs typeface="Arial MT"/>
              </a:rPr>
              <a:t> </a:t>
            </a:r>
            <a:r>
              <a:rPr sz="3100" spc="-60" dirty="0">
                <a:latin typeface="Arial MT"/>
                <a:cs typeface="Arial MT"/>
              </a:rPr>
              <a:t>statistical</a:t>
            </a:r>
            <a:r>
              <a:rPr sz="3100" spc="-70" dirty="0">
                <a:latin typeface="Arial MT"/>
                <a:cs typeface="Arial MT"/>
              </a:rPr>
              <a:t> </a:t>
            </a:r>
            <a:r>
              <a:rPr sz="3100" spc="-65" dirty="0">
                <a:latin typeface="Arial MT"/>
                <a:cs typeface="Arial MT"/>
              </a:rPr>
              <a:t>deviations </a:t>
            </a:r>
            <a:r>
              <a:rPr sz="3100" dirty="0">
                <a:latin typeface="Arial MT"/>
                <a:cs typeface="Arial MT"/>
              </a:rPr>
              <a:t>in</a:t>
            </a:r>
            <a:r>
              <a:rPr sz="3100" spc="-210" dirty="0">
                <a:latin typeface="Arial MT"/>
                <a:cs typeface="Arial MT"/>
              </a:rPr>
              <a:t> </a:t>
            </a:r>
            <a:r>
              <a:rPr sz="3100" spc="-65" dirty="0">
                <a:latin typeface="Arial MT"/>
                <a:cs typeface="Arial MT"/>
              </a:rPr>
              <a:t>network</a:t>
            </a:r>
            <a:r>
              <a:rPr sz="3100" spc="-120" dirty="0">
                <a:latin typeface="Arial MT"/>
                <a:cs typeface="Arial MT"/>
              </a:rPr>
              <a:t> </a:t>
            </a:r>
            <a:r>
              <a:rPr sz="3100" spc="-10" dirty="0">
                <a:latin typeface="Arial MT"/>
                <a:cs typeface="Arial MT"/>
              </a:rPr>
              <a:t>behavior.</a:t>
            </a:r>
            <a:endParaRPr sz="31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36195">
              <a:lnSpc>
                <a:spcPct val="100000"/>
              </a:lnSpc>
              <a:spcBef>
                <a:spcPts val="110"/>
              </a:spcBef>
            </a:pPr>
            <a:r>
              <a:rPr sz="5400" spc="210" dirty="0"/>
              <a:t>Components</a:t>
            </a:r>
            <a:r>
              <a:rPr sz="5400" spc="430" dirty="0"/>
              <a:t> </a:t>
            </a:r>
            <a:r>
              <a:rPr sz="5400" spc="145" dirty="0"/>
              <a:t>Required</a:t>
            </a:r>
            <a:endParaRPr sz="5400"/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4810" marR="132715" indent="-338455">
              <a:lnSpc>
                <a:spcPct val="127499"/>
              </a:lnSpc>
              <a:spcBef>
                <a:spcPts val="95"/>
              </a:spcBef>
              <a:buChar char="•"/>
              <a:tabLst>
                <a:tab pos="398145" algn="l"/>
              </a:tabLst>
            </a:pPr>
            <a:r>
              <a:rPr spc="70" dirty="0"/>
              <a:t>IBM</a:t>
            </a:r>
            <a:r>
              <a:rPr spc="-70" dirty="0"/>
              <a:t> </a:t>
            </a:r>
            <a:r>
              <a:rPr spc="114" dirty="0"/>
              <a:t>Cloud</a:t>
            </a:r>
            <a:r>
              <a:rPr spc="-45" dirty="0"/>
              <a:t> </a:t>
            </a:r>
            <a:r>
              <a:rPr spc="95" dirty="0"/>
              <a:t>Object</a:t>
            </a:r>
            <a:r>
              <a:rPr spc="30" dirty="0"/>
              <a:t> </a:t>
            </a:r>
            <a:r>
              <a:rPr spc="75" dirty="0"/>
              <a:t>Storage:</a:t>
            </a:r>
            <a:r>
              <a:rPr spc="114" dirty="0"/>
              <a:t> </a:t>
            </a:r>
            <a:r>
              <a:rPr dirty="0"/>
              <a:t>Required</a:t>
            </a:r>
            <a:r>
              <a:rPr spc="155" dirty="0"/>
              <a:t> </a:t>
            </a:r>
            <a:r>
              <a:rPr dirty="0"/>
              <a:t>to</a:t>
            </a:r>
            <a:r>
              <a:rPr spc="-75" dirty="0"/>
              <a:t> </a:t>
            </a:r>
            <a:r>
              <a:rPr dirty="0"/>
              <a:t>securely</a:t>
            </a:r>
            <a:r>
              <a:rPr spc="145" dirty="0"/>
              <a:t> </a:t>
            </a:r>
            <a:r>
              <a:rPr dirty="0"/>
              <a:t>store</a:t>
            </a:r>
            <a:r>
              <a:rPr spc="30" dirty="0"/>
              <a:t> </a:t>
            </a:r>
            <a:r>
              <a:rPr dirty="0"/>
              <a:t>the</a:t>
            </a:r>
            <a:r>
              <a:rPr spc="-15" dirty="0"/>
              <a:t> </a:t>
            </a:r>
            <a:r>
              <a:rPr dirty="0"/>
              <a:t>raw</a:t>
            </a:r>
            <a:r>
              <a:rPr spc="65" dirty="0"/>
              <a:t> </a:t>
            </a:r>
            <a:r>
              <a:rPr spc="-45" dirty="0"/>
              <a:t>NSL-</a:t>
            </a:r>
            <a:r>
              <a:rPr dirty="0"/>
              <a:t>KDD</a:t>
            </a:r>
            <a:r>
              <a:rPr spc="180" dirty="0"/>
              <a:t> </a:t>
            </a:r>
            <a:r>
              <a:rPr dirty="0"/>
              <a:t>dataset</a:t>
            </a:r>
            <a:r>
              <a:rPr spc="135" dirty="0"/>
              <a:t> </a:t>
            </a:r>
            <a:r>
              <a:rPr dirty="0"/>
              <a:t>and</a:t>
            </a:r>
            <a:r>
              <a:rPr spc="-5" dirty="0"/>
              <a:t> </a:t>
            </a:r>
            <a:r>
              <a:rPr dirty="0"/>
              <a:t>the</a:t>
            </a:r>
            <a:r>
              <a:rPr spc="-15" dirty="0"/>
              <a:t> </a:t>
            </a:r>
            <a:r>
              <a:rPr spc="-10" dirty="0"/>
              <a:t>processed 	</a:t>
            </a:r>
            <a:r>
              <a:rPr dirty="0"/>
              <a:t>training</a:t>
            </a:r>
            <a:r>
              <a:rPr spc="15" dirty="0"/>
              <a:t> </a:t>
            </a:r>
            <a:r>
              <a:rPr spc="-10" dirty="0"/>
              <a:t>data.</a:t>
            </a:r>
          </a:p>
          <a:p>
            <a:pPr marL="384810" marR="1048385" indent="-338455">
              <a:lnSpc>
                <a:spcPct val="125800"/>
              </a:lnSpc>
              <a:spcBef>
                <a:spcPts val="1795"/>
              </a:spcBef>
              <a:buChar char="•"/>
              <a:tabLst>
                <a:tab pos="398145" algn="l"/>
              </a:tabLst>
            </a:pPr>
            <a:r>
              <a:rPr spc="70" dirty="0"/>
              <a:t>IBM</a:t>
            </a:r>
            <a:r>
              <a:rPr spc="-90" dirty="0"/>
              <a:t> </a:t>
            </a:r>
            <a:r>
              <a:rPr spc="75" dirty="0"/>
              <a:t>Watson</a:t>
            </a:r>
            <a:r>
              <a:rPr spc="-20" dirty="0"/>
              <a:t> </a:t>
            </a:r>
            <a:r>
              <a:rPr spc="75" dirty="0"/>
              <a:t>Machine</a:t>
            </a:r>
            <a:r>
              <a:rPr spc="55" dirty="0"/>
              <a:t> </a:t>
            </a:r>
            <a:r>
              <a:rPr spc="95" dirty="0"/>
              <a:t>Learning</a:t>
            </a:r>
            <a:r>
              <a:rPr spc="40" dirty="0"/>
              <a:t> </a:t>
            </a:r>
            <a:r>
              <a:rPr spc="85" dirty="0"/>
              <a:t>Instance:</a:t>
            </a:r>
            <a:r>
              <a:rPr spc="100" dirty="0"/>
              <a:t> </a:t>
            </a:r>
            <a:r>
              <a:rPr dirty="0">
                <a:solidFill>
                  <a:srgbClr val="000123"/>
                </a:solidFill>
              </a:rPr>
              <a:t>The</a:t>
            </a:r>
            <a:r>
              <a:rPr spc="70" dirty="0">
                <a:solidFill>
                  <a:srgbClr val="000123"/>
                </a:solidFill>
              </a:rPr>
              <a:t> </a:t>
            </a:r>
            <a:r>
              <a:rPr dirty="0"/>
              <a:t>compute</a:t>
            </a:r>
            <a:r>
              <a:rPr spc="120" dirty="0"/>
              <a:t> </a:t>
            </a:r>
            <a:r>
              <a:rPr dirty="0"/>
              <a:t>environment</a:t>
            </a:r>
            <a:r>
              <a:rPr spc="260" dirty="0"/>
              <a:t> </a:t>
            </a:r>
            <a:r>
              <a:rPr dirty="0"/>
              <a:t>required</a:t>
            </a:r>
            <a:r>
              <a:rPr spc="120" dirty="0"/>
              <a:t> </a:t>
            </a:r>
            <a:r>
              <a:rPr dirty="0"/>
              <a:t>to</a:t>
            </a:r>
            <a:r>
              <a:rPr spc="5" dirty="0"/>
              <a:t> </a:t>
            </a:r>
            <a:r>
              <a:rPr dirty="0">
                <a:solidFill>
                  <a:srgbClr val="000111"/>
                </a:solidFill>
              </a:rPr>
              <a:t>run</a:t>
            </a:r>
            <a:r>
              <a:rPr spc="-25" dirty="0">
                <a:solidFill>
                  <a:srgbClr val="000111"/>
                </a:solidFill>
              </a:rPr>
              <a:t> </a:t>
            </a:r>
            <a:r>
              <a:rPr dirty="0"/>
              <a:t>the</a:t>
            </a:r>
            <a:r>
              <a:rPr spc="-25" dirty="0"/>
              <a:t> </a:t>
            </a:r>
            <a:r>
              <a:rPr spc="-10" dirty="0"/>
              <a:t>model 	</a:t>
            </a:r>
            <a:r>
              <a:rPr dirty="0"/>
              <a:t>training</a:t>
            </a:r>
            <a:r>
              <a:rPr spc="65" dirty="0"/>
              <a:t> </a:t>
            </a:r>
            <a:r>
              <a:rPr dirty="0"/>
              <a:t>algorithms</a:t>
            </a:r>
            <a:r>
              <a:rPr spc="125" dirty="0"/>
              <a:t> </a:t>
            </a:r>
            <a:r>
              <a:rPr dirty="0"/>
              <a:t>and</a:t>
            </a:r>
            <a:r>
              <a:rPr spc="-90" dirty="0"/>
              <a:t> </a:t>
            </a:r>
            <a:r>
              <a:rPr dirty="0"/>
              <a:t>host</a:t>
            </a:r>
            <a:r>
              <a:rPr spc="-15" dirty="0"/>
              <a:t> </a:t>
            </a:r>
            <a:r>
              <a:rPr dirty="0"/>
              <a:t>the</a:t>
            </a:r>
            <a:r>
              <a:rPr spc="-55" dirty="0"/>
              <a:t> </a:t>
            </a:r>
            <a:r>
              <a:rPr spc="-10" dirty="0"/>
              <a:t>deployment.</a:t>
            </a:r>
          </a:p>
          <a:p>
            <a:pPr marL="393700" marR="88265" indent="-347345">
              <a:lnSpc>
                <a:spcPct val="127499"/>
              </a:lnSpc>
              <a:spcBef>
                <a:spcPts val="1789"/>
              </a:spcBef>
              <a:buChar char="•"/>
              <a:tabLst>
                <a:tab pos="399415" algn="l"/>
              </a:tabLst>
            </a:pPr>
            <a:r>
              <a:rPr spc="110" dirty="0"/>
              <a:t>Jupyter</a:t>
            </a:r>
            <a:r>
              <a:rPr spc="70" dirty="0"/>
              <a:t> </a:t>
            </a:r>
            <a:r>
              <a:rPr spc="95" dirty="0"/>
              <a:t>Notebooks:</a:t>
            </a:r>
            <a:r>
              <a:rPr spc="170" dirty="0"/>
              <a:t> </a:t>
            </a:r>
            <a:r>
              <a:rPr dirty="0"/>
              <a:t>Used</a:t>
            </a:r>
            <a:r>
              <a:rPr spc="25" dirty="0"/>
              <a:t> </a:t>
            </a:r>
            <a:r>
              <a:rPr dirty="0"/>
              <a:t>within</a:t>
            </a:r>
            <a:r>
              <a:rPr spc="20" dirty="0"/>
              <a:t> </a:t>
            </a:r>
            <a:r>
              <a:rPr dirty="0"/>
              <a:t>watsonx.ai</a:t>
            </a:r>
            <a:r>
              <a:rPr spc="120" dirty="0"/>
              <a:t> </a:t>
            </a:r>
            <a:r>
              <a:rPr dirty="0">
                <a:solidFill>
                  <a:srgbClr val="000116"/>
                </a:solidFill>
              </a:rPr>
              <a:t>for</a:t>
            </a:r>
            <a:r>
              <a:rPr spc="25" dirty="0">
                <a:solidFill>
                  <a:srgbClr val="000116"/>
                </a:solidFill>
              </a:rPr>
              <a:t> </a:t>
            </a:r>
            <a:r>
              <a:rPr dirty="0"/>
              <a:t>exploratory</a:t>
            </a:r>
            <a:r>
              <a:rPr spc="165" dirty="0"/>
              <a:t> </a:t>
            </a:r>
            <a:r>
              <a:rPr dirty="0"/>
              <a:t>data</a:t>
            </a:r>
            <a:r>
              <a:rPr spc="-100" dirty="0"/>
              <a:t> </a:t>
            </a:r>
            <a:r>
              <a:rPr dirty="0"/>
              <a:t>analysis</a:t>
            </a:r>
            <a:r>
              <a:rPr spc="35" dirty="0"/>
              <a:t> </a:t>
            </a:r>
            <a:r>
              <a:rPr dirty="0"/>
              <a:t>(EDA),</a:t>
            </a:r>
            <a:r>
              <a:rPr spc="55" dirty="0"/>
              <a:t> </a:t>
            </a:r>
            <a:r>
              <a:rPr dirty="0"/>
              <a:t>feature</a:t>
            </a:r>
            <a:r>
              <a:rPr spc="100" dirty="0"/>
              <a:t> </a:t>
            </a:r>
            <a:r>
              <a:rPr spc="-10" dirty="0"/>
              <a:t>engineering, 	</a:t>
            </a:r>
            <a:r>
              <a:rPr dirty="0">
                <a:solidFill>
                  <a:srgbClr val="000511"/>
                </a:solidFill>
              </a:rPr>
              <a:t>and</a:t>
            </a:r>
            <a:r>
              <a:rPr spc="-80" dirty="0">
                <a:solidFill>
                  <a:srgbClr val="000511"/>
                </a:solidFill>
              </a:rPr>
              <a:t> </a:t>
            </a:r>
            <a:r>
              <a:rPr dirty="0"/>
              <a:t>model</a:t>
            </a:r>
            <a:r>
              <a:rPr spc="5" dirty="0"/>
              <a:t> </a:t>
            </a:r>
            <a:r>
              <a:rPr dirty="0"/>
              <a:t>evaluation</a:t>
            </a:r>
            <a:r>
              <a:rPr spc="65" dirty="0"/>
              <a:t> </a:t>
            </a:r>
            <a:r>
              <a:rPr spc="-10" dirty="0"/>
              <a:t>code.</a:t>
            </a:r>
          </a:p>
          <a:p>
            <a:pPr marL="391160" marR="469265" indent="-344805">
              <a:lnSpc>
                <a:spcPct val="125800"/>
              </a:lnSpc>
              <a:spcBef>
                <a:spcPts val="1795"/>
              </a:spcBef>
              <a:buChar char="•"/>
              <a:tabLst>
                <a:tab pos="399415" algn="l"/>
              </a:tabLst>
            </a:pPr>
            <a:r>
              <a:rPr spc="90" dirty="0"/>
              <a:t>Network</a:t>
            </a:r>
            <a:r>
              <a:rPr spc="70" dirty="0"/>
              <a:t> Traffic</a:t>
            </a:r>
            <a:r>
              <a:rPr spc="75" dirty="0"/>
              <a:t> </a:t>
            </a:r>
            <a:r>
              <a:rPr spc="50" dirty="0"/>
              <a:t>Dataset</a:t>
            </a:r>
            <a:r>
              <a:rPr spc="15" dirty="0"/>
              <a:t> </a:t>
            </a:r>
            <a:r>
              <a:rPr dirty="0"/>
              <a:t>(NSL-KDD):</a:t>
            </a:r>
            <a:r>
              <a:rPr spc="204" dirty="0"/>
              <a:t> </a:t>
            </a:r>
            <a:r>
              <a:rPr dirty="0"/>
              <a:t>The</a:t>
            </a:r>
            <a:r>
              <a:rPr spc="15" dirty="0"/>
              <a:t> </a:t>
            </a:r>
            <a:r>
              <a:rPr dirty="0"/>
              <a:t>historical</a:t>
            </a:r>
            <a:r>
              <a:rPr spc="125" dirty="0"/>
              <a:t> </a:t>
            </a:r>
            <a:r>
              <a:rPr dirty="0"/>
              <a:t>dataset</a:t>
            </a:r>
            <a:r>
              <a:rPr spc="105" dirty="0"/>
              <a:t> </a:t>
            </a:r>
            <a:r>
              <a:rPr dirty="0"/>
              <a:t>containing</a:t>
            </a:r>
            <a:r>
              <a:rPr spc="155" dirty="0"/>
              <a:t> </a:t>
            </a:r>
            <a:r>
              <a:rPr dirty="0"/>
              <a:t>labeled</a:t>
            </a:r>
            <a:r>
              <a:rPr spc="25" dirty="0"/>
              <a:t> </a:t>
            </a:r>
            <a:r>
              <a:rPr dirty="0"/>
              <a:t>examples</a:t>
            </a:r>
            <a:r>
              <a:rPr spc="175" dirty="0"/>
              <a:t> </a:t>
            </a:r>
            <a:r>
              <a:rPr dirty="0"/>
              <a:t>of</a:t>
            </a:r>
            <a:r>
              <a:rPr spc="15" dirty="0"/>
              <a:t> </a:t>
            </a:r>
            <a:r>
              <a:rPr spc="-10" dirty="0"/>
              <a:t>normal 	</a:t>
            </a:r>
            <a:r>
              <a:rPr dirty="0"/>
              <a:t>and</a:t>
            </a:r>
            <a:r>
              <a:rPr spc="-70" dirty="0"/>
              <a:t> </a:t>
            </a:r>
            <a:r>
              <a:rPr dirty="0"/>
              <a:t>malicious</a:t>
            </a:r>
            <a:r>
              <a:rPr spc="35" dirty="0"/>
              <a:t> </a:t>
            </a:r>
            <a:r>
              <a:rPr dirty="0"/>
              <a:t>network</a:t>
            </a:r>
            <a:r>
              <a:rPr spc="10" dirty="0"/>
              <a:t> </a:t>
            </a:r>
            <a:r>
              <a:rPr dirty="0"/>
              <a:t>connections</a:t>
            </a:r>
            <a:r>
              <a:rPr spc="125" dirty="0"/>
              <a:t> </a:t>
            </a:r>
            <a:r>
              <a:rPr dirty="0"/>
              <a:t>required</a:t>
            </a:r>
            <a:r>
              <a:rPr spc="35" dirty="0"/>
              <a:t> </a:t>
            </a:r>
            <a:r>
              <a:rPr dirty="0"/>
              <a:t>for</a:t>
            </a:r>
            <a:r>
              <a:rPr spc="-65" dirty="0"/>
              <a:t> </a:t>
            </a:r>
            <a:r>
              <a:rPr dirty="0"/>
              <a:t>supervised</a:t>
            </a:r>
            <a:r>
              <a:rPr spc="-30" dirty="0"/>
              <a:t> </a:t>
            </a:r>
            <a:r>
              <a:rPr spc="-10" dirty="0"/>
              <a:t>learning.</a:t>
            </a:r>
          </a:p>
          <a:p>
            <a:pPr marL="390525" marR="5080" indent="-344170">
              <a:lnSpc>
                <a:spcPct val="127499"/>
              </a:lnSpc>
              <a:spcBef>
                <a:spcPts val="1795"/>
              </a:spcBef>
              <a:buChar char="•"/>
              <a:tabLst>
                <a:tab pos="395605" algn="l"/>
              </a:tabLst>
            </a:pPr>
            <a:r>
              <a:rPr dirty="0"/>
              <a:t>REST</a:t>
            </a:r>
            <a:r>
              <a:rPr spc="15" dirty="0"/>
              <a:t> </a:t>
            </a:r>
            <a:r>
              <a:rPr dirty="0"/>
              <a:t>API</a:t>
            </a:r>
            <a:r>
              <a:rPr spc="-70" dirty="0"/>
              <a:t> </a:t>
            </a:r>
            <a:r>
              <a:rPr spc="80" dirty="0"/>
              <a:t>Client</a:t>
            </a:r>
            <a:r>
              <a:rPr spc="100" dirty="0"/>
              <a:t> </a:t>
            </a:r>
            <a:r>
              <a:rPr dirty="0"/>
              <a:t>(e.g.,</a:t>
            </a:r>
            <a:r>
              <a:rPr spc="-65" dirty="0"/>
              <a:t> </a:t>
            </a:r>
            <a:r>
              <a:rPr spc="95" dirty="0"/>
              <a:t>Postman</a:t>
            </a:r>
            <a:r>
              <a:rPr spc="35" dirty="0"/>
              <a:t> </a:t>
            </a:r>
            <a:r>
              <a:rPr i="1" dirty="0">
                <a:latin typeface="Arial"/>
                <a:cs typeface="Arial"/>
              </a:rPr>
              <a:t>I</a:t>
            </a:r>
            <a:r>
              <a:rPr i="1" spc="45" dirty="0">
                <a:latin typeface="Arial"/>
                <a:cs typeface="Arial"/>
              </a:rPr>
              <a:t> </a:t>
            </a:r>
            <a:r>
              <a:rPr spc="130" dirty="0"/>
              <a:t>Python</a:t>
            </a:r>
            <a:r>
              <a:rPr spc="5" dirty="0"/>
              <a:t> </a:t>
            </a:r>
            <a:r>
              <a:rPr spc="90" dirty="0"/>
              <a:t>requests):</a:t>
            </a:r>
            <a:r>
              <a:rPr spc="204" dirty="0"/>
              <a:t> </a:t>
            </a:r>
            <a:r>
              <a:rPr dirty="0"/>
              <a:t>Required</a:t>
            </a:r>
            <a:r>
              <a:rPr spc="204" dirty="0"/>
              <a:t> </a:t>
            </a:r>
            <a:r>
              <a:rPr dirty="0"/>
              <a:t>to</a:t>
            </a:r>
            <a:r>
              <a:rPr spc="35" dirty="0"/>
              <a:t> </a:t>
            </a:r>
            <a:r>
              <a:rPr dirty="0"/>
              <a:t>send</a:t>
            </a:r>
            <a:r>
              <a:rPr spc="45" dirty="0"/>
              <a:t> </a:t>
            </a:r>
            <a:r>
              <a:rPr dirty="0"/>
              <a:t>test</a:t>
            </a:r>
            <a:r>
              <a:rPr spc="70" dirty="0"/>
              <a:t> </a:t>
            </a:r>
            <a:r>
              <a:rPr dirty="0"/>
              <a:t>payloads</a:t>
            </a:r>
            <a:r>
              <a:rPr spc="195" dirty="0"/>
              <a:t> </a:t>
            </a:r>
            <a:r>
              <a:rPr dirty="0"/>
              <a:t>to</a:t>
            </a:r>
            <a:r>
              <a:rPr spc="20" dirty="0"/>
              <a:t> </a:t>
            </a:r>
            <a:r>
              <a:rPr dirty="0"/>
              <a:t>the</a:t>
            </a:r>
            <a:r>
              <a:rPr spc="114" dirty="0"/>
              <a:t> </a:t>
            </a:r>
            <a:r>
              <a:rPr spc="-10" dirty="0"/>
              <a:t>deployed 	</a:t>
            </a:r>
            <a:r>
              <a:rPr dirty="0"/>
              <a:t>model</a:t>
            </a:r>
            <a:r>
              <a:rPr spc="-55" dirty="0"/>
              <a:t> </a:t>
            </a:r>
            <a:r>
              <a:rPr dirty="0"/>
              <a:t>and</a:t>
            </a:r>
            <a:r>
              <a:rPr spc="-45" dirty="0"/>
              <a:t> </a:t>
            </a:r>
            <a:r>
              <a:rPr dirty="0"/>
              <a:t>receive</a:t>
            </a:r>
            <a:r>
              <a:rPr spc="20" dirty="0"/>
              <a:t> </a:t>
            </a:r>
            <a:r>
              <a:rPr dirty="0"/>
              <a:t>prediction</a:t>
            </a:r>
            <a:r>
              <a:rPr spc="60" dirty="0"/>
              <a:t> </a:t>
            </a:r>
            <a:r>
              <a:rPr spc="-10" dirty="0"/>
              <a:t>responses.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 10"/>
          <p:cNvSpPr txBox="1">
            <a:spLocks noGrp="1"/>
          </p:cNvSpPr>
          <p:nvPr>
            <p:ph type="title"/>
          </p:nvPr>
        </p:nvSpPr>
        <p:spPr>
          <a:xfrm>
            <a:off x="725029" y="633085"/>
            <a:ext cx="16156259" cy="1045793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114"/>
              </a:spcBef>
            </a:pPr>
            <a:r>
              <a:rPr sz="5650" spc="245" dirty="0">
                <a:latin typeface="Calibri"/>
                <a:cs typeface="Calibri"/>
              </a:rPr>
              <a:t>Deployment</a:t>
            </a:r>
            <a:r>
              <a:rPr sz="5650" spc="595" dirty="0">
                <a:latin typeface="Calibri"/>
                <a:cs typeface="Calibri"/>
              </a:rPr>
              <a:t> </a:t>
            </a:r>
            <a:r>
              <a:rPr sz="5650" spc="340" dirty="0">
                <a:latin typeface="Calibri"/>
                <a:cs typeface="Calibri"/>
              </a:rPr>
              <a:t>Status</a:t>
            </a:r>
            <a:endParaRPr sz="5650" dirty="0">
              <a:latin typeface="Calibri"/>
              <a:cs typeface="Calibri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684669" y="1868146"/>
            <a:ext cx="17221835" cy="19938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9700"/>
              </a:lnSpc>
              <a:spcBef>
                <a:spcPts val="100"/>
              </a:spcBef>
            </a:pPr>
            <a:r>
              <a:rPr sz="3100" spc="-55" dirty="0">
                <a:latin typeface="Arial MT"/>
                <a:cs typeface="Arial MT"/>
              </a:rPr>
              <a:t>The</a:t>
            </a:r>
            <a:r>
              <a:rPr sz="3100" spc="-165" dirty="0">
                <a:latin typeface="Arial MT"/>
                <a:cs typeface="Arial MT"/>
              </a:rPr>
              <a:t> </a:t>
            </a:r>
            <a:r>
              <a:rPr sz="3100" spc="-70" dirty="0">
                <a:latin typeface="Arial MT"/>
                <a:cs typeface="Arial MT"/>
              </a:rPr>
              <a:t>model</a:t>
            </a:r>
            <a:r>
              <a:rPr sz="3100" spc="-145" dirty="0">
                <a:latin typeface="Arial MT"/>
                <a:cs typeface="Arial MT"/>
              </a:rPr>
              <a:t> </a:t>
            </a:r>
            <a:r>
              <a:rPr sz="3100" spc="-35" dirty="0">
                <a:latin typeface="Arial MT"/>
                <a:cs typeface="Arial MT"/>
              </a:rPr>
              <a:t>has</a:t>
            </a:r>
            <a:r>
              <a:rPr sz="3100" spc="-180" dirty="0">
                <a:latin typeface="Arial MT"/>
                <a:cs typeface="Arial MT"/>
              </a:rPr>
              <a:t> </a:t>
            </a:r>
            <a:r>
              <a:rPr sz="3100" spc="-70" dirty="0">
                <a:latin typeface="Arial MT"/>
                <a:cs typeface="Arial MT"/>
              </a:rPr>
              <a:t>been</a:t>
            </a:r>
            <a:r>
              <a:rPr sz="3100" spc="-145" dirty="0">
                <a:latin typeface="Arial MT"/>
                <a:cs typeface="Arial MT"/>
              </a:rPr>
              <a:t> </a:t>
            </a:r>
            <a:r>
              <a:rPr sz="3100" spc="-70" dirty="0">
                <a:latin typeface="Arial MT"/>
                <a:cs typeface="Arial MT"/>
              </a:rPr>
              <a:t>successfully</a:t>
            </a:r>
            <a:r>
              <a:rPr sz="3100" spc="-80" dirty="0">
                <a:latin typeface="Arial MT"/>
                <a:cs typeface="Arial MT"/>
              </a:rPr>
              <a:t> </a:t>
            </a:r>
            <a:r>
              <a:rPr sz="3100" spc="-75" dirty="0">
                <a:latin typeface="Arial MT"/>
                <a:cs typeface="Arial MT"/>
              </a:rPr>
              <a:t>deployed</a:t>
            </a:r>
            <a:r>
              <a:rPr sz="3100" spc="-130" dirty="0">
                <a:latin typeface="Arial MT"/>
                <a:cs typeface="Arial MT"/>
              </a:rPr>
              <a:t> </a:t>
            </a:r>
            <a:r>
              <a:rPr sz="3100" dirty="0">
                <a:latin typeface="Arial MT"/>
                <a:cs typeface="Arial MT"/>
              </a:rPr>
              <a:t>as</a:t>
            </a:r>
            <a:r>
              <a:rPr sz="3100" spc="-160" dirty="0">
                <a:latin typeface="Arial MT"/>
                <a:cs typeface="Arial MT"/>
              </a:rPr>
              <a:t> </a:t>
            </a:r>
            <a:r>
              <a:rPr sz="3100" dirty="0">
                <a:latin typeface="Arial MT"/>
                <a:cs typeface="Arial MT"/>
              </a:rPr>
              <a:t>a</a:t>
            </a:r>
            <a:r>
              <a:rPr sz="3100" spc="-215" dirty="0">
                <a:latin typeface="Arial MT"/>
                <a:cs typeface="Arial MT"/>
              </a:rPr>
              <a:t> </a:t>
            </a:r>
            <a:r>
              <a:rPr sz="3100" spc="-10" dirty="0">
                <a:latin typeface="Arial MT"/>
                <a:cs typeface="Arial MT"/>
              </a:rPr>
              <a:t>live</a:t>
            </a:r>
            <a:r>
              <a:rPr sz="3100" spc="-90" dirty="0">
                <a:latin typeface="Arial MT"/>
                <a:cs typeface="Arial MT"/>
              </a:rPr>
              <a:t> </a:t>
            </a:r>
            <a:r>
              <a:rPr sz="3100" spc="-150" dirty="0">
                <a:latin typeface="Arial MT"/>
                <a:cs typeface="Arial MT"/>
              </a:rPr>
              <a:t>REST</a:t>
            </a:r>
            <a:r>
              <a:rPr sz="3100" spc="-75" dirty="0">
                <a:latin typeface="Arial MT"/>
                <a:cs typeface="Arial MT"/>
              </a:rPr>
              <a:t> </a:t>
            </a:r>
            <a:r>
              <a:rPr sz="3100" spc="-65" dirty="0">
                <a:solidFill>
                  <a:srgbClr val="00031F"/>
                </a:solidFill>
                <a:latin typeface="Arial MT"/>
                <a:cs typeface="Arial MT"/>
              </a:rPr>
              <a:t>API</a:t>
            </a:r>
            <a:r>
              <a:rPr sz="3100" spc="-150" dirty="0">
                <a:solidFill>
                  <a:srgbClr val="00031F"/>
                </a:solidFill>
                <a:latin typeface="Arial MT"/>
                <a:cs typeface="Arial MT"/>
              </a:rPr>
              <a:t> </a:t>
            </a:r>
            <a:r>
              <a:rPr sz="3100" spc="-65" dirty="0">
                <a:latin typeface="Arial MT"/>
                <a:cs typeface="Arial MT"/>
              </a:rPr>
              <a:t>endpoint</a:t>
            </a:r>
            <a:r>
              <a:rPr sz="3100" spc="25" dirty="0">
                <a:latin typeface="Arial MT"/>
                <a:cs typeface="Arial MT"/>
              </a:rPr>
              <a:t> </a:t>
            </a:r>
            <a:r>
              <a:rPr sz="3100" spc="-50" dirty="0">
                <a:latin typeface="Arial MT"/>
                <a:cs typeface="Arial MT"/>
              </a:rPr>
              <a:t>on</a:t>
            </a:r>
            <a:r>
              <a:rPr sz="3100" spc="-160" dirty="0">
                <a:latin typeface="Arial MT"/>
                <a:cs typeface="Arial MT"/>
              </a:rPr>
              <a:t> </a:t>
            </a:r>
            <a:r>
              <a:rPr sz="3100" spc="-75" dirty="0">
                <a:latin typeface="Arial MT"/>
                <a:cs typeface="Arial MT"/>
              </a:rPr>
              <a:t>IBM</a:t>
            </a:r>
            <a:r>
              <a:rPr sz="3100" spc="-140" dirty="0">
                <a:latin typeface="Arial MT"/>
                <a:cs typeface="Arial MT"/>
              </a:rPr>
              <a:t> </a:t>
            </a:r>
            <a:r>
              <a:rPr sz="3100" spc="-65" dirty="0">
                <a:latin typeface="Arial MT"/>
                <a:cs typeface="Arial MT"/>
              </a:rPr>
              <a:t>Cloud,</a:t>
            </a:r>
            <a:r>
              <a:rPr sz="3100" spc="-125" dirty="0">
                <a:latin typeface="Arial MT"/>
                <a:cs typeface="Arial MT"/>
              </a:rPr>
              <a:t> </a:t>
            </a:r>
            <a:r>
              <a:rPr sz="3100" spc="-60" dirty="0">
                <a:solidFill>
                  <a:srgbClr val="000316"/>
                </a:solidFill>
                <a:latin typeface="Arial MT"/>
                <a:cs typeface="Arial MT"/>
              </a:rPr>
              <a:t>ready</a:t>
            </a:r>
            <a:r>
              <a:rPr sz="3100" spc="-85" dirty="0">
                <a:solidFill>
                  <a:srgbClr val="000316"/>
                </a:solidFill>
                <a:latin typeface="Arial MT"/>
                <a:cs typeface="Arial MT"/>
              </a:rPr>
              <a:t> </a:t>
            </a:r>
            <a:r>
              <a:rPr sz="3100" dirty="0">
                <a:solidFill>
                  <a:srgbClr val="00051D"/>
                </a:solidFill>
                <a:latin typeface="Arial MT"/>
                <a:cs typeface="Arial MT"/>
              </a:rPr>
              <a:t>to</a:t>
            </a:r>
            <a:r>
              <a:rPr sz="3100" spc="-170" dirty="0">
                <a:solidFill>
                  <a:srgbClr val="00051D"/>
                </a:solidFill>
                <a:latin typeface="Arial MT"/>
                <a:cs typeface="Arial MT"/>
              </a:rPr>
              <a:t> </a:t>
            </a:r>
            <a:r>
              <a:rPr sz="3100" spc="-10" dirty="0">
                <a:latin typeface="Arial MT"/>
                <a:cs typeface="Arial MT"/>
              </a:rPr>
              <a:t>accept </a:t>
            </a:r>
            <a:r>
              <a:rPr sz="3100" spc="-100" dirty="0">
                <a:latin typeface="Arial MT"/>
                <a:cs typeface="Arial MT"/>
              </a:rPr>
              <a:t>real-</a:t>
            </a:r>
            <a:r>
              <a:rPr sz="3100" spc="-20" dirty="0">
                <a:latin typeface="Arial MT"/>
                <a:cs typeface="Arial MT"/>
              </a:rPr>
              <a:t>time</a:t>
            </a:r>
            <a:r>
              <a:rPr sz="3100" spc="-170" dirty="0">
                <a:latin typeface="Arial MT"/>
                <a:cs typeface="Arial MT"/>
              </a:rPr>
              <a:t> </a:t>
            </a:r>
            <a:r>
              <a:rPr sz="3100" spc="-65" dirty="0">
                <a:latin typeface="Arial MT"/>
                <a:cs typeface="Arial MT"/>
              </a:rPr>
              <a:t>network</a:t>
            </a:r>
            <a:r>
              <a:rPr sz="3100" spc="-100" dirty="0">
                <a:latin typeface="Arial MT"/>
                <a:cs typeface="Arial MT"/>
              </a:rPr>
              <a:t> </a:t>
            </a:r>
            <a:r>
              <a:rPr sz="3100" spc="-50" dirty="0">
                <a:latin typeface="Arial MT"/>
                <a:cs typeface="Arial MT"/>
              </a:rPr>
              <a:t>traffic</a:t>
            </a:r>
            <a:r>
              <a:rPr sz="3100" spc="-80" dirty="0">
                <a:latin typeface="Arial MT"/>
                <a:cs typeface="Arial MT"/>
              </a:rPr>
              <a:t> </a:t>
            </a:r>
            <a:r>
              <a:rPr sz="3100" spc="-35" dirty="0">
                <a:latin typeface="Arial MT"/>
                <a:cs typeface="Arial MT"/>
              </a:rPr>
              <a:t>logs</a:t>
            </a:r>
            <a:r>
              <a:rPr sz="3100" spc="-180" dirty="0">
                <a:latin typeface="Arial MT"/>
                <a:cs typeface="Arial MT"/>
              </a:rPr>
              <a:t> </a:t>
            </a:r>
            <a:r>
              <a:rPr sz="3100" dirty="0">
                <a:latin typeface="Arial MT"/>
                <a:cs typeface="Arial MT"/>
              </a:rPr>
              <a:t>in</a:t>
            </a:r>
            <a:r>
              <a:rPr sz="3100" spc="-215" dirty="0">
                <a:latin typeface="Arial MT"/>
                <a:cs typeface="Arial MT"/>
              </a:rPr>
              <a:t> </a:t>
            </a:r>
            <a:r>
              <a:rPr sz="3100" spc="-75" dirty="0">
                <a:latin typeface="Arial MT"/>
                <a:cs typeface="Arial MT"/>
              </a:rPr>
              <a:t>JSON</a:t>
            </a:r>
            <a:r>
              <a:rPr sz="3100" spc="-145" dirty="0">
                <a:latin typeface="Arial MT"/>
                <a:cs typeface="Arial MT"/>
              </a:rPr>
              <a:t> </a:t>
            </a:r>
            <a:r>
              <a:rPr sz="3100" spc="-55" dirty="0">
                <a:latin typeface="Arial MT"/>
                <a:cs typeface="Arial MT"/>
              </a:rPr>
              <a:t>format</a:t>
            </a:r>
            <a:r>
              <a:rPr sz="3100" spc="-155" dirty="0">
                <a:latin typeface="Arial MT"/>
                <a:cs typeface="Arial MT"/>
              </a:rPr>
              <a:t> </a:t>
            </a:r>
            <a:r>
              <a:rPr sz="3100" spc="-20" dirty="0">
                <a:latin typeface="Arial MT"/>
                <a:cs typeface="Arial MT"/>
              </a:rPr>
              <a:t>for</a:t>
            </a:r>
            <a:r>
              <a:rPr sz="3100" spc="-110" dirty="0">
                <a:latin typeface="Arial MT"/>
                <a:cs typeface="Arial MT"/>
              </a:rPr>
              <a:t> </a:t>
            </a:r>
            <a:r>
              <a:rPr sz="3100" spc="-10" dirty="0">
                <a:latin typeface="Arial MT"/>
                <a:cs typeface="Arial MT"/>
              </a:rPr>
              <a:t>inference.</a:t>
            </a:r>
            <a:endParaRPr sz="310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2765"/>
              </a:spcBef>
            </a:pPr>
            <a:endParaRPr sz="3100" dirty="0">
              <a:latin typeface="Arial MT"/>
              <a:cs typeface="Arial MT"/>
            </a:endParaRP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B035A7EF-C024-EEFD-9539-9A9FB314A4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029" y="3292475"/>
            <a:ext cx="18654042" cy="787377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84250" y="320675"/>
            <a:ext cx="16156259" cy="1045793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29845">
              <a:lnSpc>
                <a:spcPct val="100000"/>
              </a:lnSpc>
              <a:spcBef>
                <a:spcPts val="140"/>
              </a:spcBef>
            </a:pPr>
            <a:r>
              <a:rPr lang="en-IN" spc="70"/>
              <a:t>Testing</a:t>
            </a:r>
            <a:r>
              <a:rPr lang="en-IN" spc="240"/>
              <a:t> </a:t>
            </a:r>
            <a:r>
              <a:rPr lang="en-IN" spc="145"/>
              <a:t>and</a:t>
            </a:r>
            <a:r>
              <a:rPr lang="en-IN" spc="-10"/>
              <a:t> </a:t>
            </a:r>
            <a:r>
              <a:rPr lang="en-IN" spc="110"/>
              <a:t>Evaluation</a:t>
            </a:r>
            <a:endParaRPr lang="en-IN" spc="110" dirty="0"/>
          </a:p>
        </p:txBody>
      </p:sp>
      <p:sp>
        <p:nvSpPr>
          <p:cNvPr id="4" name="object 4"/>
          <p:cNvSpPr txBox="1"/>
          <p:nvPr/>
        </p:nvSpPr>
        <p:spPr>
          <a:xfrm>
            <a:off x="948805" y="1539875"/>
            <a:ext cx="16369030" cy="115633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4604" marR="5080" indent="-2540">
              <a:lnSpc>
                <a:spcPct val="125800"/>
              </a:lnSpc>
              <a:spcBef>
                <a:spcPts val="95"/>
              </a:spcBef>
            </a:pPr>
            <a:r>
              <a:rPr lang="en-US" sz="2950" dirty="0">
                <a:latin typeface="Arial MT"/>
                <a:cs typeface="Arial MT"/>
              </a:rPr>
              <a:t>The</a:t>
            </a:r>
            <a:r>
              <a:rPr lang="en-US" sz="2950" spc="-80" dirty="0">
                <a:latin typeface="Arial MT"/>
                <a:cs typeface="Arial MT"/>
              </a:rPr>
              <a:t> </a:t>
            </a:r>
            <a:r>
              <a:rPr lang="en-US" sz="2950" dirty="0">
                <a:latin typeface="Arial MT"/>
                <a:cs typeface="Arial MT"/>
              </a:rPr>
              <a:t>deployed</a:t>
            </a:r>
            <a:r>
              <a:rPr lang="en-US" sz="2950" spc="35" dirty="0">
                <a:latin typeface="Arial MT"/>
                <a:cs typeface="Arial MT"/>
              </a:rPr>
              <a:t> </a:t>
            </a:r>
            <a:r>
              <a:rPr lang="en-US" sz="2950" dirty="0">
                <a:latin typeface="Arial MT"/>
                <a:cs typeface="Arial MT"/>
              </a:rPr>
              <a:t>model</a:t>
            </a:r>
            <a:r>
              <a:rPr lang="en-US" sz="2950" spc="-70" dirty="0">
                <a:latin typeface="Arial MT"/>
                <a:cs typeface="Arial MT"/>
              </a:rPr>
              <a:t> </a:t>
            </a:r>
            <a:r>
              <a:rPr lang="en-US" sz="2950" dirty="0">
                <a:latin typeface="Arial MT"/>
                <a:cs typeface="Arial MT"/>
              </a:rPr>
              <a:t>undergoes</a:t>
            </a:r>
            <a:r>
              <a:rPr lang="en-US" sz="2950" spc="25" dirty="0">
                <a:latin typeface="Arial MT"/>
                <a:cs typeface="Arial MT"/>
              </a:rPr>
              <a:t> </a:t>
            </a:r>
            <a:r>
              <a:rPr lang="en-US" sz="2950" dirty="0">
                <a:latin typeface="Arial MT"/>
                <a:cs typeface="Arial MT"/>
              </a:rPr>
              <a:t>rigorous</a:t>
            </a:r>
            <a:r>
              <a:rPr lang="en-US" sz="2950" spc="15" dirty="0">
                <a:latin typeface="Arial MT"/>
                <a:cs typeface="Arial MT"/>
              </a:rPr>
              <a:t> </a:t>
            </a:r>
            <a:r>
              <a:rPr lang="en-US" sz="2950" dirty="0">
                <a:latin typeface="Arial MT"/>
                <a:cs typeface="Arial MT"/>
              </a:rPr>
              <a:t>testing.</a:t>
            </a:r>
            <a:r>
              <a:rPr lang="en-US" sz="2950" spc="20" dirty="0">
                <a:latin typeface="Arial MT"/>
                <a:cs typeface="Arial MT"/>
              </a:rPr>
              <a:t> </a:t>
            </a:r>
            <a:r>
              <a:rPr lang="en-US" sz="2950" dirty="0">
                <a:latin typeface="Arial MT"/>
                <a:cs typeface="Arial MT"/>
              </a:rPr>
              <a:t>The</a:t>
            </a:r>
            <a:r>
              <a:rPr lang="en-US" sz="2950" spc="-25" dirty="0">
                <a:latin typeface="Arial MT"/>
                <a:cs typeface="Arial MT"/>
              </a:rPr>
              <a:t> </a:t>
            </a:r>
            <a:r>
              <a:rPr lang="en-US" sz="2950" dirty="0">
                <a:latin typeface="Arial MT"/>
                <a:cs typeface="Arial MT"/>
              </a:rPr>
              <a:t>prediction</a:t>
            </a:r>
            <a:r>
              <a:rPr lang="en-US" sz="2950" spc="65" dirty="0">
                <a:latin typeface="Arial MT"/>
                <a:cs typeface="Arial MT"/>
              </a:rPr>
              <a:t> </a:t>
            </a:r>
            <a:r>
              <a:rPr lang="en-US" sz="2950" dirty="0">
                <a:latin typeface="Arial MT"/>
                <a:cs typeface="Arial MT"/>
              </a:rPr>
              <a:t>results</a:t>
            </a:r>
            <a:r>
              <a:rPr lang="en-US" sz="2950" spc="-30" dirty="0">
                <a:latin typeface="Arial MT"/>
                <a:cs typeface="Arial MT"/>
              </a:rPr>
              <a:t> </a:t>
            </a:r>
            <a:r>
              <a:rPr lang="en-US" sz="2950" dirty="0">
                <a:latin typeface="Arial MT"/>
                <a:cs typeface="Arial MT"/>
              </a:rPr>
              <a:t>demonstrate</a:t>
            </a:r>
            <a:r>
              <a:rPr lang="en-US" sz="2950" spc="80" dirty="0">
                <a:latin typeface="Arial MT"/>
                <a:cs typeface="Arial MT"/>
              </a:rPr>
              <a:t> </a:t>
            </a:r>
            <a:r>
              <a:rPr lang="en-US" sz="2950" dirty="0">
                <a:solidFill>
                  <a:srgbClr val="00000F"/>
                </a:solidFill>
                <a:latin typeface="Arial MT"/>
                <a:cs typeface="Arial MT"/>
              </a:rPr>
              <a:t>the</a:t>
            </a:r>
            <a:r>
              <a:rPr lang="en-US" sz="2950" spc="-50" dirty="0">
                <a:solidFill>
                  <a:srgbClr val="00000F"/>
                </a:solidFill>
                <a:latin typeface="Arial MT"/>
                <a:cs typeface="Arial MT"/>
              </a:rPr>
              <a:t> </a:t>
            </a:r>
            <a:r>
              <a:rPr lang="en-US" sz="2950" spc="-10" dirty="0">
                <a:latin typeface="Arial MT"/>
                <a:cs typeface="Arial MT"/>
              </a:rPr>
              <a:t>multiclass </a:t>
            </a:r>
            <a:r>
              <a:rPr lang="en-US" sz="2950" dirty="0">
                <a:latin typeface="Arial MT"/>
                <a:cs typeface="Arial MT"/>
              </a:rPr>
              <a:t>classification</a:t>
            </a:r>
            <a:r>
              <a:rPr lang="en-US" sz="2950" spc="-70" dirty="0">
                <a:latin typeface="Arial MT"/>
                <a:cs typeface="Arial MT"/>
              </a:rPr>
              <a:t> </a:t>
            </a:r>
            <a:r>
              <a:rPr lang="en-US" sz="2950" dirty="0">
                <a:latin typeface="Arial MT"/>
                <a:cs typeface="Arial MT"/>
              </a:rPr>
              <a:t>output</a:t>
            </a:r>
            <a:r>
              <a:rPr lang="en-US" sz="2950" spc="-25" dirty="0">
                <a:latin typeface="Arial MT"/>
                <a:cs typeface="Arial MT"/>
              </a:rPr>
              <a:t> </a:t>
            </a:r>
            <a:r>
              <a:rPr lang="en-US" sz="2950" dirty="0">
                <a:latin typeface="Arial MT"/>
                <a:cs typeface="Arial MT"/>
              </a:rPr>
              <a:t>along</a:t>
            </a:r>
            <a:r>
              <a:rPr lang="en-US" sz="2950" spc="-65" dirty="0">
                <a:latin typeface="Arial MT"/>
                <a:cs typeface="Arial MT"/>
              </a:rPr>
              <a:t> </a:t>
            </a:r>
            <a:r>
              <a:rPr lang="en-US" sz="2950" dirty="0">
                <a:latin typeface="Arial MT"/>
                <a:cs typeface="Arial MT"/>
              </a:rPr>
              <a:t>with</a:t>
            </a:r>
            <a:r>
              <a:rPr lang="en-US" sz="2950" spc="-110" dirty="0">
                <a:latin typeface="Arial MT"/>
                <a:cs typeface="Arial MT"/>
              </a:rPr>
              <a:t> </a:t>
            </a:r>
            <a:r>
              <a:rPr lang="en-US" sz="2950" dirty="0">
                <a:latin typeface="Arial MT"/>
                <a:cs typeface="Arial MT"/>
              </a:rPr>
              <a:t>high</a:t>
            </a:r>
            <a:r>
              <a:rPr lang="en-US" sz="2950" spc="-70" dirty="0">
                <a:latin typeface="Arial MT"/>
                <a:cs typeface="Arial MT"/>
              </a:rPr>
              <a:t> </a:t>
            </a:r>
            <a:r>
              <a:rPr lang="en-US" sz="2950" dirty="0">
                <a:latin typeface="Arial MT"/>
                <a:cs typeface="Arial MT"/>
              </a:rPr>
              <a:t>confidence</a:t>
            </a:r>
            <a:r>
              <a:rPr lang="en-US" sz="2950" spc="130" dirty="0">
                <a:latin typeface="Arial MT"/>
                <a:cs typeface="Arial MT"/>
              </a:rPr>
              <a:t> </a:t>
            </a:r>
            <a:r>
              <a:rPr lang="en-US" sz="2950" dirty="0">
                <a:latin typeface="Arial MT"/>
                <a:cs typeface="Arial MT"/>
              </a:rPr>
              <a:t>scores</a:t>
            </a:r>
            <a:r>
              <a:rPr lang="en-US" sz="2950" spc="40" dirty="0">
                <a:latin typeface="Arial MT"/>
                <a:cs typeface="Arial MT"/>
              </a:rPr>
              <a:t> </a:t>
            </a:r>
            <a:r>
              <a:rPr lang="en-US" sz="2950" dirty="0">
                <a:solidFill>
                  <a:srgbClr val="00050F"/>
                </a:solidFill>
                <a:latin typeface="Arial MT"/>
                <a:cs typeface="Arial MT"/>
              </a:rPr>
              <a:t>for</a:t>
            </a:r>
            <a:r>
              <a:rPr lang="en-US" sz="2950" spc="-10" dirty="0">
                <a:solidFill>
                  <a:srgbClr val="00050F"/>
                </a:solidFill>
                <a:latin typeface="Arial MT"/>
                <a:cs typeface="Arial MT"/>
              </a:rPr>
              <a:t> </a:t>
            </a:r>
            <a:r>
              <a:rPr lang="en-US" sz="2950" dirty="0">
                <a:latin typeface="Arial MT"/>
                <a:cs typeface="Arial MT"/>
              </a:rPr>
              <a:t>incoming</a:t>
            </a:r>
            <a:r>
              <a:rPr lang="en-US" sz="2950" spc="120" dirty="0">
                <a:latin typeface="Arial MT"/>
                <a:cs typeface="Arial MT"/>
              </a:rPr>
              <a:t> </a:t>
            </a:r>
            <a:r>
              <a:rPr lang="en-US" sz="2950" dirty="0">
                <a:latin typeface="Arial MT"/>
                <a:cs typeface="Arial MT"/>
              </a:rPr>
              <a:t>packet</a:t>
            </a:r>
            <a:r>
              <a:rPr lang="en-US" sz="2950" spc="75" dirty="0">
                <a:latin typeface="Arial MT"/>
                <a:cs typeface="Arial MT"/>
              </a:rPr>
              <a:t> </a:t>
            </a:r>
            <a:r>
              <a:rPr lang="en-US" sz="2950" spc="-10" dirty="0">
                <a:latin typeface="Arial MT"/>
                <a:cs typeface="Arial MT"/>
              </a:rPr>
              <a:t>data.</a:t>
            </a:r>
            <a:endParaRPr lang="en-US" sz="2950" dirty="0">
              <a:latin typeface="Arial MT"/>
              <a:cs typeface="Arial MT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0C653F3-565D-46E7-21BA-1450412267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805" y="2869617"/>
            <a:ext cx="16369030" cy="780742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31750">
              <a:lnSpc>
                <a:spcPct val="100000"/>
              </a:lnSpc>
              <a:spcBef>
                <a:spcPts val="110"/>
              </a:spcBef>
            </a:pPr>
            <a:r>
              <a:rPr sz="5400" spc="135" dirty="0"/>
              <a:t>Role</a:t>
            </a:r>
            <a:r>
              <a:rPr sz="5400" spc="229" dirty="0"/>
              <a:t> </a:t>
            </a:r>
            <a:r>
              <a:rPr sz="5400" spc="155" dirty="0"/>
              <a:t>of</a:t>
            </a:r>
            <a:r>
              <a:rPr sz="5400" spc="250" dirty="0"/>
              <a:t> </a:t>
            </a:r>
            <a:r>
              <a:rPr sz="5400" spc="195" dirty="0"/>
              <a:t>the</a:t>
            </a:r>
            <a:r>
              <a:rPr sz="5400" spc="15" dirty="0"/>
              <a:t> </a:t>
            </a:r>
            <a:r>
              <a:rPr sz="5400" spc="175" dirty="0"/>
              <a:t>Project</a:t>
            </a:r>
            <a:endParaRPr sz="5400"/>
          </a:p>
        </p:txBody>
      </p:sp>
      <p:sp>
        <p:nvSpPr>
          <p:cNvPr id="3" name="object 3"/>
          <p:cNvSpPr txBox="1"/>
          <p:nvPr/>
        </p:nvSpPr>
        <p:spPr>
          <a:xfrm>
            <a:off x="1364266" y="2398221"/>
            <a:ext cx="17310735" cy="5252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60680" marR="241300" indent="-348615">
              <a:lnSpc>
                <a:spcPct val="119700"/>
              </a:lnSpc>
              <a:spcBef>
                <a:spcPts val="100"/>
              </a:spcBef>
              <a:buChar char="•"/>
              <a:tabLst>
                <a:tab pos="360680" algn="l"/>
                <a:tab pos="371475" algn="l"/>
              </a:tabLst>
            </a:pPr>
            <a:r>
              <a:rPr sz="3100" dirty="0">
                <a:latin typeface="Arial MT"/>
                <a:cs typeface="Arial MT"/>
              </a:rPr>
              <a:t>	Automating</a:t>
            </a:r>
            <a:r>
              <a:rPr sz="3100" spc="145" dirty="0">
                <a:latin typeface="Arial MT"/>
                <a:cs typeface="Arial MT"/>
              </a:rPr>
              <a:t> </a:t>
            </a:r>
            <a:r>
              <a:rPr sz="3100" dirty="0">
                <a:latin typeface="Arial MT"/>
                <a:cs typeface="Arial MT"/>
              </a:rPr>
              <a:t>Security</a:t>
            </a:r>
            <a:r>
              <a:rPr sz="3100" spc="70" dirty="0">
                <a:latin typeface="Arial MT"/>
                <a:cs typeface="Arial MT"/>
              </a:rPr>
              <a:t> </a:t>
            </a:r>
            <a:r>
              <a:rPr sz="3100" dirty="0">
                <a:latin typeface="Arial MT"/>
                <a:cs typeface="Arial MT"/>
              </a:rPr>
              <a:t>Operations:</a:t>
            </a:r>
            <a:r>
              <a:rPr sz="3100" spc="50" dirty="0">
                <a:latin typeface="Arial MT"/>
                <a:cs typeface="Arial MT"/>
              </a:rPr>
              <a:t> </a:t>
            </a:r>
            <a:r>
              <a:rPr sz="3100" spc="-65" dirty="0">
                <a:latin typeface="Arial MT"/>
                <a:cs typeface="Arial MT"/>
              </a:rPr>
              <a:t>The</a:t>
            </a:r>
            <a:r>
              <a:rPr sz="3100" spc="10" dirty="0">
                <a:latin typeface="Arial MT"/>
                <a:cs typeface="Arial MT"/>
              </a:rPr>
              <a:t> </a:t>
            </a:r>
            <a:r>
              <a:rPr sz="3100" spc="-60" dirty="0">
                <a:latin typeface="Arial MT"/>
                <a:cs typeface="Arial MT"/>
              </a:rPr>
              <a:t>primary</a:t>
            </a:r>
            <a:r>
              <a:rPr sz="3100" spc="45" dirty="0">
                <a:latin typeface="Arial MT"/>
                <a:cs typeface="Arial MT"/>
              </a:rPr>
              <a:t> </a:t>
            </a:r>
            <a:r>
              <a:rPr sz="3100" spc="-50" dirty="0">
                <a:latin typeface="Arial MT"/>
                <a:cs typeface="Arial MT"/>
              </a:rPr>
              <a:t>role </a:t>
            </a:r>
            <a:r>
              <a:rPr sz="3100" dirty="0">
                <a:latin typeface="Arial MT"/>
                <a:cs typeface="Arial MT"/>
              </a:rPr>
              <a:t>is</a:t>
            </a:r>
            <a:r>
              <a:rPr sz="3100" spc="-80" dirty="0">
                <a:latin typeface="Arial MT"/>
                <a:cs typeface="Arial MT"/>
              </a:rPr>
              <a:t> </a:t>
            </a:r>
            <a:r>
              <a:rPr sz="3100" dirty="0">
                <a:latin typeface="Arial MT"/>
                <a:cs typeface="Arial MT"/>
              </a:rPr>
              <a:t>to</a:t>
            </a:r>
            <a:r>
              <a:rPr sz="3100" spc="-85" dirty="0">
                <a:latin typeface="Arial MT"/>
                <a:cs typeface="Arial MT"/>
              </a:rPr>
              <a:t> </a:t>
            </a:r>
            <a:r>
              <a:rPr sz="3100" spc="-80" dirty="0">
                <a:latin typeface="Arial MT"/>
                <a:cs typeface="Arial MT"/>
              </a:rPr>
              <a:t>automate</a:t>
            </a:r>
            <a:r>
              <a:rPr sz="3100" spc="80" dirty="0">
                <a:latin typeface="Arial MT"/>
                <a:cs typeface="Arial MT"/>
              </a:rPr>
              <a:t> </a:t>
            </a:r>
            <a:r>
              <a:rPr sz="3100" spc="-45" dirty="0">
                <a:latin typeface="Arial MT"/>
                <a:cs typeface="Arial MT"/>
              </a:rPr>
              <a:t>the</a:t>
            </a:r>
            <a:r>
              <a:rPr sz="3100" spc="-75" dirty="0">
                <a:latin typeface="Arial MT"/>
                <a:cs typeface="Arial MT"/>
              </a:rPr>
              <a:t> </a:t>
            </a:r>
            <a:r>
              <a:rPr sz="3100" spc="-30" dirty="0">
                <a:latin typeface="Arial MT"/>
                <a:cs typeface="Arial MT"/>
              </a:rPr>
              <a:t>initial</a:t>
            </a:r>
            <a:r>
              <a:rPr sz="3100" spc="-15" dirty="0">
                <a:latin typeface="Arial MT"/>
                <a:cs typeface="Arial MT"/>
              </a:rPr>
              <a:t> </a:t>
            </a:r>
            <a:r>
              <a:rPr sz="3100" spc="-65" dirty="0">
                <a:latin typeface="Arial MT"/>
                <a:cs typeface="Arial MT"/>
              </a:rPr>
              <a:t>triage</a:t>
            </a:r>
            <a:r>
              <a:rPr sz="3100" spc="-30" dirty="0">
                <a:latin typeface="Arial MT"/>
                <a:cs typeface="Arial MT"/>
              </a:rPr>
              <a:t> </a:t>
            </a:r>
            <a:r>
              <a:rPr sz="3100" spc="-70" dirty="0">
                <a:latin typeface="Arial MT"/>
                <a:cs typeface="Arial MT"/>
              </a:rPr>
              <a:t>process</a:t>
            </a:r>
            <a:r>
              <a:rPr sz="3100" spc="-30" dirty="0">
                <a:latin typeface="Arial MT"/>
                <a:cs typeface="Arial MT"/>
              </a:rPr>
              <a:t> </a:t>
            </a:r>
            <a:r>
              <a:rPr sz="3100" spc="-10" dirty="0">
                <a:latin typeface="Arial MT"/>
                <a:cs typeface="Arial MT"/>
              </a:rPr>
              <a:t>typically </a:t>
            </a:r>
            <a:r>
              <a:rPr sz="3100" spc="-70" dirty="0">
                <a:latin typeface="Arial MT"/>
                <a:cs typeface="Arial MT"/>
              </a:rPr>
              <a:t>handled</a:t>
            </a:r>
            <a:r>
              <a:rPr sz="3100" spc="-150" dirty="0">
                <a:latin typeface="Arial MT"/>
                <a:cs typeface="Arial MT"/>
              </a:rPr>
              <a:t> </a:t>
            </a:r>
            <a:r>
              <a:rPr sz="3100" dirty="0">
                <a:latin typeface="Arial MT"/>
                <a:cs typeface="Arial MT"/>
              </a:rPr>
              <a:t>by</a:t>
            </a:r>
            <a:r>
              <a:rPr sz="3100" spc="-190" dirty="0">
                <a:latin typeface="Arial MT"/>
                <a:cs typeface="Arial MT"/>
              </a:rPr>
              <a:t> </a:t>
            </a:r>
            <a:r>
              <a:rPr sz="3100" spc="-85" dirty="0">
                <a:latin typeface="Arial MT"/>
                <a:cs typeface="Arial MT"/>
              </a:rPr>
              <a:t>Level</a:t>
            </a:r>
            <a:r>
              <a:rPr sz="3100" spc="-130" dirty="0">
                <a:latin typeface="Arial MT"/>
                <a:cs typeface="Arial MT"/>
              </a:rPr>
              <a:t> </a:t>
            </a:r>
            <a:r>
              <a:rPr sz="3100" dirty="0">
                <a:latin typeface="Arial MT"/>
                <a:cs typeface="Arial MT"/>
              </a:rPr>
              <a:t>1</a:t>
            </a:r>
            <a:r>
              <a:rPr sz="3100" spc="-114" dirty="0">
                <a:latin typeface="Arial MT"/>
                <a:cs typeface="Arial MT"/>
              </a:rPr>
              <a:t> </a:t>
            </a:r>
            <a:r>
              <a:rPr sz="3100" spc="-90" dirty="0">
                <a:latin typeface="Arial MT"/>
                <a:cs typeface="Arial MT"/>
              </a:rPr>
              <a:t>SOC</a:t>
            </a:r>
            <a:r>
              <a:rPr sz="3100" spc="-85" dirty="0">
                <a:latin typeface="Arial MT"/>
                <a:cs typeface="Arial MT"/>
              </a:rPr>
              <a:t> </a:t>
            </a:r>
            <a:r>
              <a:rPr sz="3100" spc="-65" dirty="0">
                <a:latin typeface="Arial MT"/>
                <a:cs typeface="Arial MT"/>
              </a:rPr>
              <a:t>analysts, </a:t>
            </a:r>
            <a:r>
              <a:rPr sz="3100" spc="-50" dirty="0">
                <a:latin typeface="Arial MT"/>
                <a:cs typeface="Arial MT"/>
              </a:rPr>
              <a:t>filtering</a:t>
            </a:r>
            <a:r>
              <a:rPr sz="3100" spc="-55" dirty="0">
                <a:latin typeface="Arial MT"/>
                <a:cs typeface="Arial MT"/>
              </a:rPr>
              <a:t> </a:t>
            </a:r>
            <a:r>
              <a:rPr sz="3100" spc="-45" dirty="0">
                <a:latin typeface="Arial MT"/>
                <a:cs typeface="Arial MT"/>
              </a:rPr>
              <a:t>out</a:t>
            </a:r>
            <a:r>
              <a:rPr sz="3100" spc="-170" dirty="0">
                <a:latin typeface="Arial MT"/>
                <a:cs typeface="Arial MT"/>
              </a:rPr>
              <a:t> </a:t>
            </a:r>
            <a:r>
              <a:rPr sz="3100" spc="-70" dirty="0">
                <a:latin typeface="Arial MT"/>
                <a:cs typeface="Arial MT"/>
              </a:rPr>
              <a:t>benign</a:t>
            </a:r>
            <a:r>
              <a:rPr sz="3100" spc="-105" dirty="0">
                <a:latin typeface="Arial MT"/>
                <a:cs typeface="Arial MT"/>
              </a:rPr>
              <a:t> </a:t>
            </a:r>
            <a:r>
              <a:rPr sz="3100" spc="-50" dirty="0">
                <a:latin typeface="Arial MT"/>
                <a:cs typeface="Arial MT"/>
              </a:rPr>
              <a:t>traffic</a:t>
            </a:r>
            <a:r>
              <a:rPr sz="3100" spc="-65" dirty="0">
                <a:latin typeface="Arial MT"/>
                <a:cs typeface="Arial MT"/>
              </a:rPr>
              <a:t> </a:t>
            </a:r>
            <a:r>
              <a:rPr sz="3100" spc="-10" dirty="0">
                <a:latin typeface="Arial MT"/>
                <a:cs typeface="Arial MT"/>
              </a:rPr>
              <a:t>instantly.</a:t>
            </a:r>
            <a:endParaRPr sz="3100">
              <a:latin typeface="Arial MT"/>
              <a:cs typeface="Arial MT"/>
            </a:endParaRPr>
          </a:p>
          <a:p>
            <a:pPr marL="356870" marR="563245" indent="-343535">
              <a:lnSpc>
                <a:spcPct val="125800"/>
              </a:lnSpc>
              <a:spcBef>
                <a:spcPts val="1825"/>
              </a:spcBef>
              <a:buChar char="•"/>
              <a:tabLst>
                <a:tab pos="367665" algn="l"/>
              </a:tabLst>
            </a:pPr>
            <a:r>
              <a:rPr sz="2950" spc="100" dirty="0">
                <a:latin typeface="Arial MT"/>
                <a:cs typeface="Arial MT"/>
              </a:rPr>
              <a:t>Enhancing</a:t>
            </a:r>
            <a:r>
              <a:rPr sz="2950" spc="95" dirty="0">
                <a:latin typeface="Arial MT"/>
                <a:cs typeface="Arial MT"/>
              </a:rPr>
              <a:t> </a:t>
            </a:r>
            <a:r>
              <a:rPr sz="2950" spc="90" dirty="0">
                <a:latin typeface="Arial MT"/>
                <a:cs typeface="Arial MT"/>
              </a:rPr>
              <a:t>Network</a:t>
            </a:r>
            <a:r>
              <a:rPr sz="2950" spc="60" dirty="0">
                <a:latin typeface="Arial MT"/>
                <a:cs typeface="Arial MT"/>
              </a:rPr>
              <a:t> </a:t>
            </a:r>
            <a:r>
              <a:rPr sz="2950" spc="70" dirty="0">
                <a:latin typeface="Arial MT"/>
                <a:cs typeface="Arial MT"/>
              </a:rPr>
              <a:t>Safety:</a:t>
            </a:r>
            <a:r>
              <a:rPr sz="2950" spc="8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Provides</a:t>
            </a:r>
            <a:r>
              <a:rPr sz="2950" spc="12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an</a:t>
            </a:r>
            <a:r>
              <a:rPr sz="2950" spc="1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early</a:t>
            </a:r>
            <a:r>
              <a:rPr sz="2950" spc="-2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warning</a:t>
            </a:r>
            <a:r>
              <a:rPr sz="2950" spc="12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system</a:t>
            </a:r>
            <a:r>
              <a:rPr sz="2950" spc="4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that</a:t>
            </a:r>
            <a:r>
              <a:rPr sz="2950" spc="-4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operates</a:t>
            </a:r>
            <a:r>
              <a:rPr sz="2950" spc="18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24/7</a:t>
            </a:r>
            <a:r>
              <a:rPr sz="2950" spc="-2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without</a:t>
            </a:r>
            <a:r>
              <a:rPr sz="2950" spc="114" dirty="0">
                <a:latin typeface="Arial MT"/>
                <a:cs typeface="Arial MT"/>
              </a:rPr>
              <a:t> </a:t>
            </a:r>
            <a:r>
              <a:rPr sz="2950" spc="-10" dirty="0">
                <a:latin typeface="Arial MT"/>
                <a:cs typeface="Arial MT"/>
              </a:rPr>
              <a:t>fatigue, 	</a:t>
            </a:r>
            <a:r>
              <a:rPr sz="2950" dirty="0">
                <a:latin typeface="Arial MT"/>
                <a:cs typeface="Arial MT"/>
              </a:rPr>
              <a:t>flagging</a:t>
            </a:r>
            <a:r>
              <a:rPr sz="2950" spc="-3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suspicious</a:t>
            </a:r>
            <a:r>
              <a:rPr sz="2950" spc="7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connections</a:t>
            </a:r>
            <a:r>
              <a:rPr sz="2950" spc="10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before</a:t>
            </a:r>
            <a:r>
              <a:rPr sz="2950" spc="-2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they</a:t>
            </a:r>
            <a:r>
              <a:rPr sz="2950" spc="-8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can</a:t>
            </a:r>
            <a:r>
              <a:rPr sz="2950" spc="-12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compromise</a:t>
            </a:r>
            <a:r>
              <a:rPr sz="2950" spc="8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sensitive</a:t>
            </a:r>
            <a:r>
              <a:rPr sz="2950" spc="60" dirty="0">
                <a:latin typeface="Arial MT"/>
                <a:cs typeface="Arial MT"/>
              </a:rPr>
              <a:t> </a:t>
            </a:r>
            <a:r>
              <a:rPr sz="2950" spc="-10" dirty="0">
                <a:latin typeface="Arial MT"/>
                <a:cs typeface="Arial MT"/>
              </a:rPr>
              <a:t>data.</a:t>
            </a:r>
            <a:endParaRPr sz="2950">
              <a:latin typeface="Arial MT"/>
              <a:cs typeface="Arial MT"/>
            </a:endParaRPr>
          </a:p>
          <a:p>
            <a:pPr marL="355600" marR="5080" indent="-343535">
              <a:lnSpc>
                <a:spcPct val="121300"/>
              </a:lnSpc>
              <a:spcBef>
                <a:spcPts val="1825"/>
              </a:spcBef>
              <a:buChar char="•"/>
              <a:tabLst>
                <a:tab pos="361315" algn="l"/>
              </a:tabLst>
            </a:pPr>
            <a:r>
              <a:rPr sz="3100" dirty="0">
                <a:latin typeface="Arial MT"/>
                <a:cs typeface="Arial MT"/>
              </a:rPr>
              <a:t>Reducing</a:t>
            </a:r>
            <a:r>
              <a:rPr sz="3100" spc="10" dirty="0">
                <a:latin typeface="Arial MT"/>
                <a:cs typeface="Arial MT"/>
              </a:rPr>
              <a:t> </a:t>
            </a:r>
            <a:r>
              <a:rPr sz="3100" dirty="0">
                <a:latin typeface="Arial MT"/>
                <a:cs typeface="Arial MT"/>
              </a:rPr>
              <a:t>Alert</a:t>
            </a:r>
            <a:r>
              <a:rPr sz="3100" spc="-95" dirty="0">
                <a:latin typeface="Arial MT"/>
                <a:cs typeface="Arial MT"/>
              </a:rPr>
              <a:t> </a:t>
            </a:r>
            <a:r>
              <a:rPr sz="3100" dirty="0">
                <a:latin typeface="Arial MT"/>
                <a:cs typeface="Arial MT"/>
              </a:rPr>
              <a:t>Fatigue:</a:t>
            </a:r>
            <a:r>
              <a:rPr sz="3100" spc="20" dirty="0">
                <a:latin typeface="Arial MT"/>
                <a:cs typeface="Arial MT"/>
              </a:rPr>
              <a:t> </a:t>
            </a:r>
            <a:r>
              <a:rPr sz="3100" spc="-60" dirty="0">
                <a:latin typeface="Arial MT"/>
                <a:cs typeface="Arial MT"/>
              </a:rPr>
              <a:t>By</a:t>
            </a:r>
            <a:r>
              <a:rPr sz="3100" spc="-155" dirty="0">
                <a:latin typeface="Arial MT"/>
                <a:cs typeface="Arial MT"/>
              </a:rPr>
              <a:t> </a:t>
            </a:r>
            <a:r>
              <a:rPr sz="3100" spc="-50" dirty="0">
                <a:latin typeface="Arial MT"/>
                <a:cs typeface="Arial MT"/>
              </a:rPr>
              <a:t>utilizing</a:t>
            </a:r>
            <a:r>
              <a:rPr sz="3100" spc="10" dirty="0">
                <a:latin typeface="Arial MT"/>
                <a:cs typeface="Arial MT"/>
              </a:rPr>
              <a:t> </a:t>
            </a:r>
            <a:r>
              <a:rPr sz="3100" spc="-105" dirty="0">
                <a:latin typeface="Arial MT"/>
                <a:cs typeface="Arial MT"/>
              </a:rPr>
              <a:t>high-</a:t>
            </a:r>
            <a:r>
              <a:rPr sz="3100" spc="-65" dirty="0">
                <a:latin typeface="Arial MT"/>
                <a:cs typeface="Arial MT"/>
              </a:rPr>
              <a:t>accuracy</a:t>
            </a:r>
            <a:r>
              <a:rPr sz="3100" spc="120" dirty="0">
                <a:latin typeface="Arial MT"/>
                <a:cs typeface="Arial MT"/>
              </a:rPr>
              <a:t> </a:t>
            </a:r>
            <a:r>
              <a:rPr sz="3100" spc="-75" dirty="0">
                <a:latin typeface="Arial MT"/>
                <a:cs typeface="Arial MT"/>
              </a:rPr>
              <a:t>machine</a:t>
            </a:r>
            <a:r>
              <a:rPr sz="3100" spc="25" dirty="0">
                <a:latin typeface="Arial MT"/>
                <a:cs typeface="Arial MT"/>
              </a:rPr>
              <a:t> </a:t>
            </a:r>
            <a:r>
              <a:rPr sz="3100" spc="-65" dirty="0">
                <a:latin typeface="Arial MT"/>
                <a:cs typeface="Arial MT"/>
              </a:rPr>
              <a:t>learning,</a:t>
            </a:r>
            <a:r>
              <a:rPr sz="3100" spc="20" dirty="0">
                <a:latin typeface="Arial MT"/>
                <a:cs typeface="Arial MT"/>
              </a:rPr>
              <a:t> </a:t>
            </a:r>
            <a:r>
              <a:rPr sz="3100" spc="-20" dirty="0">
                <a:latin typeface="Arial MT"/>
                <a:cs typeface="Arial MT"/>
              </a:rPr>
              <a:t>the</a:t>
            </a:r>
            <a:r>
              <a:rPr sz="3100" spc="-100" dirty="0">
                <a:latin typeface="Arial MT"/>
                <a:cs typeface="Arial MT"/>
              </a:rPr>
              <a:t> </a:t>
            </a:r>
            <a:r>
              <a:rPr sz="3100" spc="-60" dirty="0">
                <a:latin typeface="Arial MT"/>
                <a:cs typeface="Arial MT"/>
              </a:rPr>
              <a:t>system</a:t>
            </a:r>
            <a:r>
              <a:rPr sz="3100" spc="-10" dirty="0">
                <a:latin typeface="Arial MT"/>
                <a:cs typeface="Arial MT"/>
              </a:rPr>
              <a:t> </a:t>
            </a:r>
            <a:r>
              <a:rPr sz="3100" spc="-70" dirty="0">
                <a:latin typeface="Arial MT"/>
                <a:cs typeface="Arial MT"/>
              </a:rPr>
              <a:t>aims</a:t>
            </a:r>
            <a:r>
              <a:rPr sz="3100" spc="-65" dirty="0">
                <a:latin typeface="Arial MT"/>
                <a:cs typeface="Arial MT"/>
              </a:rPr>
              <a:t> </a:t>
            </a:r>
            <a:r>
              <a:rPr sz="3100" dirty="0">
                <a:latin typeface="Arial MT"/>
                <a:cs typeface="Arial MT"/>
              </a:rPr>
              <a:t>to</a:t>
            </a:r>
            <a:r>
              <a:rPr sz="3100" spc="-125" dirty="0">
                <a:latin typeface="Arial MT"/>
                <a:cs typeface="Arial MT"/>
              </a:rPr>
              <a:t> </a:t>
            </a:r>
            <a:r>
              <a:rPr sz="3100" spc="-10" dirty="0">
                <a:latin typeface="Arial MT"/>
                <a:cs typeface="Arial MT"/>
              </a:rPr>
              <a:t>significantly 	</a:t>
            </a:r>
            <a:r>
              <a:rPr sz="3100" spc="-60" dirty="0">
                <a:latin typeface="Arial MT"/>
                <a:cs typeface="Arial MT"/>
              </a:rPr>
              <a:t>reduce</a:t>
            </a:r>
            <a:r>
              <a:rPr sz="3100" spc="-160" dirty="0">
                <a:latin typeface="Arial MT"/>
                <a:cs typeface="Arial MT"/>
              </a:rPr>
              <a:t> </a:t>
            </a:r>
            <a:r>
              <a:rPr sz="3100" spc="-60" dirty="0">
                <a:latin typeface="Arial MT"/>
                <a:cs typeface="Arial MT"/>
              </a:rPr>
              <a:t>false</a:t>
            </a:r>
            <a:r>
              <a:rPr sz="3100" spc="-155" dirty="0">
                <a:latin typeface="Arial MT"/>
                <a:cs typeface="Arial MT"/>
              </a:rPr>
              <a:t> </a:t>
            </a:r>
            <a:r>
              <a:rPr sz="3100" spc="-55" dirty="0">
                <a:latin typeface="Arial MT"/>
                <a:cs typeface="Arial MT"/>
              </a:rPr>
              <a:t>positive</a:t>
            </a:r>
            <a:r>
              <a:rPr sz="3100" spc="-125" dirty="0">
                <a:latin typeface="Arial MT"/>
                <a:cs typeface="Arial MT"/>
              </a:rPr>
              <a:t> </a:t>
            </a:r>
            <a:r>
              <a:rPr sz="3100" spc="-40" dirty="0">
                <a:latin typeface="Arial MT"/>
                <a:cs typeface="Arial MT"/>
              </a:rPr>
              <a:t>alerts</a:t>
            </a:r>
            <a:r>
              <a:rPr sz="3100" spc="-145" dirty="0">
                <a:latin typeface="Arial MT"/>
                <a:cs typeface="Arial MT"/>
              </a:rPr>
              <a:t> </a:t>
            </a:r>
            <a:r>
              <a:rPr sz="3100" spc="-85" dirty="0">
                <a:latin typeface="Arial MT"/>
                <a:cs typeface="Arial MT"/>
              </a:rPr>
              <a:t>compared</a:t>
            </a:r>
            <a:r>
              <a:rPr sz="3100" spc="-90" dirty="0">
                <a:latin typeface="Arial MT"/>
                <a:cs typeface="Arial MT"/>
              </a:rPr>
              <a:t> </a:t>
            </a:r>
            <a:r>
              <a:rPr sz="3100" dirty="0">
                <a:latin typeface="Arial MT"/>
                <a:cs typeface="Arial MT"/>
              </a:rPr>
              <a:t>to</a:t>
            </a:r>
            <a:r>
              <a:rPr sz="3100" spc="-215" dirty="0">
                <a:latin typeface="Arial MT"/>
                <a:cs typeface="Arial MT"/>
              </a:rPr>
              <a:t> </a:t>
            </a:r>
            <a:r>
              <a:rPr sz="3100" spc="-60" dirty="0">
                <a:latin typeface="Arial MT"/>
                <a:cs typeface="Arial MT"/>
              </a:rPr>
              <a:t>traditional,</a:t>
            </a:r>
            <a:r>
              <a:rPr sz="3100" spc="5" dirty="0">
                <a:latin typeface="Arial MT"/>
                <a:cs typeface="Arial MT"/>
              </a:rPr>
              <a:t> </a:t>
            </a:r>
            <a:r>
              <a:rPr sz="3100" spc="-40" dirty="0">
                <a:latin typeface="Arial MT"/>
                <a:cs typeface="Arial MT"/>
              </a:rPr>
              <a:t>rigid</a:t>
            </a:r>
            <a:r>
              <a:rPr sz="3100" spc="-175" dirty="0">
                <a:latin typeface="Arial MT"/>
                <a:cs typeface="Arial MT"/>
              </a:rPr>
              <a:t> </a:t>
            </a:r>
            <a:r>
              <a:rPr sz="3100" spc="-55" dirty="0">
                <a:latin typeface="Arial MT"/>
                <a:cs typeface="Arial MT"/>
              </a:rPr>
              <a:t>firewall</a:t>
            </a:r>
            <a:r>
              <a:rPr sz="3100" spc="-140" dirty="0">
                <a:latin typeface="Arial MT"/>
                <a:cs typeface="Arial MT"/>
              </a:rPr>
              <a:t> </a:t>
            </a:r>
            <a:r>
              <a:rPr sz="3100" spc="-10" dirty="0">
                <a:latin typeface="Arial MT"/>
                <a:cs typeface="Arial MT"/>
              </a:rPr>
              <a:t>rules.</a:t>
            </a:r>
            <a:endParaRPr sz="3100">
              <a:latin typeface="Arial MT"/>
              <a:cs typeface="Arial MT"/>
            </a:endParaRPr>
          </a:p>
          <a:p>
            <a:pPr marL="358775" marR="518795" indent="-345440">
              <a:lnSpc>
                <a:spcPct val="125800"/>
              </a:lnSpc>
              <a:spcBef>
                <a:spcPts val="1760"/>
              </a:spcBef>
              <a:buChar char="•"/>
              <a:tabLst>
                <a:tab pos="361950" algn="l"/>
              </a:tabLst>
            </a:pPr>
            <a:r>
              <a:rPr sz="2950" spc="140" dirty="0">
                <a:latin typeface="Arial MT"/>
                <a:cs typeface="Arial MT"/>
              </a:rPr>
              <a:t>Bridging</a:t>
            </a:r>
            <a:r>
              <a:rPr sz="2950" spc="5" dirty="0">
                <a:latin typeface="Arial MT"/>
                <a:cs typeface="Arial MT"/>
              </a:rPr>
              <a:t> </a:t>
            </a:r>
            <a:r>
              <a:rPr sz="2950" spc="65" dirty="0">
                <a:latin typeface="Arial MT"/>
                <a:cs typeface="Arial MT"/>
              </a:rPr>
              <a:t>AI</a:t>
            </a:r>
            <a:r>
              <a:rPr sz="2950" spc="-140" dirty="0">
                <a:latin typeface="Arial MT"/>
                <a:cs typeface="Arial MT"/>
              </a:rPr>
              <a:t> </a:t>
            </a:r>
            <a:r>
              <a:rPr sz="2950" spc="90" dirty="0">
                <a:latin typeface="Arial MT"/>
                <a:cs typeface="Arial MT"/>
              </a:rPr>
              <a:t>and</a:t>
            </a:r>
            <a:r>
              <a:rPr sz="2950" spc="-95" dirty="0">
                <a:latin typeface="Arial MT"/>
                <a:cs typeface="Arial MT"/>
              </a:rPr>
              <a:t> </a:t>
            </a:r>
            <a:r>
              <a:rPr sz="2950" spc="130" dirty="0">
                <a:latin typeface="Arial MT"/>
                <a:cs typeface="Arial MT"/>
              </a:rPr>
              <a:t>Cybersecurity:</a:t>
            </a:r>
            <a:r>
              <a:rPr sz="2950" spc="-10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Demonstrates</a:t>
            </a:r>
            <a:r>
              <a:rPr sz="2950" spc="22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the practical</a:t>
            </a:r>
            <a:r>
              <a:rPr sz="2950" spc="12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application</a:t>
            </a:r>
            <a:r>
              <a:rPr sz="2950" spc="18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of</a:t>
            </a:r>
            <a:r>
              <a:rPr sz="2950" spc="-10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AI</a:t>
            </a:r>
            <a:r>
              <a:rPr sz="2950" spc="-5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in</a:t>
            </a:r>
            <a:r>
              <a:rPr sz="2950" spc="-7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modern</a:t>
            </a:r>
            <a:r>
              <a:rPr sz="2950" spc="105" dirty="0">
                <a:latin typeface="Arial MT"/>
                <a:cs typeface="Arial MT"/>
              </a:rPr>
              <a:t> </a:t>
            </a:r>
            <a:r>
              <a:rPr sz="2950" spc="-10" dirty="0">
                <a:latin typeface="Arial MT"/>
                <a:cs typeface="Arial MT"/>
              </a:rPr>
              <a:t>enterprise 	</a:t>
            </a:r>
            <a:r>
              <a:rPr sz="2950" dirty="0">
                <a:latin typeface="Arial MT"/>
                <a:cs typeface="Arial MT"/>
              </a:rPr>
              <a:t>infrastructure,</a:t>
            </a:r>
            <a:r>
              <a:rPr sz="2950" spc="-8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showing</a:t>
            </a:r>
            <a:r>
              <a:rPr sz="2950" spc="2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how</a:t>
            </a:r>
            <a:r>
              <a:rPr sz="2950" spc="-5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predictive</a:t>
            </a:r>
            <a:r>
              <a:rPr sz="2950" spc="11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models</a:t>
            </a:r>
            <a:r>
              <a:rPr sz="2950" spc="5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can</a:t>
            </a:r>
            <a:r>
              <a:rPr sz="2950" spc="-7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secure</a:t>
            </a:r>
            <a:r>
              <a:rPr sz="2950" spc="5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digital</a:t>
            </a:r>
            <a:r>
              <a:rPr sz="2950" spc="-60" dirty="0">
                <a:latin typeface="Arial MT"/>
                <a:cs typeface="Arial MT"/>
              </a:rPr>
              <a:t> </a:t>
            </a:r>
            <a:r>
              <a:rPr sz="2950" spc="-10" dirty="0">
                <a:latin typeface="Arial MT"/>
                <a:cs typeface="Arial MT"/>
              </a:rPr>
              <a:t>perimeters.</a:t>
            </a:r>
            <a:endParaRPr sz="295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8562768"/>
              </p:ext>
            </p:extLst>
          </p:nvPr>
        </p:nvGraphicFramePr>
        <p:xfrm>
          <a:off x="1232946" y="2677928"/>
          <a:ext cx="17583150" cy="75298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823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427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9580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75690">
                <a:tc>
                  <a:txBody>
                    <a:bodyPr/>
                    <a:lstStyle/>
                    <a:p>
                      <a:pPr marL="260350">
                        <a:lnSpc>
                          <a:spcPct val="100000"/>
                        </a:lnSpc>
                        <a:spcBef>
                          <a:spcPts val="1905"/>
                        </a:spcBef>
                      </a:pPr>
                      <a:r>
                        <a:rPr sz="2950" b="1" spc="-10" dirty="0">
                          <a:latin typeface="Arial"/>
                          <a:cs typeface="Arial"/>
                        </a:rPr>
                        <a:t>Category</a:t>
                      </a:r>
                      <a:endParaRPr sz="2950">
                        <a:latin typeface="Arial"/>
                        <a:cs typeface="Arial"/>
                      </a:endParaRPr>
                    </a:p>
                  </a:txBody>
                  <a:tcPr marL="0" marR="0" marT="241935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69875">
                        <a:lnSpc>
                          <a:spcPct val="100000"/>
                        </a:lnSpc>
                        <a:spcBef>
                          <a:spcPts val="1905"/>
                        </a:spcBef>
                      </a:pPr>
                      <a:r>
                        <a:rPr sz="2950" b="1" spc="90" dirty="0">
                          <a:latin typeface="Arial MT"/>
                          <a:cs typeface="Arial MT"/>
                        </a:rPr>
                        <a:t>Technology</a:t>
                      </a:r>
                      <a:r>
                        <a:rPr sz="2950" b="1" spc="16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b="1" spc="60" dirty="0">
                          <a:latin typeface="Arial MT"/>
                          <a:cs typeface="Arial MT"/>
                        </a:rPr>
                        <a:t>Used</a:t>
                      </a:r>
                      <a:endParaRPr sz="2950" b="1" dirty="0">
                        <a:latin typeface="Arial MT"/>
                        <a:cs typeface="Arial MT"/>
                      </a:endParaRPr>
                    </a:p>
                  </a:txBody>
                  <a:tcPr marL="0" marR="0" marT="241935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65430">
                        <a:lnSpc>
                          <a:spcPct val="100000"/>
                        </a:lnSpc>
                        <a:spcBef>
                          <a:spcPts val="1905"/>
                        </a:spcBef>
                      </a:pPr>
                      <a:r>
                        <a:rPr sz="2950" b="1" spc="105" dirty="0">
                          <a:latin typeface="Arial MT"/>
                          <a:cs typeface="Arial MT"/>
                        </a:rPr>
                        <a:t>Purpose</a:t>
                      </a:r>
                      <a:r>
                        <a:rPr sz="2950" b="1" spc="13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b="1" spc="75" dirty="0">
                          <a:latin typeface="Arial MT"/>
                          <a:cs typeface="Arial MT"/>
                        </a:rPr>
                        <a:t>in</a:t>
                      </a:r>
                      <a:r>
                        <a:rPr sz="2950" b="1" spc="14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b="1" spc="85" dirty="0">
                          <a:latin typeface="Arial MT"/>
                          <a:cs typeface="Arial MT"/>
                        </a:rPr>
                        <a:t>Project</a:t>
                      </a:r>
                      <a:endParaRPr sz="2950" b="1" dirty="0">
                        <a:latin typeface="Arial MT"/>
                        <a:cs typeface="Arial MT"/>
                      </a:endParaRPr>
                    </a:p>
                  </a:txBody>
                  <a:tcPr marL="0" marR="0" marT="241935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0972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50"/>
                        </a:spcBef>
                      </a:pPr>
                      <a:endParaRPr sz="2950" dirty="0">
                        <a:latin typeface="Times New Roman"/>
                        <a:cs typeface="Times New Roman"/>
                      </a:endParaRPr>
                    </a:p>
                    <a:p>
                      <a:pPr marL="259715">
                        <a:lnSpc>
                          <a:spcPct val="100000"/>
                        </a:lnSpc>
                      </a:pPr>
                      <a:r>
                        <a:rPr sz="2950" b="1" spc="114" dirty="0">
                          <a:latin typeface="Arial MT"/>
                          <a:cs typeface="Arial MT"/>
                        </a:rPr>
                        <a:t>Cloud</a:t>
                      </a:r>
                      <a:r>
                        <a:rPr sz="2950" b="1" spc="3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b="1" spc="95" dirty="0">
                          <a:latin typeface="Arial MT"/>
                          <a:cs typeface="Arial MT"/>
                        </a:rPr>
                        <a:t>Platform</a:t>
                      </a:r>
                      <a:endParaRPr sz="2950" b="1" dirty="0">
                        <a:latin typeface="Arial MT"/>
                        <a:cs typeface="Arial MT"/>
                      </a:endParaRPr>
                    </a:p>
                  </a:txBody>
                  <a:tcPr marL="0" marR="0" marT="6985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50"/>
                        </a:spcBef>
                      </a:pPr>
                      <a:endParaRPr sz="2950" dirty="0">
                        <a:latin typeface="Times New Roman"/>
                        <a:cs typeface="Times New Roman"/>
                      </a:endParaRPr>
                    </a:p>
                    <a:p>
                      <a:pPr marL="274955">
                        <a:lnSpc>
                          <a:spcPct val="100000"/>
                        </a:lnSpc>
                      </a:pPr>
                      <a:r>
                        <a:rPr sz="2950" dirty="0">
                          <a:latin typeface="Arial MT"/>
                          <a:cs typeface="Arial MT"/>
                        </a:rPr>
                        <a:t>IBM</a:t>
                      </a:r>
                      <a:r>
                        <a:rPr sz="2950" spc="-3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Cloud</a:t>
                      </a:r>
                      <a:r>
                        <a:rPr sz="2950" spc="6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spc="-20" dirty="0">
                          <a:latin typeface="Arial MT"/>
                          <a:cs typeface="Arial MT"/>
                        </a:rPr>
                        <a:t>Lite</a:t>
                      </a:r>
                      <a:endParaRPr sz="2950" dirty="0">
                        <a:latin typeface="Arial MT"/>
                        <a:cs typeface="Arial MT"/>
                      </a:endParaRPr>
                    </a:p>
                  </a:txBody>
                  <a:tcPr marL="0" marR="0" marT="6985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2415" marR="762635">
                        <a:lnSpc>
                          <a:spcPct val="125800"/>
                        </a:lnSpc>
                        <a:spcBef>
                          <a:spcPts val="805"/>
                        </a:spcBef>
                      </a:pPr>
                      <a:r>
                        <a:rPr sz="2950" dirty="0">
                          <a:latin typeface="Arial MT"/>
                          <a:cs typeface="Arial MT"/>
                        </a:rPr>
                        <a:t>Provides</a:t>
                      </a:r>
                      <a:r>
                        <a:rPr sz="2950" spc="5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Platform</a:t>
                      </a:r>
                      <a:r>
                        <a:rPr sz="2950" spc="4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as</a:t>
                      </a:r>
                      <a:r>
                        <a:rPr sz="2950" spc="-9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spc="110" dirty="0">
                          <a:latin typeface="Arial MT"/>
                          <a:cs typeface="Arial MT"/>
                        </a:rPr>
                        <a:t>a</a:t>
                      </a:r>
                      <a:r>
                        <a:rPr sz="2950" spc="-204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Service</a:t>
                      </a:r>
                      <a:r>
                        <a:rPr sz="2950" spc="3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(PaaS)</a:t>
                      </a:r>
                      <a:r>
                        <a:rPr sz="2950" spc="9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for</a:t>
                      </a:r>
                      <a:r>
                        <a:rPr sz="2950" spc="-3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hosting</a:t>
                      </a:r>
                      <a:r>
                        <a:rPr sz="2950" spc="4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spc="-25" dirty="0">
                          <a:latin typeface="Arial MT"/>
                          <a:cs typeface="Arial MT"/>
                        </a:rPr>
                        <a:t>the 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entire</a:t>
                      </a:r>
                      <a:r>
                        <a:rPr sz="2950" spc="-4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architecture</a:t>
                      </a:r>
                      <a:r>
                        <a:rPr sz="2950" spc="4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without</a:t>
                      </a:r>
                      <a:r>
                        <a:rPr sz="2950" spc="-5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hardware</a:t>
                      </a:r>
                      <a:r>
                        <a:rPr sz="2950" spc="4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spc="-10" dirty="0">
                          <a:latin typeface="Arial MT"/>
                          <a:cs typeface="Arial MT"/>
                        </a:rPr>
                        <a:t>management.</a:t>
                      </a:r>
                      <a:endParaRPr sz="2950">
                        <a:latin typeface="Arial MT"/>
                        <a:cs typeface="Arial MT"/>
                      </a:endParaRPr>
                    </a:p>
                  </a:txBody>
                  <a:tcPr marL="0" marR="0" marT="102235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17345">
                <a:tc>
                  <a:txBody>
                    <a:bodyPr/>
                    <a:lstStyle/>
                    <a:p>
                      <a:pPr marL="257175" marR="1462405" indent="1905">
                        <a:lnSpc>
                          <a:spcPct val="125800"/>
                        </a:lnSpc>
                        <a:spcBef>
                          <a:spcPts val="865"/>
                        </a:spcBef>
                      </a:pPr>
                      <a:r>
                        <a:rPr sz="2950" b="1" spc="-10" dirty="0">
                          <a:latin typeface="Arial"/>
                          <a:cs typeface="Arial"/>
                        </a:rPr>
                        <a:t>Machine </a:t>
                      </a:r>
                      <a:r>
                        <a:rPr sz="2950" b="1" spc="-40" dirty="0">
                          <a:latin typeface="Arial"/>
                          <a:cs typeface="Arial"/>
                        </a:rPr>
                        <a:t>Learning</a:t>
                      </a:r>
                      <a:endParaRPr sz="2950">
                        <a:latin typeface="Arial"/>
                        <a:cs typeface="Arial"/>
                      </a:endParaRPr>
                    </a:p>
                  </a:txBody>
                  <a:tcPr marL="0" marR="0" marT="109855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10"/>
                        </a:spcBef>
                      </a:pPr>
                      <a:endParaRPr sz="2950">
                        <a:latin typeface="Times New Roman"/>
                        <a:cs typeface="Times New Roman"/>
                      </a:endParaRPr>
                    </a:p>
                    <a:p>
                      <a:pPr marL="27495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950" dirty="0">
                          <a:latin typeface="Arial MT"/>
                          <a:cs typeface="Arial MT"/>
                        </a:rPr>
                        <a:t>IBM</a:t>
                      </a:r>
                      <a:r>
                        <a:rPr sz="2950" spc="-10" dirty="0">
                          <a:latin typeface="Arial MT"/>
                          <a:cs typeface="Arial MT"/>
                        </a:rPr>
                        <a:t> watsonx.ai</a:t>
                      </a:r>
                      <a:endParaRPr sz="2950">
                        <a:latin typeface="Arial MT"/>
                        <a:cs typeface="Arial MT"/>
                      </a:endParaRPr>
                    </a:p>
                  </a:txBody>
                  <a:tcPr marL="0" marR="0" marT="7747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1780" marR="325120">
                        <a:lnSpc>
                          <a:spcPct val="125800"/>
                        </a:lnSpc>
                        <a:spcBef>
                          <a:spcPts val="865"/>
                        </a:spcBef>
                      </a:pPr>
                      <a:r>
                        <a:rPr sz="2950" dirty="0">
                          <a:latin typeface="Arial MT"/>
                          <a:cs typeface="Arial MT"/>
                        </a:rPr>
                        <a:t>Used</a:t>
                      </a:r>
                      <a:r>
                        <a:rPr sz="2950" spc="-3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for</a:t>
                      </a:r>
                      <a:r>
                        <a:rPr sz="2950" spc="-1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spc="-40" dirty="0">
                          <a:latin typeface="Arial MT"/>
                          <a:cs typeface="Arial MT"/>
                        </a:rPr>
                        <a:t>end-</a:t>
                      </a:r>
                      <a:r>
                        <a:rPr sz="2950" spc="-35" dirty="0">
                          <a:latin typeface="Arial MT"/>
                          <a:cs typeface="Arial MT"/>
                        </a:rPr>
                        <a:t>to-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end</a:t>
                      </a:r>
                      <a:r>
                        <a:rPr sz="2950" spc="114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model</a:t>
                      </a:r>
                      <a:r>
                        <a:rPr sz="2950" spc="-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lifecycle</a:t>
                      </a:r>
                      <a:r>
                        <a:rPr sz="2950" spc="3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management</a:t>
                      </a:r>
                      <a:r>
                        <a:rPr sz="2950" spc="16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spc="-10" dirty="0">
                          <a:latin typeface="Arial MT"/>
                          <a:cs typeface="Arial MT"/>
                        </a:rPr>
                        <a:t>(build, 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train,</a:t>
                      </a:r>
                      <a:r>
                        <a:rPr sz="2950" spc="-114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spc="-10" dirty="0">
                          <a:latin typeface="Arial MT"/>
                          <a:cs typeface="Arial MT"/>
                        </a:rPr>
                        <a:t>deploy,</a:t>
                      </a:r>
                      <a:r>
                        <a:rPr sz="2950" spc="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spc="-10" dirty="0">
                          <a:latin typeface="Arial MT"/>
                          <a:cs typeface="Arial MT"/>
                        </a:rPr>
                        <a:t>govern).</a:t>
                      </a:r>
                      <a:endParaRPr sz="2950">
                        <a:latin typeface="Arial MT"/>
                        <a:cs typeface="Arial MT"/>
                      </a:endParaRPr>
                    </a:p>
                  </a:txBody>
                  <a:tcPr marL="0" marR="0" marT="109855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734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10"/>
                        </a:spcBef>
                      </a:pPr>
                      <a:endParaRPr sz="2950">
                        <a:latin typeface="Times New Roman"/>
                        <a:cs typeface="Times New Roman"/>
                      </a:endParaRPr>
                    </a:p>
                    <a:p>
                      <a:pPr marL="268605">
                        <a:lnSpc>
                          <a:spcPct val="100000"/>
                        </a:lnSpc>
                        <a:spcBef>
                          <a:spcPts val="5"/>
                        </a:spcBef>
                        <a:tabLst>
                          <a:tab pos="1201420" algn="l"/>
                        </a:tabLst>
                      </a:pPr>
                      <a:r>
                        <a:rPr sz="2950" b="1" spc="-20" dirty="0">
                          <a:latin typeface="Cambria"/>
                          <a:cs typeface="Cambria"/>
                        </a:rPr>
                        <a:t>Data</a:t>
                      </a:r>
                      <a:r>
                        <a:rPr sz="2950" b="1" dirty="0">
                          <a:latin typeface="Cambria"/>
                          <a:cs typeface="Cambria"/>
                        </a:rPr>
                        <a:t>	</a:t>
                      </a:r>
                      <a:r>
                        <a:rPr sz="2950" b="1" spc="45" dirty="0">
                          <a:latin typeface="Cambria"/>
                          <a:cs typeface="Cambria"/>
                        </a:rPr>
                        <a:t>format</a:t>
                      </a:r>
                      <a:endParaRPr sz="2950">
                        <a:latin typeface="Cambria"/>
                        <a:cs typeface="Cambria"/>
                      </a:endParaRPr>
                    </a:p>
                  </a:txBody>
                  <a:tcPr marL="0" marR="0" marT="7747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6225" marR="1106805" indent="-635">
                        <a:lnSpc>
                          <a:spcPct val="124000"/>
                        </a:lnSpc>
                        <a:spcBef>
                          <a:spcPts val="990"/>
                        </a:spcBef>
                      </a:pPr>
                      <a:r>
                        <a:rPr sz="2950" dirty="0">
                          <a:latin typeface="Arial MT"/>
                          <a:cs typeface="Arial MT"/>
                        </a:rPr>
                        <a:t>JSON </a:t>
                      </a:r>
                      <a:r>
                        <a:rPr sz="2950" spc="-30" dirty="0">
                          <a:latin typeface="Arial MT"/>
                          <a:cs typeface="Arial MT"/>
                        </a:rPr>
                        <a:t>(JavaScript 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Object</a:t>
                      </a:r>
                      <a:r>
                        <a:rPr sz="2950" spc="-2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spc="-10" dirty="0">
                          <a:latin typeface="Arial MT"/>
                          <a:cs typeface="Arial MT"/>
                        </a:rPr>
                        <a:t>Notation)</a:t>
                      </a:r>
                      <a:endParaRPr sz="2950">
                        <a:latin typeface="Arial MT"/>
                        <a:cs typeface="Arial MT"/>
                      </a:endParaRPr>
                    </a:p>
                  </a:txBody>
                  <a:tcPr marL="0" marR="0" marT="12573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69240" marR="804545">
                        <a:lnSpc>
                          <a:spcPct val="124000"/>
                        </a:lnSpc>
                        <a:spcBef>
                          <a:spcPts val="990"/>
                        </a:spcBef>
                      </a:pPr>
                      <a:r>
                        <a:rPr sz="2950" dirty="0">
                          <a:latin typeface="Arial MT"/>
                          <a:cs typeface="Arial MT"/>
                        </a:rPr>
                        <a:t>The</a:t>
                      </a:r>
                      <a:r>
                        <a:rPr sz="2950" spc="-4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lightweight</a:t>
                      </a:r>
                      <a:r>
                        <a:rPr sz="2950" spc="21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spc="-10" dirty="0">
                          <a:latin typeface="Arial MT"/>
                          <a:cs typeface="Arial MT"/>
                        </a:rPr>
                        <a:t>data-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interchange</a:t>
                      </a:r>
                      <a:r>
                        <a:rPr sz="2950" spc="-3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format</a:t>
                      </a:r>
                      <a:r>
                        <a:rPr sz="2950" spc="2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used</a:t>
                      </a:r>
                      <a:r>
                        <a:rPr sz="2950" spc="-4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to</a:t>
                      </a:r>
                      <a:r>
                        <a:rPr sz="2950" spc="-8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spc="-20" dirty="0">
                          <a:latin typeface="Arial MT"/>
                          <a:cs typeface="Arial MT"/>
                        </a:rPr>
                        <a:t>pass 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packet</a:t>
                      </a:r>
                      <a:r>
                        <a:rPr sz="2950" spc="4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features</a:t>
                      </a:r>
                      <a:r>
                        <a:rPr sz="2950" spc="-1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dirty="0">
                          <a:solidFill>
                            <a:srgbClr val="000526"/>
                          </a:solidFill>
                          <a:latin typeface="Arial MT"/>
                          <a:cs typeface="Arial MT"/>
                        </a:rPr>
                        <a:t>to</a:t>
                      </a:r>
                      <a:r>
                        <a:rPr sz="2950" spc="-75" dirty="0">
                          <a:solidFill>
                            <a:srgbClr val="000526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dirty="0">
                          <a:solidFill>
                            <a:srgbClr val="000511"/>
                          </a:solidFill>
                          <a:latin typeface="Arial MT"/>
                          <a:cs typeface="Arial MT"/>
                        </a:rPr>
                        <a:t>the</a:t>
                      </a:r>
                      <a:r>
                        <a:rPr sz="2950" spc="-30" dirty="0">
                          <a:solidFill>
                            <a:srgbClr val="0005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deployed</a:t>
                      </a:r>
                      <a:r>
                        <a:rPr sz="2950" spc="10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spc="-10" dirty="0">
                          <a:latin typeface="Arial MT"/>
                          <a:cs typeface="Arial MT"/>
                        </a:rPr>
                        <a:t>endpoint.</a:t>
                      </a:r>
                      <a:endParaRPr sz="2950">
                        <a:latin typeface="Arial MT"/>
                        <a:cs typeface="Arial MT"/>
                      </a:endParaRPr>
                    </a:p>
                  </a:txBody>
                  <a:tcPr marL="0" marR="0" marT="12573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0972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10"/>
                        </a:spcBef>
                      </a:pPr>
                      <a:endParaRPr sz="2950" dirty="0">
                        <a:latin typeface="Times New Roman"/>
                        <a:cs typeface="Times New Roman"/>
                      </a:endParaRPr>
                    </a:p>
                    <a:p>
                      <a:pPr marL="25717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950" b="1" spc="95" dirty="0">
                          <a:latin typeface="Arial MT"/>
                          <a:cs typeface="Arial MT"/>
                        </a:rPr>
                        <a:t>Programming</a:t>
                      </a:r>
                      <a:endParaRPr sz="2950" b="1" dirty="0">
                        <a:latin typeface="Arial MT"/>
                        <a:cs typeface="Arial MT"/>
                      </a:endParaRPr>
                    </a:p>
                  </a:txBody>
                  <a:tcPr marL="0" marR="0" marT="7747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10"/>
                        </a:spcBef>
                      </a:pPr>
                      <a:endParaRPr sz="2950">
                        <a:latin typeface="Times New Roman"/>
                        <a:cs typeface="Times New Roman"/>
                      </a:endParaRPr>
                    </a:p>
                    <a:p>
                      <a:pPr marL="273050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950" dirty="0">
                          <a:latin typeface="Arial MT"/>
                          <a:cs typeface="Arial MT"/>
                        </a:rPr>
                        <a:t>Python</a:t>
                      </a:r>
                      <a:r>
                        <a:rPr sz="2950" spc="2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spc="-10" dirty="0">
                          <a:latin typeface="Arial MT"/>
                          <a:cs typeface="Arial MT"/>
                        </a:rPr>
                        <a:t>(Scikit-Learn)</a:t>
                      </a:r>
                      <a:endParaRPr sz="2950">
                        <a:latin typeface="Arial MT"/>
                        <a:cs typeface="Arial MT"/>
                      </a:endParaRPr>
                    </a:p>
                  </a:txBody>
                  <a:tcPr marL="0" marR="0" marT="7747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1145" marR="664210" indent="-1905">
                        <a:lnSpc>
                          <a:spcPct val="127499"/>
                        </a:lnSpc>
                        <a:spcBef>
                          <a:spcPts val="805"/>
                        </a:spcBef>
                      </a:pPr>
                      <a:r>
                        <a:rPr sz="2950" dirty="0">
                          <a:latin typeface="Arial MT"/>
                          <a:cs typeface="Arial MT"/>
                        </a:rPr>
                        <a:t>The</a:t>
                      </a:r>
                      <a:r>
                        <a:rPr sz="2950" spc="-5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dirty="0">
                          <a:solidFill>
                            <a:srgbClr val="000511"/>
                          </a:solidFill>
                          <a:latin typeface="Arial MT"/>
                          <a:cs typeface="Arial MT"/>
                        </a:rPr>
                        <a:t>core</a:t>
                      </a:r>
                      <a:r>
                        <a:rPr sz="2950" spc="-45" dirty="0">
                          <a:solidFill>
                            <a:srgbClr val="000511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logic</a:t>
                      </a:r>
                      <a:r>
                        <a:rPr sz="2950" spc="8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for</a:t>
                      </a:r>
                      <a:r>
                        <a:rPr sz="2950" spc="4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defining</a:t>
                      </a:r>
                      <a:r>
                        <a:rPr sz="2950" spc="5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the</a:t>
                      </a:r>
                      <a:r>
                        <a:rPr sz="2950" spc="1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classification</a:t>
                      </a:r>
                      <a:r>
                        <a:rPr sz="2950" spc="-9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spc="-10" dirty="0">
                          <a:latin typeface="Arial MT"/>
                          <a:cs typeface="Arial MT"/>
                        </a:rPr>
                        <a:t>algorithms 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(e.g.,</a:t>
                      </a:r>
                      <a:r>
                        <a:rPr sz="2950" spc="-3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dirty="0">
                          <a:latin typeface="Arial MT"/>
                          <a:cs typeface="Arial MT"/>
                        </a:rPr>
                        <a:t>Decision</a:t>
                      </a:r>
                      <a:r>
                        <a:rPr sz="2950" spc="-7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2950" spc="-10" dirty="0">
                          <a:latin typeface="Arial MT"/>
                          <a:cs typeface="Arial MT"/>
                        </a:rPr>
                        <a:t>Trees).</a:t>
                      </a:r>
                      <a:endParaRPr sz="2950" dirty="0">
                        <a:latin typeface="Arial MT"/>
                        <a:cs typeface="Arial MT"/>
                      </a:endParaRPr>
                    </a:p>
                  </a:txBody>
                  <a:tcPr marL="0" marR="0" marT="102235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30480">
              <a:lnSpc>
                <a:spcPct val="100000"/>
              </a:lnSpc>
              <a:spcBef>
                <a:spcPts val="110"/>
              </a:spcBef>
            </a:pPr>
            <a:r>
              <a:rPr sz="5400" spc="165" dirty="0"/>
              <a:t>Technology</a:t>
            </a:r>
            <a:r>
              <a:rPr sz="5400" spc="545" dirty="0"/>
              <a:t> </a:t>
            </a:r>
            <a:r>
              <a:rPr sz="5400" spc="130" dirty="0"/>
              <a:t>Details</a:t>
            </a:r>
            <a:endParaRPr sz="54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110"/>
              </a:spcBef>
            </a:pPr>
            <a:r>
              <a:rPr sz="5400" spc="180" dirty="0"/>
              <a:t>Novelty</a:t>
            </a:r>
            <a:r>
              <a:rPr sz="5400" spc="370" dirty="0"/>
              <a:t> </a:t>
            </a:r>
            <a:r>
              <a:rPr sz="5400" spc="175" dirty="0"/>
              <a:t>and</a:t>
            </a:r>
            <a:r>
              <a:rPr sz="5400" spc="20" dirty="0"/>
              <a:t> </a:t>
            </a:r>
            <a:r>
              <a:rPr sz="5400" spc="160" dirty="0"/>
              <a:t>Uniqueness</a:t>
            </a:r>
            <a:endParaRPr sz="5400"/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8255" rIns="0" bIns="0" rtlCol="0">
            <a:spAutoFit/>
          </a:bodyPr>
          <a:lstStyle/>
          <a:p>
            <a:pPr marL="394970" marR="1215390" indent="-348615">
              <a:lnSpc>
                <a:spcPct val="126600"/>
              </a:lnSpc>
              <a:spcBef>
                <a:spcPts val="65"/>
              </a:spcBef>
              <a:buChar char="•"/>
              <a:tabLst>
                <a:tab pos="395605" algn="l"/>
                <a:tab pos="405765" algn="l"/>
              </a:tabLst>
            </a:pPr>
            <a:r>
              <a:rPr dirty="0"/>
              <a:t>	</a:t>
            </a:r>
            <a:r>
              <a:rPr spc="95" dirty="0"/>
              <a:t>Anomaly</a:t>
            </a:r>
            <a:r>
              <a:rPr spc="90" dirty="0"/>
              <a:t> </a:t>
            </a:r>
            <a:r>
              <a:rPr spc="70" dirty="0"/>
              <a:t>vs.</a:t>
            </a:r>
            <a:r>
              <a:rPr spc="35" dirty="0"/>
              <a:t> </a:t>
            </a:r>
            <a:r>
              <a:rPr spc="85" dirty="0"/>
              <a:t>Signature:</a:t>
            </a:r>
            <a:r>
              <a:rPr spc="100" dirty="0"/>
              <a:t> </a:t>
            </a:r>
            <a:r>
              <a:rPr dirty="0"/>
              <a:t>Traditional</a:t>
            </a:r>
            <a:r>
              <a:rPr spc="90" dirty="0"/>
              <a:t> </a:t>
            </a:r>
            <a:r>
              <a:rPr dirty="0"/>
              <a:t>firewalls</a:t>
            </a:r>
            <a:r>
              <a:rPr spc="100" dirty="0"/>
              <a:t> </a:t>
            </a:r>
            <a:r>
              <a:rPr dirty="0"/>
              <a:t>rely</a:t>
            </a:r>
            <a:r>
              <a:rPr spc="55" dirty="0"/>
              <a:t> </a:t>
            </a:r>
            <a:r>
              <a:rPr dirty="0">
                <a:solidFill>
                  <a:srgbClr val="000818"/>
                </a:solidFill>
              </a:rPr>
              <a:t>on</a:t>
            </a:r>
            <a:r>
              <a:rPr spc="-15" dirty="0">
                <a:solidFill>
                  <a:srgbClr val="000818"/>
                </a:solidFill>
              </a:rPr>
              <a:t> </a:t>
            </a:r>
            <a:r>
              <a:rPr spc="-40" dirty="0"/>
              <a:t>pre-</a:t>
            </a:r>
            <a:r>
              <a:rPr dirty="0"/>
              <a:t>written</a:t>
            </a:r>
            <a:r>
              <a:rPr spc="170" dirty="0"/>
              <a:t> </a:t>
            </a:r>
            <a:r>
              <a:rPr dirty="0"/>
              <a:t>signatures</a:t>
            </a:r>
            <a:r>
              <a:rPr spc="45" dirty="0"/>
              <a:t> </a:t>
            </a:r>
            <a:r>
              <a:rPr spc="-25" dirty="0"/>
              <a:t>(If-</a:t>
            </a:r>
            <a:r>
              <a:rPr dirty="0"/>
              <a:t>Then</a:t>
            </a:r>
            <a:r>
              <a:rPr spc="45" dirty="0"/>
              <a:t> </a:t>
            </a:r>
            <a:r>
              <a:rPr dirty="0"/>
              <a:t>rules).</a:t>
            </a:r>
            <a:r>
              <a:rPr spc="35" dirty="0"/>
              <a:t> </a:t>
            </a:r>
            <a:r>
              <a:rPr spc="-20" dirty="0"/>
              <a:t>This </a:t>
            </a:r>
            <a:r>
              <a:rPr dirty="0"/>
              <a:t>project's</a:t>
            </a:r>
            <a:r>
              <a:rPr spc="-10" dirty="0"/>
              <a:t> </a:t>
            </a:r>
            <a:r>
              <a:rPr dirty="0"/>
              <a:t>novelty</a:t>
            </a:r>
            <a:r>
              <a:rPr spc="20" dirty="0"/>
              <a:t> </a:t>
            </a:r>
            <a:r>
              <a:rPr dirty="0"/>
              <a:t>lies</a:t>
            </a:r>
            <a:r>
              <a:rPr spc="-80" dirty="0"/>
              <a:t> </a:t>
            </a:r>
            <a:r>
              <a:rPr dirty="0"/>
              <a:t>in</a:t>
            </a:r>
            <a:r>
              <a:rPr spc="-155" dirty="0"/>
              <a:t> </a:t>
            </a:r>
            <a:r>
              <a:rPr dirty="0"/>
              <a:t>its</a:t>
            </a:r>
            <a:r>
              <a:rPr spc="-30" dirty="0"/>
              <a:t> </a:t>
            </a:r>
            <a:r>
              <a:rPr dirty="0"/>
              <a:t>ability</a:t>
            </a:r>
            <a:r>
              <a:rPr spc="-60" dirty="0"/>
              <a:t> </a:t>
            </a:r>
            <a:r>
              <a:rPr dirty="0"/>
              <a:t>to</a:t>
            </a:r>
            <a:r>
              <a:rPr spc="-105" dirty="0"/>
              <a:t> </a:t>
            </a:r>
            <a:r>
              <a:rPr dirty="0"/>
              <a:t>understand</a:t>
            </a:r>
            <a:r>
              <a:rPr spc="120" dirty="0"/>
              <a:t> </a:t>
            </a:r>
            <a:r>
              <a:rPr dirty="0"/>
              <a:t>the</a:t>
            </a:r>
            <a:r>
              <a:rPr spc="-30" dirty="0"/>
              <a:t> </a:t>
            </a:r>
            <a:r>
              <a:rPr dirty="0"/>
              <a:t>mathematical</a:t>
            </a:r>
            <a:r>
              <a:rPr spc="150" dirty="0"/>
              <a:t> </a:t>
            </a:r>
            <a:r>
              <a:rPr dirty="0"/>
              <a:t>relationship</a:t>
            </a:r>
            <a:r>
              <a:rPr spc="150" dirty="0"/>
              <a:t> </a:t>
            </a:r>
            <a:r>
              <a:rPr dirty="0"/>
              <a:t>between</a:t>
            </a:r>
            <a:r>
              <a:rPr spc="75" dirty="0"/>
              <a:t> </a:t>
            </a:r>
            <a:r>
              <a:rPr spc="-10" dirty="0"/>
              <a:t>network </a:t>
            </a:r>
            <a:r>
              <a:rPr dirty="0"/>
              <a:t>features,</a:t>
            </a:r>
            <a:r>
              <a:rPr spc="60" dirty="0"/>
              <a:t> </a:t>
            </a:r>
            <a:r>
              <a:rPr dirty="0"/>
              <a:t>acting</a:t>
            </a:r>
            <a:r>
              <a:rPr spc="35" dirty="0"/>
              <a:t> </a:t>
            </a:r>
            <a:r>
              <a:rPr dirty="0"/>
              <a:t>as</a:t>
            </a:r>
            <a:r>
              <a:rPr spc="-85" dirty="0"/>
              <a:t> </a:t>
            </a:r>
            <a:r>
              <a:rPr dirty="0">
                <a:solidFill>
                  <a:srgbClr val="00080F"/>
                </a:solidFill>
              </a:rPr>
              <a:t>an</a:t>
            </a:r>
            <a:r>
              <a:rPr spc="-85" dirty="0">
                <a:solidFill>
                  <a:srgbClr val="00080F"/>
                </a:solidFill>
              </a:rPr>
              <a:t> </a:t>
            </a:r>
            <a:r>
              <a:rPr dirty="0"/>
              <a:t>anomaly</a:t>
            </a:r>
            <a:r>
              <a:rPr spc="85" dirty="0"/>
              <a:t> </a:t>
            </a:r>
            <a:r>
              <a:rPr spc="-10" dirty="0"/>
              <a:t>detector.</a:t>
            </a:r>
          </a:p>
          <a:p>
            <a:pPr marL="397510" marR="5080" indent="-351155">
              <a:lnSpc>
                <a:spcPct val="125800"/>
              </a:lnSpc>
              <a:spcBef>
                <a:spcPts val="1795"/>
              </a:spcBef>
              <a:buChar char="•"/>
              <a:tabLst>
                <a:tab pos="398145" algn="l"/>
              </a:tabLst>
            </a:pPr>
            <a:r>
              <a:rPr dirty="0"/>
              <a:t>Zero-Day</a:t>
            </a:r>
            <a:r>
              <a:rPr spc="155" dirty="0"/>
              <a:t> </a:t>
            </a:r>
            <a:r>
              <a:rPr spc="65" dirty="0"/>
              <a:t>Threat</a:t>
            </a:r>
            <a:r>
              <a:rPr spc="45" dirty="0"/>
              <a:t> </a:t>
            </a:r>
            <a:r>
              <a:rPr spc="85" dirty="0"/>
              <a:t>Detection:</a:t>
            </a:r>
            <a:r>
              <a:rPr spc="190" dirty="0"/>
              <a:t> </a:t>
            </a:r>
            <a:r>
              <a:rPr dirty="0"/>
              <a:t>Because</a:t>
            </a:r>
            <a:r>
              <a:rPr spc="145" dirty="0"/>
              <a:t> </a:t>
            </a:r>
            <a:r>
              <a:rPr dirty="0"/>
              <a:t>the</a:t>
            </a:r>
            <a:r>
              <a:rPr spc="55" dirty="0"/>
              <a:t> </a:t>
            </a:r>
            <a:r>
              <a:rPr dirty="0"/>
              <a:t>model</a:t>
            </a:r>
            <a:r>
              <a:rPr spc="100" dirty="0"/>
              <a:t> </a:t>
            </a:r>
            <a:r>
              <a:rPr dirty="0"/>
              <a:t>learns</a:t>
            </a:r>
            <a:r>
              <a:rPr spc="90" dirty="0"/>
              <a:t> </a:t>
            </a:r>
            <a:r>
              <a:rPr dirty="0"/>
              <a:t>what</a:t>
            </a:r>
            <a:r>
              <a:rPr spc="25" dirty="0"/>
              <a:t> </a:t>
            </a:r>
            <a:r>
              <a:rPr dirty="0"/>
              <a:t>"normal"</a:t>
            </a:r>
            <a:r>
              <a:rPr spc="130" dirty="0"/>
              <a:t> </a:t>
            </a:r>
            <a:r>
              <a:rPr dirty="0"/>
              <a:t>looks</a:t>
            </a:r>
            <a:r>
              <a:rPr spc="55" dirty="0"/>
              <a:t> </a:t>
            </a:r>
            <a:r>
              <a:rPr dirty="0"/>
              <a:t>like,</a:t>
            </a:r>
            <a:r>
              <a:rPr spc="65" dirty="0"/>
              <a:t> </a:t>
            </a:r>
            <a:r>
              <a:rPr dirty="0"/>
              <a:t>it</a:t>
            </a:r>
            <a:r>
              <a:rPr spc="-75" dirty="0"/>
              <a:t> </a:t>
            </a:r>
            <a:r>
              <a:rPr dirty="0"/>
              <a:t>can</a:t>
            </a:r>
            <a:r>
              <a:rPr spc="-30" dirty="0"/>
              <a:t> </a:t>
            </a:r>
            <a:r>
              <a:rPr spc="-10" dirty="0"/>
              <a:t>successfully </a:t>
            </a:r>
            <a:r>
              <a:rPr dirty="0"/>
              <a:t>flag</a:t>
            </a:r>
            <a:r>
              <a:rPr spc="-20" dirty="0"/>
              <a:t> </a:t>
            </a:r>
            <a:r>
              <a:rPr dirty="0"/>
              <a:t>newly</a:t>
            </a:r>
            <a:r>
              <a:rPr spc="20" dirty="0"/>
              <a:t> </a:t>
            </a:r>
            <a:r>
              <a:rPr dirty="0"/>
              <a:t>invented</a:t>
            </a:r>
            <a:r>
              <a:rPr spc="125" dirty="0"/>
              <a:t> </a:t>
            </a:r>
            <a:r>
              <a:rPr spc="-35" dirty="0"/>
              <a:t>cyber-</a:t>
            </a:r>
            <a:r>
              <a:rPr dirty="0"/>
              <a:t>attacks</a:t>
            </a:r>
            <a:r>
              <a:rPr spc="170" dirty="0"/>
              <a:t> </a:t>
            </a:r>
            <a:r>
              <a:rPr dirty="0">
                <a:solidFill>
                  <a:srgbClr val="000313"/>
                </a:solidFill>
              </a:rPr>
              <a:t>that</a:t>
            </a:r>
            <a:r>
              <a:rPr spc="-5" dirty="0">
                <a:solidFill>
                  <a:srgbClr val="000313"/>
                </a:solidFill>
              </a:rPr>
              <a:t> </a:t>
            </a:r>
            <a:r>
              <a:rPr dirty="0"/>
              <a:t>have</a:t>
            </a:r>
            <a:r>
              <a:rPr spc="-15" dirty="0"/>
              <a:t> </a:t>
            </a:r>
            <a:r>
              <a:rPr dirty="0"/>
              <a:t>never</a:t>
            </a:r>
            <a:r>
              <a:rPr spc="55" dirty="0"/>
              <a:t> </a:t>
            </a:r>
            <a:r>
              <a:rPr dirty="0"/>
              <a:t>been</a:t>
            </a:r>
            <a:r>
              <a:rPr spc="-70" dirty="0"/>
              <a:t> </a:t>
            </a:r>
            <a:r>
              <a:rPr dirty="0"/>
              <a:t>seen</a:t>
            </a:r>
            <a:r>
              <a:rPr spc="-55" dirty="0"/>
              <a:t> </a:t>
            </a:r>
            <a:r>
              <a:rPr dirty="0"/>
              <a:t>before</a:t>
            </a:r>
            <a:r>
              <a:rPr spc="35" dirty="0"/>
              <a:t> </a:t>
            </a:r>
            <a:r>
              <a:rPr spc="-35" dirty="0"/>
              <a:t>(Zero-</a:t>
            </a:r>
            <a:r>
              <a:rPr dirty="0"/>
              <a:t>Day</a:t>
            </a:r>
            <a:r>
              <a:rPr spc="170" dirty="0"/>
              <a:t> </a:t>
            </a:r>
            <a:r>
              <a:rPr dirty="0"/>
              <a:t>exploits),</a:t>
            </a:r>
            <a:r>
              <a:rPr spc="65" dirty="0"/>
              <a:t> </a:t>
            </a:r>
            <a:r>
              <a:rPr dirty="0"/>
              <a:t>which</a:t>
            </a:r>
            <a:r>
              <a:rPr spc="10" dirty="0"/>
              <a:t> </a:t>
            </a:r>
            <a:r>
              <a:rPr spc="-10" dirty="0"/>
              <a:t>bypass </a:t>
            </a:r>
            <a:r>
              <a:rPr dirty="0"/>
              <a:t>traditional</a:t>
            </a:r>
            <a:r>
              <a:rPr spc="-5" dirty="0"/>
              <a:t> </a:t>
            </a:r>
            <a:r>
              <a:rPr spc="-10" dirty="0"/>
              <a:t>rules.</a:t>
            </a:r>
          </a:p>
          <a:p>
            <a:pPr marL="393700" marR="1149350" indent="-347345">
              <a:lnSpc>
                <a:spcPct val="125800"/>
              </a:lnSpc>
              <a:spcBef>
                <a:spcPts val="1855"/>
              </a:spcBef>
              <a:buChar char="•"/>
              <a:tabLst>
                <a:tab pos="398145" algn="l"/>
              </a:tabLst>
            </a:pPr>
            <a:r>
              <a:rPr spc="65" dirty="0"/>
              <a:t>Cloud-Native</a:t>
            </a:r>
            <a:r>
              <a:rPr spc="150" dirty="0"/>
              <a:t> </a:t>
            </a:r>
            <a:r>
              <a:rPr spc="100" dirty="0"/>
              <a:t>Deployment:</a:t>
            </a:r>
            <a:r>
              <a:rPr spc="125" dirty="0"/>
              <a:t> </a:t>
            </a:r>
            <a:r>
              <a:rPr dirty="0"/>
              <a:t>Unlike</a:t>
            </a:r>
            <a:r>
              <a:rPr spc="60" dirty="0"/>
              <a:t> </a:t>
            </a:r>
            <a:r>
              <a:rPr dirty="0"/>
              <a:t>legacy</a:t>
            </a:r>
            <a:r>
              <a:rPr spc="90" dirty="0"/>
              <a:t> </a:t>
            </a:r>
            <a:r>
              <a:rPr spc="-40" dirty="0"/>
              <a:t>on-</a:t>
            </a:r>
            <a:r>
              <a:rPr dirty="0"/>
              <a:t>premise</a:t>
            </a:r>
            <a:r>
              <a:rPr spc="210" dirty="0"/>
              <a:t> </a:t>
            </a:r>
            <a:r>
              <a:rPr dirty="0">
                <a:solidFill>
                  <a:srgbClr val="000516"/>
                </a:solidFill>
              </a:rPr>
              <a:t>NIDS</a:t>
            </a:r>
            <a:r>
              <a:rPr spc="20" dirty="0">
                <a:solidFill>
                  <a:srgbClr val="000516"/>
                </a:solidFill>
              </a:rPr>
              <a:t> </a:t>
            </a:r>
            <a:r>
              <a:rPr dirty="0"/>
              <a:t>hardware,</a:t>
            </a:r>
            <a:r>
              <a:rPr spc="140" dirty="0"/>
              <a:t> </a:t>
            </a:r>
            <a:r>
              <a:rPr dirty="0"/>
              <a:t>this</a:t>
            </a:r>
            <a:r>
              <a:rPr spc="-80" dirty="0"/>
              <a:t> </a:t>
            </a:r>
            <a:r>
              <a:rPr dirty="0"/>
              <a:t>solution</a:t>
            </a:r>
            <a:r>
              <a:rPr spc="75" dirty="0"/>
              <a:t> </a:t>
            </a:r>
            <a:r>
              <a:rPr dirty="0"/>
              <a:t>is</a:t>
            </a:r>
            <a:r>
              <a:rPr spc="-55" dirty="0"/>
              <a:t> </a:t>
            </a:r>
            <a:r>
              <a:rPr spc="-10" dirty="0"/>
              <a:t>deployed 	</a:t>
            </a:r>
            <a:r>
              <a:rPr dirty="0"/>
              <a:t>completely</a:t>
            </a:r>
            <a:r>
              <a:rPr spc="170" dirty="0"/>
              <a:t> </a:t>
            </a:r>
            <a:r>
              <a:rPr dirty="0"/>
              <a:t>on</a:t>
            </a:r>
            <a:r>
              <a:rPr spc="-50" dirty="0"/>
              <a:t> </a:t>
            </a:r>
            <a:r>
              <a:rPr dirty="0"/>
              <a:t>IBM</a:t>
            </a:r>
            <a:r>
              <a:rPr spc="15" dirty="0"/>
              <a:t> </a:t>
            </a:r>
            <a:r>
              <a:rPr dirty="0"/>
              <a:t>Cloud,</a:t>
            </a:r>
            <a:r>
              <a:rPr spc="40" dirty="0"/>
              <a:t> </a:t>
            </a:r>
            <a:r>
              <a:rPr dirty="0"/>
              <a:t>allowing</a:t>
            </a:r>
            <a:r>
              <a:rPr spc="-15" dirty="0"/>
              <a:t> </a:t>
            </a:r>
            <a:r>
              <a:rPr dirty="0">
                <a:solidFill>
                  <a:srgbClr val="00030F"/>
                </a:solidFill>
              </a:rPr>
              <a:t>it</a:t>
            </a:r>
            <a:r>
              <a:rPr spc="-114" dirty="0">
                <a:solidFill>
                  <a:srgbClr val="00030F"/>
                </a:solidFill>
              </a:rPr>
              <a:t> </a:t>
            </a:r>
            <a:r>
              <a:rPr dirty="0"/>
              <a:t>to</a:t>
            </a:r>
            <a:r>
              <a:rPr spc="-105" dirty="0"/>
              <a:t> </a:t>
            </a:r>
            <a:r>
              <a:rPr dirty="0"/>
              <a:t>scale</a:t>
            </a:r>
            <a:r>
              <a:rPr spc="-45" dirty="0"/>
              <a:t> </a:t>
            </a:r>
            <a:r>
              <a:rPr dirty="0"/>
              <a:t>instantly</a:t>
            </a:r>
            <a:r>
              <a:rPr spc="40" dirty="0"/>
              <a:t> </a:t>
            </a:r>
            <a:r>
              <a:rPr dirty="0"/>
              <a:t>with</a:t>
            </a:r>
            <a:r>
              <a:rPr spc="-50" dirty="0"/>
              <a:t> </a:t>
            </a:r>
            <a:r>
              <a:rPr dirty="0"/>
              <a:t>network</a:t>
            </a:r>
            <a:r>
              <a:rPr spc="85" dirty="0"/>
              <a:t> </a:t>
            </a:r>
            <a:r>
              <a:rPr dirty="0"/>
              <a:t>traffic</a:t>
            </a:r>
            <a:r>
              <a:rPr spc="65" dirty="0"/>
              <a:t> </a:t>
            </a:r>
            <a:r>
              <a:rPr spc="-10" dirty="0"/>
              <a:t>volume.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29209">
              <a:lnSpc>
                <a:spcPct val="100000"/>
              </a:lnSpc>
              <a:spcBef>
                <a:spcPts val="110"/>
              </a:spcBef>
            </a:pPr>
            <a:r>
              <a:rPr sz="5400" spc="200" dirty="0"/>
              <a:t>Future</a:t>
            </a:r>
            <a:r>
              <a:rPr sz="5400" spc="75" dirty="0"/>
              <a:t> </a:t>
            </a:r>
            <a:r>
              <a:rPr sz="5400" spc="135" dirty="0"/>
              <a:t>Scope</a:t>
            </a:r>
            <a:endParaRPr sz="5400"/>
          </a:p>
        </p:txBody>
      </p:sp>
      <p:sp>
        <p:nvSpPr>
          <p:cNvPr id="3" name="object 3"/>
          <p:cNvSpPr txBox="1"/>
          <p:nvPr/>
        </p:nvSpPr>
        <p:spPr>
          <a:xfrm>
            <a:off x="1365136" y="2394949"/>
            <a:ext cx="17349470" cy="559371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60680" marR="495300" indent="-348615">
              <a:lnSpc>
                <a:spcPct val="125800"/>
              </a:lnSpc>
              <a:spcBef>
                <a:spcPts val="95"/>
              </a:spcBef>
              <a:buFont typeface="Arial MT"/>
              <a:buChar char="•"/>
              <a:tabLst>
                <a:tab pos="360680" algn="l"/>
              </a:tabLst>
            </a:pPr>
            <a:r>
              <a:rPr sz="2950" b="1" dirty="0">
                <a:latin typeface="Arial"/>
                <a:cs typeface="Arial"/>
              </a:rPr>
              <a:t>IoT</a:t>
            </a:r>
            <a:r>
              <a:rPr sz="2950" b="1" spc="-105" dirty="0">
                <a:latin typeface="Arial"/>
                <a:cs typeface="Arial"/>
              </a:rPr>
              <a:t> </a:t>
            </a:r>
            <a:r>
              <a:rPr sz="2950" b="1" dirty="0">
                <a:latin typeface="Arial"/>
                <a:cs typeface="Arial"/>
              </a:rPr>
              <a:t>(Internet</a:t>
            </a:r>
            <a:r>
              <a:rPr sz="2950" b="1" spc="90" dirty="0">
                <a:latin typeface="Arial"/>
                <a:cs typeface="Arial"/>
              </a:rPr>
              <a:t> </a:t>
            </a:r>
            <a:r>
              <a:rPr sz="2950" b="1" dirty="0">
                <a:latin typeface="Arial"/>
                <a:cs typeface="Arial"/>
              </a:rPr>
              <a:t>of</a:t>
            </a:r>
            <a:r>
              <a:rPr sz="2950" b="1" spc="-35" dirty="0">
                <a:latin typeface="Arial"/>
                <a:cs typeface="Arial"/>
              </a:rPr>
              <a:t> </a:t>
            </a:r>
            <a:r>
              <a:rPr sz="2950" b="1" dirty="0">
                <a:latin typeface="Arial"/>
                <a:cs typeface="Arial"/>
              </a:rPr>
              <a:t>Things)</a:t>
            </a:r>
            <a:r>
              <a:rPr sz="2950" b="1" spc="65" dirty="0">
                <a:latin typeface="Arial"/>
                <a:cs typeface="Arial"/>
              </a:rPr>
              <a:t> </a:t>
            </a:r>
            <a:r>
              <a:rPr sz="2950" b="1" dirty="0">
                <a:latin typeface="Arial"/>
                <a:cs typeface="Arial"/>
              </a:rPr>
              <a:t>Integration:</a:t>
            </a:r>
            <a:r>
              <a:rPr sz="2950" b="1" spc="15" dirty="0">
                <a:latin typeface="Arial"/>
                <a:cs typeface="Arial"/>
              </a:rPr>
              <a:t> </a:t>
            </a:r>
            <a:r>
              <a:rPr sz="2950" dirty="0">
                <a:latin typeface="Arial MT"/>
                <a:cs typeface="Arial MT"/>
              </a:rPr>
              <a:t>The</a:t>
            </a:r>
            <a:r>
              <a:rPr sz="2950" spc="-1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model</a:t>
            </a:r>
            <a:r>
              <a:rPr sz="2950" spc="2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can</a:t>
            </a:r>
            <a:r>
              <a:rPr sz="2950" spc="-10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be</a:t>
            </a:r>
            <a:r>
              <a:rPr sz="2950" spc="-12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retrained</a:t>
            </a:r>
            <a:r>
              <a:rPr sz="2950" spc="114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on</a:t>
            </a:r>
            <a:r>
              <a:rPr sz="2950" spc="-85" dirty="0">
                <a:latin typeface="Arial MT"/>
                <a:cs typeface="Arial MT"/>
              </a:rPr>
              <a:t> </a:t>
            </a:r>
            <a:r>
              <a:rPr sz="2950" spc="-45" dirty="0">
                <a:latin typeface="Arial MT"/>
                <a:cs typeface="Arial MT"/>
              </a:rPr>
              <a:t>IoT-</a:t>
            </a:r>
            <a:r>
              <a:rPr sz="2950" dirty="0">
                <a:latin typeface="Arial MT"/>
                <a:cs typeface="Arial MT"/>
              </a:rPr>
              <a:t>specific</a:t>
            </a:r>
            <a:r>
              <a:rPr sz="2950" spc="10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traffic</a:t>
            </a:r>
            <a:r>
              <a:rPr sz="2950" spc="3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datasets</a:t>
            </a:r>
            <a:r>
              <a:rPr sz="2950" spc="60" dirty="0">
                <a:latin typeface="Arial MT"/>
                <a:cs typeface="Arial MT"/>
              </a:rPr>
              <a:t> </a:t>
            </a:r>
            <a:r>
              <a:rPr sz="2950" spc="-25" dirty="0">
                <a:latin typeface="Arial MT"/>
                <a:cs typeface="Arial MT"/>
              </a:rPr>
              <a:t>to </a:t>
            </a:r>
            <a:r>
              <a:rPr sz="2950" dirty="0">
                <a:latin typeface="Arial MT"/>
                <a:cs typeface="Arial MT"/>
              </a:rPr>
              <a:t>secure</a:t>
            </a:r>
            <a:r>
              <a:rPr sz="2950" spc="-2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smart</a:t>
            </a:r>
            <a:r>
              <a:rPr sz="2950" spc="-1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homes,</a:t>
            </a:r>
            <a:r>
              <a:rPr sz="2950" spc="4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industrial</a:t>
            </a:r>
            <a:r>
              <a:rPr sz="2950" spc="3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sensors,</a:t>
            </a:r>
            <a:r>
              <a:rPr sz="2950" spc="114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and</a:t>
            </a:r>
            <a:r>
              <a:rPr sz="2950" spc="-12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smart</a:t>
            </a:r>
            <a:r>
              <a:rPr sz="2950" spc="-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city</a:t>
            </a:r>
            <a:r>
              <a:rPr sz="2950" spc="-6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infrastructure,</a:t>
            </a:r>
            <a:r>
              <a:rPr sz="2950" spc="-8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which</a:t>
            </a:r>
            <a:r>
              <a:rPr sz="2950" spc="-2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have</a:t>
            </a:r>
            <a:r>
              <a:rPr sz="2950" spc="-2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different</a:t>
            </a:r>
            <a:r>
              <a:rPr sz="2950" spc="95" dirty="0">
                <a:latin typeface="Arial MT"/>
                <a:cs typeface="Arial MT"/>
              </a:rPr>
              <a:t> </a:t>
            </a:r>
            <a:r>
              <a:rPr sz="2950" spc="-10" dirty="0">
                <a:latin typeface="Arial MT"/>
                <a:cs typeface="Arial MT"/>
              </a:rPr>
              <a:t>traffic </a:t>
            </a:r>
            <a:r>
              <a:rPr sz="2950" dirty="0">
                <a:latin typeface="Arial MT"/>
                <a:cs typeface="Arial MT"/>
              </a:rPr>
              <a:t>profiles</a:t>
            </a:r>
            <a:r>
              <a:rPr sz="2950" spc="6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than</a:t>
            </a:r>
            <a:r>
              <a:rPr sz="2950" spc="-4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standard</a:t>
            </a:r>
            <a:r>
              <a:rPr sz="2950" spc="15" dirty="0">
                <a:latin typeface="Arial MT"/>
                <a:cs typeface="Arial MT"/>
              </a:rPr>
              <a:t> </a:t>
            </a:r>
            <a:r>
              <a:rPr sz="2950" spc="-10" dirty="0">
                <a:latin typeface="Arial MT"/>
                <a:cs typeface="Arial MT"/>
              </a:rPr>
              <a:t>computers.</a:t>
            </a:r>
            <a:endParaRPr sz="2950" dirty="0">
              <a:latin typeface="Arial MT"/>
              <a:cs typeface="Arial MT"/>
            </a:endParaRPr>
          </a:p>
          <a:p>
            <a:pPr marL="356235" marR="5080" indent="-344170">
              <a:lnSpc>
                <a:spcPct val="125800"/>
              </a:lnSpc>
              <a:spcBef>
                <a:spcPts val="1855"/>
              </a:spcBef>
              <a:buChar char="•"/>
              <a:tabLst>
                <a:tab pos="361950" algn="l"/>
              </a:tabLst>
            </a:pPr>
            <a:r>
              <a:rPr sz="2950" b="1" dirty="0">
                <a:latin typeface="Arial MT"/>
                <a:cs typeface="Arial MT"/>
              </a:rPr>
              <a:t>Real-Time</a:t>
            </a:r>
            <a:r>
              <a:rPr sz="2950" b="1" spc="114" dirty="0">
                <a:latin typeface="Arial MT"/>
                <a:cs typeface="Arial MT"/>
              </a:rPr>
              <a:t> </a:t>
            </a:r>
            <a:r>
              <a:rPr sz="2950" b="1" spc="60" dirty="0">
                <a:latin typeface="Arial MT"/>
                <a:cs typeface="Arial MT"/>
              </a:rPr>
              <a:t>Stream</a:t>
            </a:r>
            <a:r>
              <a:rPr sz="2950" b="1" dirty="0">
                <a:latin typeface="Arial MT"/>
                <a:cs typeface="Arial MT"/>
              </a:rPr>
              <a:t> </a:t>
            </a:r>
            <a:r>
              <a:rPr sz="2950" b="1" dirty="0">
                <a:latin typeface="Arial"/>
                <a:cs typeface="Arial"/>
              </a:rPr>
              <a:t>Processing:</a:t>
            </a:r>
            <a:r>
              <a:rPr sz="2950" b="1" spc="235" dirty="0">
                <a:latin typeface="Arial"/>
                <a:cs typeface="Arial"/>
              </a:rPr>
              <a:t> </a:t>
            </a:r>
            <a:r>
              <a:rPr sz="2950" dirty="0">
                <a:latin typeface="Arial MT"/>
                <a:cs typeface="Arial MT"/>
              </a:rPr>
              <a:t>Integrating</a:t>
            </a:r>
            <a:r>
              <a:rPr sz="2950" spc="8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tools</a:t>
            </a:r>
            <a:r>
              <a:rPr sz="2950" spc="-2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like</a:t>
            </a:r>
            <a:r>
              <a:rPr sz="2950" spc="-12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Apache</a:t>
            </a:r>
            <a:r>
              <a:rPr sz="2950" spc="12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Kafka</a:t>
            </a:r>
            <a:r>
              <a:rPr sz="2950" spc="-95" dirty="0">
                <a:latin typeface="Arial MT"/>
                <a:cs typeface="Arial MT"/>
              </a:rPr>
              <a:t> </a:t>
            </a:r>
            <a:r>
              <a:rPr sz="2950" dirty="0">
                <a:solidFill>
                  <a:srgbClr val="000518"/>
                </a:solidFill>
                <a:latin typeface="Arial MT"/>
                <a:cs typeface="Arial MT"/>
              </a:rPr>
              <a:t>to</a:t>
            </a:r>
            <a:r>
              <a:rPr sz="2950" spc="-50" dirty="0">
                <a:solidFill>
                  <a:srgbClr val="000518"/>
                </a:solidFill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transition</a:t>
            </a:r>
            <a:r>
              <a:rPr sz="2950" spc="16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from</a:t>
            </a:r>
            <a:r>
              <a:rPr sz="2950" spc="2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batch</a:t>
            </a:r>
            <a:r>
              <a:rPr sz="2950" spc="65" dirty="0">
                <a:latin typeface="Arial MT"/>
                <a:cs typeface="Arial MT"/>
              </a:rPr>
              <a:t> </a:t>
            </a:r>
            <a:r>
              <a:rPr sz="2950" spc="-10" dirty="0">
                <a:latin typeface="Arial MT"/>
                <a:cs typeface="Arial MT"/>
              </a:rPr>
              <a:t>prediction 	</a:t>
            </a:r>
            <a:r>
              <a:rPr sz="2950" dirty="0">
                <a:latin typeface="Arial MT"/>
                <a:cs typeface="Arial MT"/>
              </a:rPr>
              <a:t>to</a:t>
            </a:r>
            <a:r>
              <a:rPr sz="2950" spc="-40" dirty="0">
                <a:latin typeface="Arial MT"/>
                <a:cs typeface="Arial MT"/>
              </a:rPr>
              <a:t> </a:t>
            </a:r>
            <a:r>
              <a:rPr sz="2950" spc="-10" dirty="0">
                <a:latin typeface="Arial MT"/>
                <a:cs typeface="Arial MT"/>
              </a:rPr>
              <a:t>high-</a:t>
            </a:r>
            <a:r>
              <a:rPr sz="2950" dirty="0">
                <a:latin typeface="Arial MT"/>
                <a:cs typeface="Arial MT"/>
              </a:rPr>
              <a:t>throughput</a:t>
            </a:r>
            <a:r>
              <a:rPr sz="2950" spc="-11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stream</a:t>
            </a:r>
            <a:r>
              <a:rPr sz="2950" spc="-1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processing,</a:t>
            </a:r>
            <a:r>
              <a:rPr sz="2950" spc="19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handling</a:t>
            </a:r>
            <a:r>
              <a:rPr sz="2950" spc="10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millions</a:t>
            </a:r>
            <a:r>
              <a:rPr sz="2950" spc="7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of</a:t>
            </a:r>
            <a:r>
              <a:rPr sz="2950" spc="-2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packets</a:t>
            </a:r>
            <a:r>
              <a:rPr sz="2950" spc="-1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per</a:t>
            </a:r>
            <a:r>
              <a:rPr sz="2950" spc="-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second</a:t>
            </a:r>
            <a:r>
              <a:rPr sz="2950" spc="-1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with</a:t>
            </a:r>
            <a:r>
              <a:rPr sz="2950" spc="-2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sub-</a:t>
            </a:r>
            <a:r>
              <a:rPr sz="2950" spc="-10" dirty="0">
                <a:latin typeface="Arial MT"/>
                <a:cs typeface="Arial MT"/>
              </a:rPr>
              <a:t>millisecond 	latency.</a:t>
            </a:r>
            <a:endParaRPr sz="2950" dirty="0">
              <a:latin typeface="Arial MT"/>
              <a:cs typeface="Arial MT"/>
            </a:endParaRPr>
          </a:p>
          <a:p>
            <a:pPr marL="358140" marR="369570" indent="-346075">
              <a:lnSpc>
                <a:spcPct val="126600"/>
              </a:lnSpc>
              <a:spcBef>
                <a:spcPts val="1825"/>
              </a:spcBef>
              <a:buFont typeface="Arial MT"/>
              <a:buChar char="•"/>
              <a:tabLst>
                <a:tab pos="360680" algn="l"/>
                <a:tab pos="14029055" algn="l"/>
              </a:tabLst>
            </a:pPr>
            <a:r>
              <a:rPr sz="2950" b="1" dirty="0">
                <a:latin typeface="Arial"/>
                <a:cs typeface="Arial"/>
              </a:rPr>
              <a:t>Hybrid</a:t>
            </a:r>
            <a:r>
              <a:rPr sz="2950" b="1" spc="-5" dirty="0">
                <a:latin typeface="Arial"/>
                <a:cs typeface="Arial"/>
              </a:rPr>
              <a:t> </a:t>
            </a:r>
            <a:r>
              <a:rPr sz="2950" b="1" dirty="0">
                <a:latin typeface="Arial"/>
                <a:cs typeface="Arial"/>
              </a:rPr>
              <a:t>Cloud</a:t>
            </a:r>
            <a:r>
              <a:rPr sz="2950" b="1" spc="5" dirty="0">
                <a:latin typeface="Arial"/>
                <a:cs typeface="Arial"/>
              </a:rPr>
              <a:t> </a:t>
            </a:r>
            <a:r>
              <a:rPr sz="2950" b="1" dirty="0">
                <a:latin typeface="Arial"/>
                <a:cs typeface="Arial"/>
              </a:rPr>
              <a:t>Scaling:</a:t>
            </a:r>
            <a:r>
              <a:rPr sz="2950" b="1" spc="60" dirty="0">
                <a:latin typeface="Arial"/>
                <a:cs typeface="Arial"/>
              </a:rPr>
              <a:t> </a:t>
            </a:r>
            <a:r>
              <a:rPr sz="2950" dirty="0">
                <a:latin typeface="Arial MT"/>
                <a:cs typeface="Arial MT"/>
              </a:rPr>
              <a:t>Expanding</a:t>
            </a:r>
            <a:r>
              <a:rPr sz="2950" spc="15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the</a:t>
            </a:r>
            <a:r>
              <a:rPr sz="2950" spc="-2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deployment</a:t>
            </a:r>
            <a:r>
              <a:rPr sz="2950" spc="17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to</a:t>
            </a:r>
            <a:r>
              <a:rPr sz="2950" spc="-6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a</a:t>
            </a:r>
            <a:r>
              <a:rPr sz="2950" spc="-17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hybrid</a:t>
            </a:r>
            <a:r>
              <a:rPr sz="2950" spc="-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cloud</a:t>
            </a:r>
            <a:r>
              <a:rPr sz="2950" spc="-30" dirty="0">
                <a:latin typeface="Arial MT"/>
                <a:cs typeface="Arial MT"/>
              </a:rPr>
              <a:t> </a:t>
            </a:r>
            <a:r>
              <a:rPr sz="2950" spc="-10" dirty="0">
                <a:latin typeface="Arial MT"/>
                <a:cs typeface="Arial MT"/>
              </a:rPr>
              <a:t>architecture,</a:t>
            </a:r>
            <a:r>
              <a:rPr sz="2950" dirty="0">
                <a:latin typeface="Arial MT"/>
                <a:cs typeface="Arial MT"/>
              </a:rPr>
              <a:t>	allowing</a:t>
            </a:r>
            <a:r>
              <a:rPr sz="2950" spc="-65" dirty="0">
                <a:latin typeface="Arial MT"/>
                <a:cs typeface="Arial MT"/>
              </a:rPr>
              <a:t> </a:t>
            </a:r>
            <a:r>
              <a:rPr sz="2950" spc="-25" dirty="0">
                <a:latin typeface="Arial MT"/>
                <a:cs typeface="Arial MT"/>
              </a:rPr>
              <a:t>the 	</a:t>
            </a:r>
            <a:r>
              <a:rPr sz="2950" dirty="0">
                <a:latin typeface="Arial MT"/>
                <a:cs typeface="Arial MT"/>
              </a:rPr>
              <a:t>detection</a:t>
            </a:r>
            <a:r>
              <a:rPr sz="2950" spc="4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engine</a:t>
            </a:r>
            <a:r>
              <a:rPr sz="2950" spc="-3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to</a:t>
            </a:r>
            <a:r>
              <a:rPr sz="2950" spc="-14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protect</a:t>
            </a:r>
            <a:r>
              <a:rPr sz="2950" spc="-4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decentralized</a:t>
            </a:r>
            <a:r>
              <a:rPr sz="2950" spc="16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enterprise</a:t>
            </a:r>
            <a:r>
              <a:rPr sz="2950" spc="6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networks</a:t>
            </a:r>
            <a:r>
              <a:rPr sz="2950" spc="1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spanning</a:t>
            </a:r>
            <a:r>
              <a:rPr sz="2950" spc="-1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across</a:t>
            </a:r>
            <a:r>
              <a:rPr sz="2950" spc="-105" dirty="0">
                <a:latin typeface="Arial MT"/>
                <a:cs typeface="Arial MT"/>
              </a:rPr>
              <a:t> </a:t>
            </a:r>
            <a:r>
              <a:rPr sz="2950" spc="-40" dirty="0">
                <a:latin typeface="Arial MT"/>
                <a:cs typeface="Arial MT"/>
              </a:rPr>
              <a:t>AWS,</a:t>
            </a:r>
            <a:r>
              <a:rPr sz="2950" spc="-145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Azure,</a:t>
            </a:r>
            <a:r>
              <a:rPr sz="2950" spc="10" dirty="0">
                <a:latin typeface="Arial MT"/>
                <a:cs typeface="Arial MT"/>
              </a:rPr>
              <a:t> </a:t>
            </a:r>
            <a:r>
              <a:rPr sz="2950" dirty="0">
                <a:latin typeface="Arial MT"/>
                <a:cs typeface="Arial MT"/>
              </a:rPr>
              <a:t>and</a:t>
            </a:r>
            <a:r>
              <a:rPr sz="2950" spc="-40" dirty="0">
                <a:latin typeface="Arial MT"/>
                <a:cs typeface="Arial MT"/>
              </a:rPr>
              <a:t> </a:t>
            </a:r>
            <a:r>
              <a:rPr sz="2950" spc="-25" dirty="0">
                <a:latin typeface="Arial MT"/>
                <a:cs typeface="Arial MT"/>
              </a:rPr>
              <a:t>on- 	</a:t>
            </a:r>
            <a:r>
              <a:rPr sz="2950" dirty="0">
                <a:latin typeface="Arial MT"/>
                <a:cs typeface="Arial MT"/>
              </a:rPr>
              <a:t>premise</a:t>
            </a:r>
            <a:r>
              <a:rPr sz="2950" spc="35" dirty="0">
                <a:latin typeface="Arial MT"/>
                <a:cs typeface="Arial MT"/>
              </a:rPr>
              <a:t> </a:t>
            </a:r>
            <a:r>
              <a:rPr sz="2950" spc="-10" dirty="0">
                <a:latin typeface="Arial MT"/>
                <a:cs typeface="Arial MT"/>
              </a:rPr>
              <a:t>servers.</a:t>
            </a:r>
            <a:endParaRPr sz="295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2850" spc="-715" dirty="0">
                <a:solidFill>
                  <a:srgbClr val="011F60"/>
                </a:solidFill>
              </a:rPr>
              <a:t>Thank</a:t>
            </a:r>
            <a:r>
              <a:rPr sz="12850" spc="265" dirty="0">
                <a:solidFill>
                  <a:srgbClr val="011F60"/>
                </a:solidFill>
              </a:rPr>
              <a:t> </a:t>
            </a:r>
            <a:r>
              <a:rPr sz="12850" spc="-890" dirty="0">
                <a:solidFill>
                  <a:srgbClr val="011F60"/>
                </a:solidFill>
              </a:rPr>
              <a:t>You!</a:t>
            </a:r>
            <a:endParaRPr sz="12850"/>
          </a:p>
        </p:txBody>
      </p:sp>
      <p:sp>
        <p:nvSpPr>
          <p:cNvPr id="3" name="object 3"/>
          <p:cNvSpPr txBox="1"/>
          <p:nvPr/>
        </p:nvSpPr>
        <p:spPr>
          <a:xfrm>
            <a:off x="6455423" y="6793375"/>
            <a:ext cx="7157720" cy="5753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600" spc="-45" dirty="0">
                <a:solidFill>
                  <a:srgbClr val="232323"/>
                </a:solidFill>
                <a:latin typeface="Arial MT"/>
                <a:cs typeface="Arial MT"/>
              </a:rPr>
              <a:t>Thank</a:t>
            </a:r>
            <a:r>
              <a:rPr sz="3600" spc="-204" dirty="0">
                <a:solidFill>
                  <a:srgbClr val="232323"/>
                </a:solidFill>
                <a:latin typeface="Arial MT"/>
                <a:cs typeface="Arial MT"/>
              </a:rPr>
              <a:t> </a:t>
            </a:r>
            <a:r>
              <a:rPr sz="3600" dirty="0">
                <a:solidFill>
                  <a:srgbClr val="282828"/>
                </a:solidFill>
                <a:latin typeface="Arial MT"/>
                <a:cs typeface="Arial MT"/>
              </a:rPr>
              <a:t>you</a:t>
            </a:r>
            <a:r>
              <a:rPr sz="3600" spc="-250" dirty="0">
                <a:solidFill>
                  <a:srgbClr val="282828"/>
                </a:solidFill>
                <a:latin typeface="Arial MT"/>
                <a:cs typeface="Arial MT"/>
              </a:rPr>
              <a:t> </a:t>
            </a:r>
            <a:r>
              <a:rPr sz="3600" spc="-10" dirty="0">
                <a:solidFill>
                  <a:srgbClr val="2A2A2A"/>
                </a:solidFill>
                <a:latin typeface="Arial MT"/>
                <a:cs typeface="Arial MT"/>
              </a:rPr>
              <a:t>for</a:t>
            </a:r>
            <a:r>
              <a:rPr sz="3600" spc="-190" dirty="0">
                <a:solidFill>
                  <a:srgbClr val="2A2A2A"/>
                </a:solidFill>
                <a:latin typeface="Arial MT"/>
                <a:cs typeface="Arial MT"/>
              </a:rPr>
              <a:t> </a:t>
            </a:r>
            <a:r>
              <a:rPr sz="3600" spc="-40" dirty="0">
                <a:solidFill>
                  <a:srgbClr val="1D1D1D"/>
                </a:solidFill>
                <a:latin typeface="Arial MT"/>
                <a:cs typeface="Arial MT"/>
              </a:rPr>
              <a:t>your</a:t>
            </a:r>
            <a:r>
              <a:rPr sz="3600" spc="-155" dirty="0">
                <a:solidFill>
                  <a:srgbClr val="1D1D1D"/>
                </a:solidFill>
                <a:latin typeface="Arial MT"/>
                <a:cs typeface="Arial MT"/>
              </a:rPr>
              <a:t> </a:t>
            </a:r>
            <a:r>
              <a:rPr sz="3600" spc="-20" dirty="0">
                <a:solidFill>
                  <a:srgbClr val="262626"/>
                </a:solidFill>
                <a:latin typeface="Arial MT"/>
                <a:cs typeface="Arial MT"/>
              </a:rPr>
              <a:t>time</a:t>
            </a:r>
            <a:r>
              <a:rPr sz="3600" spc="-229" dirty="0">
                <a:solidFill>
                  <a:srgbClr val="262626"/>
                </a:solidFill>
                <a:latin typeface="Arial MT"/>
                <a:cs typeface="Arial MT"/>
              </a:rPr>
              <a:t> </a:t>
            </a:r>
            <a:r>
              <a:rPr sz="3600" spc="-20" dirty="0">
                <a:solidFill>
                  <a:srgbClr val="1C1C1C"/>
                </a:solidFill>
                <a:latin typeface="Arial MT"/>
                <a:cs typeface="Arial MT"/>
              </a:rPr>
              <a:t>and</a:t>
            </a:r>
            <a:r>
              <a:rPr sz="3600" spc="-229" dirty="0">
                <a:solidFill>
                  <a:srgbClr val="1C1C1C"/>
                </a:solidFill>
                <a:latin typeface="Arial MT"/>
                <a:cs typeface="Arial MT"/>
              </a:rPr>
              <a:t> </a:t>
            </a:r>
            <a:r>
              <a:rPr sz="3600" spc="-70" dirty="0">
                <a:solidFill>
                  <a:srgbClr val="1F1F1F"/>
                </a:solidFill>
                <a:latin typeface="Arial MT"/>
                <a:cs typeface="Arial MT"/>
              </a:rPr>
              <a:t>interest.</a:t>
            </a:r>
            <a:endParaRPr sz="36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</TotalTime>
  <Words>1056</Words>
  <Application>Microsoft Office PowerPoint</Application>
  <PresentationFormat>Custom</PresentationFormat>
  <Paragraphs>75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Arial MT</vt:lpstr>
      <vt:lpstr>Calibri</vt:lpstr>
      <vt:lpstr>Cambria</vt:lpstr>
      <vt:lpstr>Times New Roman</vt:lpstr>
      <vt:lpstr>Office Theme</vt:lpstr>
      <vt:lpstr>PowerPoint Presentation</vt:lpstr>
      <vt:lpstr>Student Name: Prathmesh Kadam</vt:lpstr>
      <vt:lpstr>Electronics and Telecommunications Engineering: (Machine learning project)</vt:lpstr>
      <vt:lpstr>Technology Used</vt:lpstr>
      <vt:lpstr>Proposed Solution: NIDS</vt:lpstr>
      <vt:lpstr>Components Required</vt:lpstr>
      <vt:lpstr>Deployment Status</vt:lpstr>
      <vt:lpstr>Testing and Evaluation</vt:lpstr>
      <vt:lpstr>Role of the Project</vt:lpstr>
      <vt:lpstr>Technology Details</vt:lpstr>
      <vt:lpstr>Novelty and Uniqueness</vt:lpstr>
      <vt:lpstr>Future Scope</vt:lpstr>
      <vt:lpstr>Thank You!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Prathmesh Kadam</dc:creator>
  <cp:lastModifiedBy>Prathmesh Kadam</cp:lastModifiedBy>
  <cp:revision>1</cp:revision>
  <dcterms:created xsi:type="dcterms:W3CDTF">2026-06-04T18:02:43Z</dcterms:created>
  <dcterms:modified xsi:type="dcterms:W3CDTF">2026-06-04T18:13:32Z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2026-06-04T00:00:00Z</vt:filetime>
  </property>
  <property fmtid="{D5CDD505-2E9C-101B-9397-08002B2CF9AE}" pid="3" name="LastSaved">
    <vt:filetime>2026-06-04T00:00:00Z</vt:filetime>
  </property>
</Properties>
</file>