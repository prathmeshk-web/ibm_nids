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5A74-3EC6-407C-8673-EECDB98CB5A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20B54-FE4B-47B4-9788-616E46E39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63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31485" y="4170418"/>
            <a:ext cx="7529830" cy="1988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7458" y="822353"/>
            <a:ext cx="16156259" cy="10457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0438" y="2387096"/>
            <a:ext cx="17443223" cy="663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datasets/sampadab17/network-intrusion-detec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8312" y="4011391"/>
            <a:ext cx="14313535" cy="1105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50" dirty="0">
                <a:latin typeface="Arial MT"/>
                <a:cs typeface="Arial MT"/>
              </a:rPr>
              <a:t>IBM</a:t>
            </a:r>
            <a:r>
              <a:rPr sz="7050" spc="-484" dirty="0">
                <a:latin typeface="Arial MT"/>
                <a:cs typeface="Arial MT"/>
              </a:rPr>
              <a:t> </a:t>
            </a:r>
            <a:r>
              <a:rPr sz="7050" spc="90" dirty="0">
                <a:latin typeface="Arial MT"/>
                <a:cs typeface="Arial MT"/>
              </a:rPr>
              <a:t>University</a:t>
            </a:r>
            <a:r>
              <a:rPr sz="7050" spc="-175" dirty="0">
                <a:latin typeface="Arial MT"/>
                <a:cs typeface="Arial MT"/>
              </a:rPr>
              <a:t> </a:t>
            </a:r>
            <a:r>
              <a:rPr sz="7050" dirty="0">
                <a:latin typeface="Arial MT"/>
                <a:cs typeface="Arial MT"/>
              </a:rPr>
              <a:t>Engagement</a:t>
            </a:r>
            <a:r>
              <a:rPr sz="7050" spc="215" dirty="0">
                <a:latin typeface="Arial MT"/>
                <a:cs typeface="Arial MT"/>
              </a:rPr>
              <a:t> </a:t>
            </a:r>
            <a:r>
              <a:rPr sz="7050" spc="-10" dirty="0">
                <a:latin typeface="Arial MT"/>
                <a:cs typeface="Arial MT"/>
              </a:rPr>
              <a:t>Project</a:t>
            </a:r>
            <a:endParaRPr sz="7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15211" y="5009398"/>
            <a:ext cx="13601065" cy="2388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105"/>
              </a:spcBef>
            </a:pPr>
            <a:r>
              <a:rPr sz="6950" spc="125" dirty="0">
                <a:latin typeface="Arial MT"/>
                <a:cs typeface="Arial MT"/>
              </a:rPr>
              <a:t>Submission</a:t>
            </a:r>
            <a:endParaRPr sz="6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330"/>
              </a:spcBef>
            </a:pPr>
            <a:r>
              <a:rPr sz="4100" i="1" spc="-75" dirty="0">
                <a:latin typeface="Arial"/>
                <a:cs typeface="Arial"/>
              </a:rPr>
              <a:t>”Strengthening</a:t>
            </a:r>
            <a:r>
              <a:rPr sz="4100" i="1" spc="-210" dirty="0">
                <a:latin typeface="Arial"/>
                <a:cs typeface="Arial"/>
              </a:rPr>
              <a:t> </a:t>
            </a:r>
            <a:r>
              <a:rPr sz="4100" i="1" spc="-75" dirty="0">
                <a:latin typeface="Arial"/>
                <a:cs typeface="Arial"/>
              </a:rPr>
              <a:t>Cybersecurity:</a:t>
            </a:r>
            <a:r>
              <a:rPr sz="4100" i="1" spc="-210" dirty="0">
                <a:latin typeface="Arial"/>
                <a:cs typeface="Arial"/>
              </a:rPr>
              <a:t> </a:t>
            </a:r>
            <a:r>
              <a:rPr sz="4100" i="1" spc="-85" dirty="0">
                <a:latin typeface="Arial"/>
                <a:cs typeface="Arial"/>
              </a:rPr>
              <a:t>Autonomous</a:t>
            </a:r>
            <a:r>
              <a:rPr sz="4100" i="1" spc="-155" dirty="0">
                <a:latin typeface="Arial"/>
                <a:cs typeface="Arial"/>
              </a:rPr>
              <a:t> </a:t>
            </a:r>
            <a:r>
              <a:rPr sz="4100" i="1" spc="-35" dirty="0">
                <a:latin typeface="Arial"/>
                <a:cs typeface="Arial"/>
              </a:rPr>
              <a:t>Threat</a:t>
            </a:r>
            <a:r>
              <a:rPr sz="4100" i="1" spc="-114" dirty="0">
                <a:latin typeface="Arial"/>
                <a:cs typeface="Arial"/>
              </a:rPr>
              <a:t> </a:t>
            </a:r>
            <a:r>
              <a:rPr sz="4100" i="1" spc="-25" dirty="0">
                <a:latin typeface="Arial"/>
                <a:cs typeface="Arial"/>
              </a:rPr>
              <a:t>Detection”</a:t>
            </a:r>
            <a:endParaRPr sz="4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1138810" y="7297648"/>
            <a:ext cx="17801814" cy="32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>
              <a:lnSpc>
                <a:spcPct val="160000"/>
              </a:lnSpc>
              <a:buClr>
                <a:schemeClr val="dk1"/>
              </a:buClr>
              <a:buSzPts val="1500"/>
            </a:pPr>
            <a:endParaRPr sz="247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817681" y="1937328"/>
            <a:ext cx="12245834" cy="74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 rtl="0">
              <a:lnSpc>
                <a:spcPct val="90000"/>
              </a:lnSpc>
              <a:buClr>
                <a:srgbClr val="002060"/>
              </a:buClr>
              <a:buSzPts val="3200"/>
            </a:pPr>
            <a:endParaRPr sz="5277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764124500"/>
              </p:ext>
            </p:extLst>
          </p:nvPr>
        </p:nvGraphicFramePr>
        <p:xfrm>
          <a:off x="2142422" y="4288208"/>
          <a:ext cx="15491946" cy="3573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0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9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90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482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 dirty="0"/>
                        <a:t>Student Name</a:t>
                      </a:r>
                      <a:endParaRPr sz="3000" u="none" strike="noStrike" cap="none" dirty="0"/>
                    </a:p>
                  </a:txBody>
                  <a:tcPr marL="150797" marR="150797" marT="75399" marB="75399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strike="noStrike" cap="none" dirty="0"/>
                        <a:t>Recent Passport Photo</a:t>
                      </a:r>
                      <a:endParaRPr sz="3000" u="none" strike="noStrike" cap="none" dirty="0"/>
                    </a:p>
                  </a:txBody>
                  <a:tcPr marL="150797" marR="150797" marT="75399" marB="7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3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150797" marR="150797" marT="75399" marB="75399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3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3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150797" marR="150797" marT="75399" marB="75399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6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3000" b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3000" b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3000" b="1" dirty="0"/>
                        <a:t>Prathmesh kadam</a:t>
                      </a:r>
                      <a:endParaRPr sz="3000" b="1" dirty="0"/>
                    </a:p>
                  </a:txBody>
                  <a:tcPr marL="150797" marR="150797" marT="75399" marB="75399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150797" marR="150797" marT="75399" marB="753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prathmeshkadam883@gmail.com</a:t>
                      </a:r>
                      <a:endParaRPr sz="1800" dirty="0"/>
                    </a:p>
                  </a:txBody>
                  <a:tcPr marL="150797" marR="150797" marT="75399" marB="75399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dirty="0"/>
                        <a:t>9607116077</a:t>
                      </a:r>
                      <a:endParaRPr sz="3000" dirty="0"/>
                    </a:p>
                  </a:txBody>
                  <a:tcPr marL="150797" marR="150797" marT="75399" marB="75399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988914" y="2409071"/>
            <a:ext cx="16951711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58" b="1" dirty="0"/>
              <a:t>Domain of  Project – </a:t>
            </a:r>
            <a:r>
              <a:rPr lang="en-US" sz="3958" b="1" dirty="0">
                <a:highlight>
                  <a:srgbClr val="FFFF00"/>
                </a:highlight>
              </a:rPr>
              <a:t>[</a:t>
            </a:r>
            <a:r>
              <a:rPr lang="en-US" sz="3958" b="1">
                <a:highlight>
                  <a:srgbClr val="FFFF00"/>
                </a:highlight>
              </a:rPr>
              <a:t>Machine  learning ]</a:t>
            </a:r>
            <a:endParaRPr lang="en-IN" sz="3958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988912" y="910564"/>
            <a:ext cx="15798962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58" b="1" dirty="0"/>
              <a:t>Project Tile – </a:t>
            </a:r>
            <a:r>
              <a:rPr lang="en-US" sz="3958" b="1" dirty="0">
                <a:highlight>
                  <a:srgbClr val="FFFF00"/>
                </a:highlight>
              </a:rPr>
              <a:t>[</a:t>
            </a:r>
            <a:r>
              <a:rPr lang="en-IN" sz="3958" b="1" dirty="0">
                <a:highlight>
                  <a:srgbClr val="FFFF00"/>
                </a:highlight>
              </a:rPr>
              <a:t>NIDS</a:t>
            </a:r>
            <a:r>
              <a:rPr lang="en-US" sz="3958" b="1" dirty="0">
                <a:highlight>
                  <a:srgbClr val="FFFF00"/>
                </a:highlight>
              </a:rPr>
              <a:t>]</a:t>
            </a:r>
            <a:endParaRPr lang="en-IN" sz="3958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A582C-FC6D-A65D-EBB7-11DED348A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217" y="5962112"/>
            <a:ext cx="1452060" cy="189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043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</a:pPr>
            <a:r>
              <a:rPr sz="3450" spc="135" dirty="0"/>
              <a:t>Electronics</a:t>
            </a:r>
            <a:r>
              <a:rPr sz="3450" spc="305" dirty="0"/>
              <a:t> </a:t>
            </a:r>
            <a:r>
              <a:rPr sz="3450" spc="110" dirty="0"/>
              <a:t>and</a:t>
            </a:r>
            <a:r>
              <a:rPr sz="3450" spc="55" dirty="0"/>
              <a:t> </a:t>
            </a:r>
            <a:r>
              <a:rPr sz="3450" spc="140" dirty="0"/>
              <a:t>Telecommunications</a:t>
            </a:r>
            <a:r>
              <a:rPr sz="3450" spc="105" dirty="0"/>
              <a:t> </a:t>
            </a:r>
            <a:r>
              <a:rPr sz="3450" spc="120" dirty="0"/>
              <a:t>Engineering:</a:t>
            </a:r>
            <a:r>
              <a:rPr sz="3450" spc="340" dirty="0"/>
              <a:t> </a:t>
            </a:r>
            <a:r>
              <a:rPr sz="3450" spc="65" dirty="0"/>
              <a:t>(Machine</a:t>
            </a:r>
            <a:r>
              <a:rPr sz="3450" spc="330" dirty="0"/>
              <a:t> </a:t>
            </a:r>
            <a:r>
              <a:rPr sz="3450" spc="114" dirty="0"/>
              <a:t>learning</a:t>
            </a:r>
            <a:r>
              <a:rPr sz="3450" spc="225" dirty="0"/>
              <a:t> </a:t>
            </a:r>
            <a:r>
              <a:rPr sz="3450" spc="95" dirty="0"/>
              <a:t>project)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1234987" y="2585388"/>
            <a:ext cx="17611725" cy="6494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algn="just">
              <a:lnSpc>
                <a:spcPct val="100000"/>
              </a:lnSpc>
              <a:spcBef>
                <a:spcPts val="100"/>
              </a:spcBef>
            </a:pPr>
            <a:r>
              <a:rPr sz="3350" spc="160" dirty="0">
                <a:latin typeface="Arial MT"/>
                <a:cs typeface="Arial MT"/>
              </a:rPr>
              <a:t>Problem</a:t>
            </a:r>
            <a:r>
              <a:rPr sz="3350" spc="235" dirty="0">
                <a:latin typeface="Arial MT"/>
                <a:cs typeface="Arial MT"/>
              </a:rPr>
              <a:t> </a:t>
            </a:r>
            <a:r>
              <a:rPr sz="3350" spc="140" dirty="0">
                <a:latin typeface="Arial MT"/>
                <a:cs typeface="Arial MT"/>
              </a:rPr>
              <a:t>statement</a:t>
            </a:r>
            <a:r>
              <a:rPr sz="3350" spc="300" dirty="0">
                <a:latin typeface="Arial MT"/>
                <a:cs typeface="Arial MT"/>
              </a:rPr>
              <a:t> </a:t>
            </a:r>
            <a:r>
              <a:rPr sz="3350" spc="85" dirty="0">
                <a:latin typeface="Arial MT"/>
                <a:cs typeface="Arial MT"/>
              </a:rPr>
              <a:t>No.40</a:t>
            </a:r>
            <a:r>
              <a:rPr sz="3350" spc="110" dirty="0">
                <a:latin typeface="Arial MT"/>
                <a:cs typeface="Arial MT"/>
              </a:rPr>
              <a:t> </a:t>
            </a:r>
            <a:r>
              <a:rPr sz="3350" spc="55" dirty="0">
                <a:latin typeface="Arial MT"/>
                <a:cs typeface="Arial MT"/>
              </a:rPr>
              <a:t>-</a:t>
            </a:r>
            <a:r>
              <a:rPr sz="3350" spc="795" dirty="0">
                <a:latin typeface="Arial MT"/>
                <a:cs typeface="Arial MT"/>
              </a:rPr>
              <a:t> </a:t>
            </a:r>
            <a:r>
              <a:rPr sz="3350" spc="155" dirty="0">
                <a:latin typeface="Arial MT"/>
                <a:cs typeface="Arial MT"/>
              </a:rPr>
              <a:t>Network</a:t>
            </a:r>
            <a:r>
              <a:rPr sz="3350" spc="160" dirty="0">
                <a:latin typeface="Arial MT"/>
                <a:cs typeface="Arial MT"/>
              </a:rPr>
              <a:t> </a:t>
            </a:r>
            <a:r>
              <a:rPr sz="3350" spc="204" dirty="0">
                <a:latin typeface="Arial MT"/>
                <a:cs typeface="Arial MT"/>
              </a:rPr>
              <a:t>Intrusion</a:t>
            </a:r>
            <a:r>
              <a:rPr sz="3350" spc="130" dirty="0">
                <a:latin typeface="Arial MT"/>
                <a:cs typeface="Arial MT"/>
              </a:rPr>
              <a:t> </a:t>
            </a:r>
            <a:r>
              <a:rPr sz="3350" spc="140" dirty="0">
                <a:latin typeface="Arial MT"/>
                <a:cs typeface="Arial MT"/>
              </a:rPr>
              <a:t>Detection</a:t>
            </a:r>
            <a:endParaRPr sz="3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4"/>
              </a:spcBef>
            </a:pPr>
            <a:endParaRPr sz="3350">
              <a:latin typeface="Arial MT"/>
              <a:cs typeface="Arial MT"/>
            </a:endParaRPr>
          </a:p>
          <a:p>
            <a:pPr marL="19050" algn="just">
              <a:lnSpc>
                <a:spcPct val="100000"/>
              </a:lnSpc>
            </a:pPr>
            <a:r>
              <a:rPr sz="3350" spc="90" dirty="0">
                <a:latin typeface="Arial MT"/>
                <a:cs typeface="Arial MT"/>
              </a:rPr>
              <a:t>The</a:t>
            </a:r>
            <a:r>
              <a:rPr sz="3350" spc="40" dirty="0">
                <a:latin typeface="Arial MT"/>
                <a:cs typeface="Arial MT"/>
              </a:rPr>
              <a:t> </a:t>
            </a:r>
            <a:r>
              <a:rPr sz="3350" spc="110" dirty="0">
                <a:latin typeface="Arial MT"/>
                <a:cs typeface="Arial MT"/>
              </a:rPr>
              <a:t>Challenge:</a:t>
            </a:r>
            <a:endParaRPr sz="3350">
              <a:latin typeface="Arial MT"/>
              <a:cs typeface="Arial MT"/>
            </a:endParaRPr>
          </a:p>
          <a:p>
            <a:pPr marL="20320" marR="5080" indent="-2540" algn="just">
              <a:lnSpc>
                <a:spcPct val="125800"/>
              </a:lnSpc>
              <a:spcBef>
                <a:spcPts val="1280"/>
              </a:spcBef>
            </a:pPr>
            <a:r>
              <a:rPr sz="2950" dirty="0">
                <a:latin typeface="Arial MT"/>
                <a:cs typeface="Arial MT"/>
              </a:rPr>
              <a:t>Create</a:t>
            </a:r>
            <a:r>
              <a:rPr sz="2950" spc="345" dirty="0">
                <a:latin typeface="Arial MT"/>
                <a:cs typeface="Arial MT"/>
              </a:rPr>
              <a:t> </a:t>
            </a:r>
            <a:r>
              <a:rPr sz="2950" spc="110" dirty="0">
                <a:latin typeface="Arial MT"/>
                <a:cs typeface="Arial MT"/>
              </a:rPr>
              <a:t>a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robust</a:t>
            </a:r>
            <a:r>
              <a:rPr sz="2950" spc="3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network</a:t>
            </a:r>
            <a:r>
              <a:rPr sz="2950" spc="3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intrusion</a:t>
            </a:r>
            <a:r>
              <a:rPr sz="2950" spc="3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detection</a:t>
            </a:r>
            <a:r>
              <a:rPr sz="2950" spc="4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system</a:t>
            </a:r>
            <a:r>
              <a:rPr sz="2950" spc="3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(NIDS)</a:t>
            </a:r>
            <a:r>
              <a:rPr sz="2950" spc="3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using</a:t>
            </a:r>
            <a:r>
              <a:rPr sz="2950" spc="229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machine</a:t>
            </a:r>
            <a:r>
              <a:rPr sz="2950" spc="3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learning.</a:t>
            </a:r>
            <a:r>
              <a:rPr sz="2950" spc="3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25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system</a:t>
            </a:r>
            <a:r>
              <a:rPr sz="2950" spc="33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should </a:t>
            </a:r>
            <a:r>
              <a:rPr sz="2950" dirty="0">
                <a:latin typeface="Arial MT"/>
                <a:cs typeface="Arial MT"/>
              </a:rPr>
              <a:t>be</a:t>
            </a:r>
            <a:r>
              <a:rPr sz="2950" spc="2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capable</a:t>
            </a:r>
            <a:r>
              <a:rPr sz="2950" spc="37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25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analyzing</a:t>
            </a:r>
            <a:r>
              <a:rPr sz="2950" spc="4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network</a:t>
            </a:r>
            <a:r>
              <a:rPr sz="2950" spc="3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traffic</a:t>
            </a:r>
            <a:r>
              <a:rPr sz="2950" spc="3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data</a:t>
            </a:r>
            <a:r>
              <a:rPr sz="2950" spc="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1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identify</a:t>
            </a:r>
            <a:r>
              <a:rPr sz="2950" spc="280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0011F"/>
                </a:solidFill>
                <a:latin typeface="Arial MT"/>
                <a:cs typeface="Arial MT"/>
              </a:rPr>
              <a:t>and</a:t>
            </a:r>
            <a:r>
              <a:rPr sz="2950" spc="245" dirty="0">
                <a:solidFill>
                  <a:srgbClr val="00011F"/>
                </a:solidFill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classify</a:t>
            </a:r>
            <a:r>
              <a:rPr sz="2950" spc="2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various</a:t>
            </a:r>
            <a:r>
              <a:rPr sz="2950" spc="2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types</a:t>
            </a:r>
            <a:r>
              <a:rPr sz="2950" spc="2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305" dirty="0">
                <a:latin typeface="Arial MT"/>
                <a:cs typeface="Arial MT"/>
              </a:rPr>
              <a:t> </a:t>
            </a:r>
            <a:r>
              <a:rPr sz="2950" spc="-35" dirty="0">
                <a:latin typeface="Arial MT"/>
                <a:cs typeface="Arial MT"/>
              </a:rPr>
              <a:t>cyber-</a:t>
            </a:r>
            <a:r>
              <a:rPr sz="2950" dirty="0">
                <a:latin typeface="Arial MT"/>
                <a:cs typeface="Arial MT"/>
              </a:rPr>
              <a:t>attacks</a:t>
            </a:r>
            <a:r>
              <a:rPr sz="2950" spc="4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(e.g., </a:t>
            </a:r>
            <a:r>
              <a:rPr sz="2950" dirty="0">
                <a:latin typeface="Arial MT"/>
                <a:cs typeface="Arial MT"/>
              </a:rPr>
              <a:t>DoS,</a:t>
            </a:r>
            <a:r>
              <a:rPr sz="2950" spc="2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Probe,</a:t>
            </a:r>
            <a:r>
              <a:rPr sz="2950" spc="2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R2L,</a:t>
            </a:r>
            <a:r>
              <a:rPr sz="2950" spc="20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U2R)</a:t>
            </a:r>
            <a:r>
              <a:rPr sz="2950" spc="3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and</a:t>
            </a:r>
            <a:r>
              <a:rPr sz="2950" spc="1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distinguish</a:t>
            </a:r>
            <a:r>
              <a:rPr sz="2950" spc="37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them</a:t>
            </a:r>
            <a:r>
              <a:rPr sz="2950" spc="2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from</a:t>
            </a:r>
            <a:r>
              <a:rPr sz="2950" spc="2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normal</a:t>
            </a:r>
            <a:r>
              <a:rPr sz="2950" spc="2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network</a:t>
            </a:r>
            <a:r>
              <a:rPr sz="2950" spc="31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activity.</a:t>
            </a:r>
            <a:r>
              <a:rPr sz="2950" spc="2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2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goal</a:t>
            </a:r>
            <a:r>
              <a:rPr sz="2950" spc="19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is</a:t>
            </a:r>
            <a:r>
              <a:rPr sz="2950" spc="1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1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build</a:t>
            </a:r>
            <a:r>
              <a:rPr sz="2950" spc="2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model </a:t>
            </a:r>
            <a:r>
              <a:rPr sz="2950" dirty="0">
                <a:latin typeface="Arial MT"/>
                <a:cs typeface="Arial MT"/>
              </a:rPr>
              <a:t>that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can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effectively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secure</a:t>
            </a:r>
            <a:r>
              <a:rPr sz="2950" spc="9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communication</a:t>
            </a:r>
            <a:r>
              <a:rPr sz="2950" spc="2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networks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by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providing</a:t>
            </a:r>
            <a:r>
              <a:rPr sz="2950" spc="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early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warning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malicious</a:t>
            </a:r>
            <a:r>
              <a:rPr sz="2950" spc="14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activities.</a:t>
            </a:r>
            <a:endParaRPr sz="2950">
              <a:latin typeface="Arial MT"/>
              <a:cs typeface="Arial MT"/>
            </a:endParaRPr>
          </a:p>
          <a:p>
            <a:pPr marL="12700" marR="1328420" indent="4445" algn="just">
              <a:lnSpc>
                <a:spcPts val="8530"/>
              </a:lnSpc>
              <a:spcBef>
                <a:spcPts val="550"/>
              </a:spcBef>
            </a:pPr>
            <a:r>
              <a:rPr sz="2950" spc="85" dirty="0">
                <a:latin typeface="Arial MT"/>
                <a:cs typeface="Arial MT"/>
              </a:rPr>
              <a:t>Kaggle</a:t>
            </a:r>
            <a:r>
              <a:rPr sz="2950" spc="150" dirty="0">
                <a:latin typeface="Arial MT"/>
                <a:cs typeface="Arial MT"/>
              </a:rPr>
              <a:t> </a:t>
            </a:r>
            <a:r>
              <a:rPr sz="2950" spc="60" dirty="0">
                <a:latin typeface="Arial MT"/>
                <a:cs typeface="Arial MT"/>
              </a:rPr>
              <a:t>dataset</a:t>
            </a:r>
            <a:r>
              <a:rPr sz="2950" spc="215" dirty="0">
                <a:latin typeface="Arial MT"/>
                <a:cs typeface="Arial MT"/>
              </a:rPr>
              <a:t> </a:t>
            </a:r>
            <a:r>
              <a:rPr sz="2950" spc="140" dirty="0">
                <a:latin typeface="Arial MT"/>
                <a:cs typeface="Arial MT"/>
              </a:rPr>
              <a:t>link</a:t>
            </a:r>
            <a:r>
              <a:rPr sz="2950" spc="155" dirty="0">
                <a:latin typeface="Arial MT"/>
                <a:cs typeface="Arial MT"/>
              </a:rPr>
              <a:t> </a:t>
            </a:r>
            <a:r>
              <a:rPr sz="2950" spc="-1475" dirty="0">
                <a:latin typeface="Arial MT"/>
                <a:cs typeface="Arial MT"/>
              </a:rPr>
              <a:t>—</a:t>
            </a:r>
            <a:r>
              <a:rPr sz="2950" spc="100" dirty="0">
                <a:latin typeface="Arial MT"/>
                <a:cs typeface="Arial MT"/>
              </a:rPr>
              <a:t> </a:t>
            </a:r>
            <a:r>
              <a:rPr sz="2950" u="heavy" spc="-5" dirty="0">
                <a:solidFill>
                  <a:srgbClr val="005BB8"/>
                </a:solidFill>
                <a:uFill>
                  <a:solidFill>
                    <a:srgbClr val="0C60B3"/>
                  </a:solidFill>
                </a:uFill>
                <a:latin typeface="Arial MT"/>
                <a:cs typeface="Arial MT"/>
                <a:hlinkClick r:id="rId2"/>
              </a:rPr>
              <a:t>https://www.ka</a:t>
            </a:r>
            <a:r>
              <a:rPr sz="2950" spc="-5" dirty="0">
                <a:solidFill>
                  <a:srgbClr val="005BB8"/>
                </a:solidFill>
                <a:latin typeface="Arial MT"/>
                <a:cs typeface="Arial MT"/>
                <a:hlinkClick r:id="rId2"/>
              </a:rPr>
              <a:t>gg</a:t>
            </a:r>
            <a:r>
              <a:rPr sz="2950" u="heavy" spc="-5" dirty="0">
                <a:solidFill>
                  <a:srgbClr val="005BB8"/>
                </a:solidFill>
                <a:uFill>
                  <a:solidFill>
                    <a:srgbClr val="0C60B3"/>
                  </a:solidFill>
                </a:uFill>
                <a:latin typeface="Arial MT"/>
                <a:cs typeface="Arial MT"/>
                <a:hlinkClick r:id="rId2"/>
              </a:rPr>
              <a:t>le.com/datasets/sampadab17/network-intrusion-detection</a:t>
            </a:r>
            <a:r>
              <a:rPr sz="2950" spc="-5" dirty="0">
                <a:solidFill>
                  <a:srgbClr val="005BB8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latin typeface="Arial MT"/>
                <a:cs typeface="Arial MT"/>
              </a:rPr>
              <a:t>Technology</a:t>
            </a:r>
            <a:r>
              <a:rPr sz="2950" spc="325" dirty="0">
                <a:latin typeface="Arial MT"/>
                <a:cs typeface="Arial MT"/>
              </a:rPr>
              <a:t> </a:t>
            </a:r>
            <a:r>
              <a:rPr sz="2950" spc="-1475" dirty="0">
                <a:latin typeface="Arial MT"/>
                <a:cs typeface="Arial MT"/>
              </a:rPr>
              <a:t>—</a:t>
            </a:r>
            <a:r>
              <a:rPr sz="2950" spc="120" dirty="0">
                <a:latin typeface="Arial MT"/>
                <a:cs typeface="Arial MT"/>
              </a:rPr>
              <a:t> </a:t>
            </a:r>
            <a:r>
              <a:rPr sz="2950" spc="-60" dirty="0">
                <a:latin typeface="Arial MT"/>
                <a:cs typeface="Arial MT"/>
              </a:rPr>
              <a:t>Use</a:t>
            </a:r>
            <a:r>
              <a:rPr sz="2950" spc="200" dirty="0">
                <a:latin typeface="Arial MT"/>
                <a:cs typeface="Arial MT"/>
              </a:rPr>
              <a:t> </a:t>
            </a:r>
            <a:r>
              <a:rPr sz="2950" spc="-90" dirty="0">
                <a:latin typeface="Arial MT"/>
                <a:cs typeface="Arial MT"/>
              </a:rPr>
              <a:t>of</a:t>
            </a:r>
            <a:r>
              <a:rPr sz="2950" spc="165" dirty="0">
                <a:latin typeface="Arial MT"/>
                <a:cs typeface="Arial MT"/>
              </a:rPr>
              <a:t> </a:t>
            </a:r>
            <a:r>
              <a:rPr sz="2950" spc="-35" dirty="0">
                <a:latin typeface="Arial MT"/>
                <a:cs typeface="Arial MT"/>
              </a:rPr>
              <a:t>IBM</a:t>
            </a:r>
            <a:r>
              <a:rPr sz="2950" spc="114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cloud</a:t>
            </a:r>
            <a:r>
              <a:rPr sz="2950" spc="7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lite</a:t>
            </a:r>
            <a:r>
              <a:rPr sz="2950" spc="80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services</a:t>
            </a:r>
            <a:r>
              <a:rPr sz="2950" spc="235" dirty="0">
                <a:latin typeface="Arial MT"/>
                <a:cs typeface="Arial MT"/>
              </a:rPr>
              <a:t> </a:t>
            </a:r>
            <a:r>
              <a:rPr sz="2950" spc="-15" dirty="0">
                <a:latin typeface="Arial MT"/>
                <a:cs typeface="Arial MT"/>
              </a:rPr>
              <a:t>is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mandatory.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10"/>
              </a:spcBef>
            </a:pPr>
            <a:r>
              <a:rPr sz="5400" spc="165" dirty="0"/>
              <a:t>Technology</a:t>
            </a:r>
            <a:r>
              <a:rPr sz="5400" spc="475" dirty="0"/>
              <a:t> </a:t>
            </a:r>
            <a:r>
              <a:rPr sz="5400" spc="130" dirty="0"/>
              <a:t>Used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364266" y="2508820"/>
            <a:ext cx="17262475" cy="538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1790" indent="-338455">
              <a:lnSpc>
                <a:spcPct val="100000"/>
              </a:lnSpc>
              <a:spcBef>
                <a:spcPts val="110"/>
              </a:spcBef>
              <a:buChar char="•"/>
              <a:tabLst>
                <a:tab pos="351790" algn="l"/>
              </a:tabLst>
            </a:pPr>
            <a:r>
              <a:rPr sz="2950" spc="70" dirty="0">
                <a:latin typeface="Arial MT"/>
                <a:cs typeface="Arial MT"/>
              </a:rPr>
              <a:t>IBM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spc="120" dirty="0">
                <a:latin typeface="Arial MT"/>
                <a:cs typeface="Arial MT"/>
              </a:rPr>
              <a:t>Cloud: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Provides</a:t>
            </a:r>
            <a:r>
              <a:rPr sz="2950" spc="15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00816"/>
                </a:solidFill>
                <a:latin typeface="Arial MT"/>
                <a:cs typeface="Arial MT"/>
              </a:rPr>
              <a:t>the</a:t>
            </a:r>
            <a:r>
              <a:rPr sz="2950" spc="5" dirty="0">
                <a:solidFill>
                  <a:srgbClr val="000816"/>
                </a:solidFill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scalable</a:t>
            </a:r>
            <a:r>
              <a:rPr sz="2950" spc="1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infrastructure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necessary</a:t>
            </a:r>
            <a:r>
              <a:rPr sz="2950" spc="130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00323"/>
                </a:solidFill>
                <a:latin typeface="Arial MT"/>
                <a:cs typeface="Arial MT"/>
              </a:rPr>
              <a:t>to</a:t>
            </a:r>
            <a:r>
              <a:rPr sz="2950" spc="-75" dirty="0">
                <a:solidFill>
                  <a:srgbClr val="000323"/>
                </a:solidFill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host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machine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learning</a:t>
            </a:r>
            <a:r>
              <a:rPr sz="2950" spc="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models</a:t>
            </a:r>
            <a:r>
              <a:rPr sz="2950" spc="13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securely.</a:t>
            </a:r>
            <a:endParaRPr sz="2950">
              <a:latin typeface="Arial MT"/>
              <a:cs typeface="Arial MT"/>
            </a:endParaRPr>
          </a:p>
          <a:p>
            <a:pPr marL="351790" marR="522605" indent="-339090">
              <a:lnSpc>
                <a:spcPct val="127499"/>
              </a:lnSpc>
              <a:spcBef>
                <a:spcPts val="1795"/>
              </a:spcBef>
              <a:buChar char="•"/>
              <a:tabLst>
                <a:tab pos="362585" algn="l"/>
              </a:tabLst>
            </a:pPr>
            <a:r>
              <a:rPr sz="2950" spc="70" dirty="0">
                <a:latin typeface="Arial MT"/>
                <a:cs typeface="Arial MT"/>
              </a:rPr>
              <a:t>IBM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spc="85" dirty="0">
                <a:latin typeface="Arial MT"/>
                <a:cs typeface="Arial MT"/>
              </a:rPr>
              <a:t>watsonx.ai:</a:t>
            </a:r>
            <a:r>
              <a:rPr sz="2950" spc="1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core</a:t>
            </a:r>
            <a:r>
              <a:rPr sz="2950" spc="-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studio</a:t>
            </a:r>
            <a:r>
              <a:rPr sz="2950" spc="-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platform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utilized</a:t>
            </a:r>
            <a:r>
              <a:rPr sz="2950" spc="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for</a:t>
            </a:r>
            <a:r>
              <a:rPr sz="2950" spc="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building,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training,</a:t>
            </a:r>
            <a:r>
              <a:rPr sz="2950" spc="165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10C15"/>
                </a:solidFill>
                <a:latin typeface="Arial MT"/>
                <a:cs typeface="Arial MT"/>
              </a:rPr>
              <a:t>and</a:t>
            </a:r>
            <a:r>
              <a:rPr sz="2950" spc="15" dirty="0">
                <a:solidFill>
                  <a:srgbClr val="010C15"/>
                </a:solidFill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deploying</a:t>
            </a:r>
            <a:r>
              <a:rPr sz="2950" spc="85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0030F"/>
                </a:solidFill>
                <a:latin typeface="Arial MT"/>
                <a:cs typeface="Arial MT"/>
              </a:rPr>
              <a:t>the</a:t>
            </a:r>
            <a:r>
              <a:rPr sz="2950" spc="5" dirty="0">
                <a:solidFill>
                  <a:srgbClr val="00030F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machine 	</a:t>
            </a:r>
            <a:r>
              <a:rPr sz="2950" dirty="0">
                <a:latin typeface="Arial MT"/>
                <a:cs typeface="Arial MT"/>
              </a:rPr>
              <a:t>learning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models.</a:t>
            </a:r>
            <a:endParaRPr sz="2950">
              <a:latin typeface="Arial MT"/>
              <a:cs typeface="Arial MT"/>
            </a:endParaRPr>
          </a:p>
          <a:p>
            <a:pPr marL="357505" indent="-344170">
              <a:lnSpc>
                <a:spcPct val="100000"/>
              </a:lnSpc>
              <a:spcBef>
                <a:spcPts val="2705"/>
              </a:spcBef>
              <a:buChar char="•"/>
              <a:tabLst>
                <a:tab pos="357505" algn="l"/>
                <a:tab pos="12513945" algn="l"/>
              </a:tabLst>
            </a:pPr>
            <a:r>
              <a:rPr sz="2950" spc="120" dirty="0">
                <a:latin typeface="Arial MT"/>
                <a:cs typeface="Arial MT"/>
              </a:rPr>
              <a:t>Python: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primary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programming</a:t>
            </a:r>
            <a:r>
              <a:rPr sz="2950" spc="2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language</a:t>
            </a:r>
            <a:r>
              <a:rPr sz="2950" spc="1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used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for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data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manipulation</a:t>
            </a:r>
            <a:r>
              <a:rPr sz="2950" dirty="0">
                <a:latin typeface="Arial MT"/>
                <a:cs typeface="Arial MT"/>
              </a:rPr>
              <a:t>	</a:t>
            </a:r>
            <a:r>
              <a:rPr sz="2950" dirty="0">
                <a:solidFill>
                  <a:srgbClr val="00071C"/>
                </a:solidFill>
                <a:latin typeface="Arial MT"/>
                <a:cs typeface="Arial MT"/>
              </a:rPr>
              <a:t>and</a:t>
            </a:r>
            <a:r>
              <a:rPr sz="2950" spc="-10" dirty="0">
                <a:solidFill>
                  <a:srgbClr val="00071C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scripting.</a:t>
            </a:r>
            <a:endParaRPr sz="2950">
              <a:latin typeface="Arial MT"/>
              <a:cs typeface="Arial MT"/>
            </a:endParaRPr>
          </a:p>
          <a:p>
            <a:pPr marL="361315" marR="737235" indent="-349250">
              <a:lnSpc>
                <a:spcPct val="119700"/>
              </a:lnSpc>
              <a:spcBef>
                <a:spcPts val="1885"/>
              </a:spcBef>
              <a:buChar char="•"/>
              <a:tabLst>
                <a:tab pos="362585" algn="l"/>
              </a:tabLst>
            </a:pPr>
            <a:r>
              <a:rPr sz="3100" dirty="0">
                <a:latin typeface="Arial MT"/>
                <a:cs typeface="Arial MT"/>
              </a:rPr>
              <a:t>Scikit-Learn: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The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foundational</a:t>
            </a:r>
            <a:r>
              <a:rPr sz="3100" spc="5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machine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learning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library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used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train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classification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algorithms 	</a:t>
            </a:r>
            <a:r>
              <a:rPr sz="3100" spc="-35" dirty="0">
                <a:latin typeface="Arial MT"/>
                <a:cs typeface="Arial MT"/>
              </a:rPr>
              <a:t>(e.g.,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100" dirty="0">
                <a:latin typeface="Arial MT"/>
                <a:cs typeface="Arial MT"/>
              </a:rPr>
              <a:t>Random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Forest,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SVM).</a:t>
            </a:r>
            <a:endParaRPr sz="3100">
              <a:latin typeface="Arial MT"/>
              <a:cs typeface="Arial MT"/>
            </a:endParaRPr>
          </a:p>
          <a:p>
            <a:pPr marL="356235" marR="725805" indent="-344170">
              <a:lnSpc>
                <a:spcPct val="121300"/>
              </a:lnSpc>
              <a:spcBef>
                <a:spcPts val="1795"/>
              </a:spcBef>
              <a:buChar char="•"/>
              <a:tabLst>
                <a:tab pos="365760" algn="l"/>
              </a:tabLst>
            </a:pPr>
            <a:r>
              <a:rPr sz="3100" dirty="0">
                <a:latin typeface="Arial MT"/>
                <a:cs typeface="Arial MT"/>
              </a:rPr>
              <a:t>Pandas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&amp;</a:t>
            </a:r>
            <a:r>
              <a:rPr sz="3100" spc="-2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NumPy: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Used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extensively</a:t>
            </a:r>
            <a:r>
              <a:rPr sz="3100" spc="6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for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60" dirty="0">
                <a:solidFill>
                  <a:srgbClr val="00051D"/>
                </a:solidFill>
                <a:latin typeface="Arial MT"/>
                <a:cs typeface="Arial MT"/>
              </a:rPr>
              <a:t>data</a:t>
            </a:r>
            <a:r>
              <a:rPr sz="3100" spc="-155" dirty="0">
                <a:solidFill>
                  <a:srgbClr val="00051D"/>
                </a:solidFill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preprocessing,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feature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extraction,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and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handling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	</a:t>
            </a:r>
            <a:r>
              <a:rPr sz="3100" spc="-75" dirty="0">
                <a:latin typeface="Arial MT"/>
                <a:cs typeface="Arial MT"/>
              </a:rPr>
              <a:t>Kaggle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dataset.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10"/>
              </a:spcBef>
            </a:pPr>
            <a:r>
              <a:rPr sz="5400" b="1" dirty="0">
                <a:latin typeface="Arial"/>
                <a:cs typeface="Arial"/>
              </a:rPr>
              <a:t>Proposed</a:t>
            </a:r>
            <a:r>
              <a:rPr sz="5400" b="1" spc="160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Solution:</a:t>
            </a:r>
            <a:r>
              <a:rPr sz="5400" b="1" spc="125" dirty="0">
                <a:latin typeface="Arial"/>
                <a:cs typeface="Arial"/>
              </a:rPr>
              <a:t> </a:t>
            </a:r>
            <a:r>
              <a:rPr sz="5400" b="1" spc="-20" dirty="0">
                <a:latin typeface="Arial"/>
                <a:cs typeface="Arial"/>
              </a:rPr>
              <a:t>NIDS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1671" y="2241158"/>
            <a:ext cx="17491075" cy="762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5930" indent="635">
              <a:lnSpc>
                <a:spcPct val="119700"/>
              </a:lnSpc>
              <a:spcBef>
                <a:spcPts val="100"/>
              </a:spcBef>
            </a:pPr>
            <a:r>
              <a:rPr sz="3100" spc="-55" dirty="0">
                <a:latin typeface="Arial MT"/>
                <a:cs typeface="Arial MT"/>
              </a:rPr>
              <a:t>The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proposed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solution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2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machine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learning-</a:t>
            </a:r>
            <a:r>
              <a:rPr sz="3100" spc="-65" dirty="0">
                <a:latin typeface="Arial MT"/>
                <a:cs typeface="Arial MT"/>
              </a:rPr>
              <a:t>based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Network</a:t>
            </a:r>
            <a:r>
              <a:rPr sz="3100" spc="-60" dirty="0">
                <a:latin typeface="Arial MT"/>
                <a:cs typeface="Arial MT"/>
              </a:rPr>
              <a:t> Intrusion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Detection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System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built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on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IBM </a:t>
            </a:r>
            <a:r>
              <a:rPr sz="3100" spc="-70" dirty="0">
                <a:latin typeface="Arial MT"/>
                <a:cs typeface="Arial MT"/>
              </a:rPr>
              <a:t>watsonx.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It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addresses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challenge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of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identifying </a:t>
            </a:r>
            <a:r>
              <a:rPr sz="3100" spc="-60" dirty="0">
                <a:latin typeface="Arial MT"/>
                <a:cs typeface="Arial MT"/>
              </a:rPr>
              <a:t>network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attacks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by</a:t>
            </a:r>
            <a:r>
              <a:rPr sz="3100" spc="-18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establishing</a:t>
            </a:r>
            <a:r>
              <a:rPr sz="3100" dirty="0">
                <a:latin typeface="Arial MT"/>
                <a:cs typeface="Arial MT"/>
              </a:rPr>
              <a:t> a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baseline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normal </a:t>
            </a:r>
            <a:r>
              <a:rPr sz="3100" spc="-65" dirty="0">
                <a:latin typeface="Arial MT"/>
                <a:cs typeface="Arial MT"/>
              </a:rPr>
              <a:t>behavior and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categorizing</a:t>
            </a:r>
            <a:r>
              <a:rPr sz="3100" spc="-10" dirty="0">
                <a:latin typeface="Arial MT"/>
                <a:cs typeface="Arial MT"/>
              </a:rPr>
              <a:t> anomalies.</a:t>
            </a:r>
            <a:endParaRPr sz="3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3100" dirty="0">
              <a:latin typeface="Arial MT"/>
              <a:cs typeface="Arial MT"/>
            </a:endParaRPr>
          </a:p>
          <a:p>
            <a:pPr marL="478790" marR="1054100" indent="-344170">
              <a:lnSpc>
                <a:spcPct val="121300"/>
              </a:lnSpc>
              <a:spcBef>
                <a:spcPts val="5"/>
              </a:spcBef>
              <a:buChar char="•"/>
              <a:tabLst>
                <a:tab pos="483234" algn="l"/>
              </a:tabLst>
            </a:pPr>
            <a:r>
              <a:rPr sz="3100" b="1" dirty="0">
                <a:latin typeface="Arial MT"/>
                <a:cs typeface="Arial MT"/>
              </a:rPr>
              <a:t>Data</a:t>
            </a:r>
            <a:r>
              <a:rPr sz="3100" spc="-220" dirty="0">
                <a:latin typeface="Arial MT"/>
                <a:cs typeface="Arial MT"/>
              </a:rPr>
              <a:t> </a:t>
            </a:r>
            <a:r>
              <a:rPr sz="3100" b="1" spc="-80" dirty="0">
                <a:latin typeface="Arial"/>
                <a:cs typeface="Arial"/>
              </a:rPr>
              <a:t>Preprocessing:</a:t>
            </a:r>
            <a:r>
              <a:rPr sz="3100" b="1" spc="-135" dirty="0">
                <a:latin typeface="Arial"/>
                <a:cs typeface="Arial"/>
              </a:rPr>
              <a:t> </a:t>
            </a:r>
            <a:r>
              <a:rPr sz="3100" spc="-45" dirty="0">
                <a:latin typeface="Arial MT"/>
                <a:cs typeface="Arial MT"/>
              </a:rPr>
              <a:t>The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135" dirty="0">
                <a:latin typeface="Arial MT"/>
                <a:cs typeface="Arial MT"/>
              </a:rPr>
              <a:t>NSL-</a:t>
            </a:r>
            <a:r>
              <a:rPr sz="3100" spc="-30" dirty="0">
                <a:latin typeface="Arial MT"/>
                <a:cs typeface="Arial MT"/>
              </a:rPr>
              <a:t>KDD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dataset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204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ingested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spc="-40" dirty="0">
                <a:solidFill>
                  <a:srgbClr val="00010F"/>
                </a:solidFill>
                <a:latin typeface="Arial MT"/>
                <a:cs typeface="Arial MT"/>
              </a:rPr>
              <a:t>and</a:t>
            </a:r>
            <a:r>
              <a:rPr sz="3100" spc="-130" dirty="0">
                <a:solidFill>
                  <a:srgbClr val="00010F"/>
                </a:solidFill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cleaned.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Categorical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features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(like 	</a:t>
            </a:r>
            <a:r>
              <a:rPr sz="3100" spc="-80" dirty="0">
                <a:latin typeface="Arial MT"/>
                <a:cs typeface="Arial MT"/>
              </a:rPr>
              <a:t>protocoI_type)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are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encoded,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and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numerical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features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are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scaled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optimal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model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performance.</a:t>
            </a:r>
            <a:endParaRPr sz="3100" dirty="0">
              <a:latin typeface="Arial MT"/>
              <a:cs typeface="Arial MT"/>
            </a:endParaRPr>
          </a:p>
          <a:p>
            <a:pPr marL="481330" marR="351790" indent="-346075">
              <a:lnSpc>
                <a:spcPct val="119700"/>
              </a:lnSpc>
              <a:spcBef>
                <a:spcPts val="1789"/>
              </a:spcBef>
              <a:buFont typeface="Arial MT"/>
              <a:buChar char="•"/>
              <a:tabLst>
                <a:tab pos="483870" algn="l"/>
              </a:tabLst>
            </a:pPr>
            <a:r>
              <a:rPr sz="3100" b="1" spc="-85" dirty="0">
                <a:latin typeface="Arial"/>
                <a:cs typeface="Arial"/>
              </a:rPr>
              <a:t>Model</a:t>
            </a:r>
            <a:r>
              <a:rPr sz="3100" b="1" spc="-135" dirty="0">
                <a:latin typeface="Arial"/>
                <a:cs typeface="Arial"/>
              </a:rPr>
              <a:t> </a:t>
            </a:r>
            <a:r>
              <a:rPr sz="3100" b="1" spc="-95" dirty="0">
                <a:latin typeface="Arial"/>
                <a:cs typeface="Arial"/>
              </a:rPr>
              <a:t>Training:</a:t>
            </a:r>
            <a:r>
              <a:rPr sz="3100" b="1" spc="-120" dirty="0">
                <a:latin typeface="Arial"/>
                <a:cs typeface="Arial"/>
              </a:rPr>
              <a:t> </a:t>
            </a:r>
            <a:r>
              <a:rPr sz="3100" spc="-385" dirty="0">
                <a:latin typeface="Arial"/>
                <a:cs typeface="Arial"/>
              </a:rPr>
              <a:t>A</a:t>
            </a:r>
            <a:r>
              <a:rPr sz="3100" b="1" spc="-160" dirty="0">
                <a:latin typeface="Arial"/>
                <a:cs typeface="Arial"/>
              </a:rPr>
              <a:t> </a:t>
            </a:r>
            <a:r>
              <a:rPr sz="3100" spc="-65" dirty="0">
                <a:latin typeface="Arial MT"/>
                <a:cs typeface="Arial MT"/>
              </a:rPr>
              <a:t>multiclass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classification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model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trained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on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IBM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watsonx.ai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recognize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patterns 	</a:t>
            </a:r>
            <a:r>
              <a:rPr sz="3100" spc="-75" dirty="0">
                <a:latin typeface="Arial MT"/>
                <a:cs typeface="Arial MT"/>
              </a:rPr>
              <a:t>belonging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Normal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traffic,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DoS,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Probe,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R2L,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and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U2R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attacks.</a:t>
            </a:r>
            <a:endParaRPr sz="3100" dirty="0">
              <a:latin typeface="Arial MT"/>
              <a:cs typeface="Arial MT"/>
            </a:endParaRPr>
          </a:p>
          <a:p>
            <a:pPr marL="480695" marR="517525" indent="-345440">
              <a:lnSpc>
                <a:spcPct val="119700"/>
              </a:lnSpc>
              <a:spcBef>
                <a:spcPts val="1855"/>
              </a:spcBef>
              <a:buFont typeface="Arial MT"/>
              <a:buChar char="•"/>
              <a:tabLst>
                <a:tab pos="490220" algn="l"/>
              </a:tabLst>
            </a:pPr>
            <a:r>
              <a:rPr sz="3100" b="1" spc="-120" dirty="0">
                <a:latin typeface="Arial"/>
                <a:cs typeface="Arial"/>
              </a:rPr>
              <a:t>Real-</a:t>
            </a:r>
            <a:r>
              <a:rPr sz="3100" b="1" spc="-40" dirty="0">
                <a:latin typeface="Arial"/>
                <a:cs typeface="Arial"/>
              </a:rPr>
              <a:t>Time</a:t>
            </a:r>
            <a:r>
              <a:rPr sz="3100" b="1" spc="-155" dirty="0">
                <a:latin typeface="Arial"/>
                <a:cs typeface="Arial"/>
              </a:rPr>
              <a:t> </a:t>
            </a:r>
            <a:r>
              <a:rPr sz="3100" b="1" spc="-75" dirty="0">
                <a:latin typeface="Arial"/>
                <a:cs typeface="Arial"/>
              </a:rPr>
              <a:t>Inference:</a:t>
            </a:r>
            <a:r>
              <a:rPr sz="3100" b="1" spc="-60" dirty="0">
                <a:latin typeface="Arial"/>
                <a:cs typeface="Arial"/>
              </a:rPr>
              <a:t> </a:t>
            </a:r>
            <a:r>
              <a:rPr sz="3100" spc="-80" dirty="0">
                <a:latin typeface="Arial MT"/>
                <a:cs typeface="Arial MT"/>
              </a:rPr>
              <a:t>The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trained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model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18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deployed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as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spc="-120" dirty="0">
                <a:latin typeface="Arial MT"/>
                <a:cs typeface="Arial MT"/>
              </a:rPr>
              <a:t>an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API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endpoint.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Incoming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network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packet 	</a:t>
            </a:r>
            <a:r>
              <a:rPr sz="3100" spc="-60" dirty="0">
                <a:latin typeface="Arial MT"/>
                <a:cs typeface="Arial MT"/>
              </a:rPr>
              <a:t>features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are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sent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via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JSON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000C1D"/>
                </a:solidFill>
                <a:latin typeface="Arial MT"/>
                <a:cs typeface="Arial MT"/>
              </a:rPr>
              <a:t>to</a:t>
            </a:r>
            <a:r>
              <a:rPr sz="3100" spc="-215" dirty="0">
                <a:solidFill>
                  <a:srgbClr val="000C1D"/>
                </a:solidFill>
                <a:latin typeface="Arial MT"/>
                <a:cs typeface="Arial MT"/>
              </a:rPr>
              <a:t> </a:t>
            </a:r>
            <a:r>
              <a:rPr sz="3100" spc="-45" dirty="0">
                <a:solidFill>
                  <a:srgbClr val="00011C"/>
                </a:solidFill>
                <a:latin typeface="Arial MT"/>
                <a:cs typeface="Arial MT"/>
              </a:rPr>
              <a:t>the</a:t>
            </a:r>
            <a:r>
              <a:rPr sz="3100" spc="-170" dirty="0">
                <a:solidFill>
                  <a:srgbClr val="00011C"/>
                </a:solidFill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model,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which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instantly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returns </a:t>
            </a:r>
            <a:r>
              <a:rPr sz="3100" dirty="0">
                <a:solidFill>
                  <a:srgbClr val="000324"/>
                </a:solidFill>
                <a:latin typeface="Arial MT"/>
                <a:cs typeface="Arial MT"/>
              </a:rPr>
              <a:t>a</a:t>
            </a:r>
            <a:r>
              <a:rPr sz="3100" spc="-229" dirty="0">
                <a:solidFill>
                  <a:srgbClr val="000324"/>
                </a:solidFill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threat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classification.</a:t>
            </a:r>
            <a:endParaRPr sz="3100" dirty="0">
              <a:latin typeface="Arial MT"/>
              <a:cs typeface="Arial MT"/>
            </a:endParaRPr>
          </a:p>
          <a:p>
            <a:pPr marL="478790" marR="5080" indent="-344170">
              <a:lnSpc>
                <a:spcPct val="119700"/>
              </a:lnSpc>
              <a:spcBef>
                <a:spcPts val="1855"/>
              </a:spcBef>
              <a:buChar char="•"/>
              <a:tabLst>
                <a:tab pos="483870" algn="l"/>
              </a:tabLst>
            </a:pPr>
            <a:r>
              <a:rPr sz="3100" dirty="0">
                <a:latin typeface="Arial MT"/>
                <a:cs typeface="Arial MT"/>
              </a:rPr>
              <a:t>Proactive</a:t>
            </a:r>
            <a:r>
              <a:rPr sz="3100" spc="-2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Security: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By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utilizing</a:t>
            </a:r>
            <a:r>
              <a:rPr sz="3100" spc="30" dirty="0">
                <a:latin typeface="Arial MT"/>
                <a:cs typeface="Arial MT"/>
              </a:rPr>
              <a:t> </a:t>
            </a:r>
            <a:r>
              <a:rPr sz="3100" spc="-175" dirty="0">
                <a:latin typeface="Arial MT"/>
                <a:cs typeface="Arial MT"/>
              </a:rPr>
              <a:t>ML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instead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traditional</a:t>
            </a:r>
            <a:r>
              <a:rPr sz="3100" spc="1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signature-</a:t>
            </a:r>
            <a:r>
              <a:rPr sz="3100" spc="-75" dirty="0">
                <a:latin typeface="Arial MT"/>
                <a:cs typeface="Arial MT"/>
              </a:rPr>
              <a:t>based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rules,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the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system</a:t>
            </a:r>
            <a:r>
              <a:rPr sz="3100" spc="2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can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detect 	</a:t>
            </a:r>
            <a:r>
              <a:rPr sz="3100" spc="-80" dirty="0">
                <a:latin typeface="Arial MT"/>
                <a:cs typeface="Arial MT"/>
              </a:rPr>
              <a:t>unknown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or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110" dirty="0">
                <a:latin typeface="Arial MT"/>
                <a:cs typeface="Arial MT"/>
              </a:rPr>
              <a:t>"zero-</a:t>
            </a:r>
            <a:r>
              <a:rPr sz="3100" spc="-25" dirty="0">
                <a:latin typeface="Arial MT"/>
                <a:cs typeface="Arial MT"/>
              </a:rPr>
              <a:t>day"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threats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based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on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statistical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deviations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-21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network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behavior.</a:t>
            </a:r>
            <a:endParaRPr sz="3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10"/>
              </a:spcBef>
            </a:pPr>
            <a:r>
              <a:rPr sz="5400" spc="210" dirty="0"/>
              <a:t>Components</a:t>
            </a:r>
            <a:r>
              <a:rPr sz="5400" spc="430" dirty="0"/>
              <a:t> </a:t>
            </a:r>
            <a:r>
              <a:rPr sz="5400" spc="145" dirty="0"/>
              <a:t>Required</a:t>
            </a:r>
            <a:endParaRPr sz="5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810" marR="132715" indent="-338455">
              <a:lnSpc>
                <a:spcPct val="127499"/>
              </a:lnSpc>
              <a:spcBef>
                <a:spcPts val="95"/>
              </a:spcBef>
              <a:buChar char="•"/>
              <a:tabLst>
                <a:tab pos="398145" algn="l"/>
              </a:tabLst>
            </a:pPr>
            <a:r>
              <a:rPr spc="70" dirty="0"/>
              <a:t>IBM</a:t>
            </a:r>
            <a:r>
              <a:rPr spc="-70" dirty="0"/>
              <a:t> </a:t>
            </a:r>
            <a:r>
              <a:rPr spc="114" dirty="0"/>
              <a:t>Cloud</a:t>
            </a:r>
            <a:r>
              <a:rPr spc="-45" dirty="0"/>
              <a:t> </a:t>
            </a:r>
            <a:r>
              <a:rPr spc="95" dirty="0"/>
              <a:t>Object</a:t>
            </a:r>
            <a:r>
              <a:rPr spc="30" dirty="0"/>
              <a:t> </a:t>
            </a:r>
            <a:r>
              <a:rPr spc="75" dirty="0"/>
              <a:t>Storage:</a:t>
            </a:r>
            <a:r>
              <a:rPr spc="114" dirty="0"/>
              <a:t> </a:t>
            </a:r>
            <a:r>
              <a:rPr dirty="0"/>
              <a:t>Required</a:t>
            </a:r>
            <a:r>
              <a:rPr spc="15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securely</a:t>
            </a:r>
            <a:r>
              <a:rPr spc="145" dirty="0"/>
              <a:t> </a:t>
            </a:r>
            <a:r>
              <a:rPr dirty="0"/>
              <a:t>store</a:t>
            </a:r>
            <a:r>
              <a:rPr spc="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raw</a:t>
            </a:r>
            <a:r>
              <a:rPr spc="65" dirty="0"/>
              <a:t> </a:t>
            </a:r>
            <a:r>
              <a:rPr spc="-45" dirty="0"/>
              <a:t>NSL-</a:t>
            </a:r>
            <a:r>
              <a:rPr dirty="0"/>
              <a:t>KDD</a:t>
            </a:r>
            <a:r>
              <a:rPr spc="180" dirty="0"/>
              <a:t> </a:t>
            </a:r>
            <a:r>
              <a:rPr dirty="0"/>
              <a:t>dataset</a:t>
            </a:r>
            <a:r>
              <a:rPr spc="13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processed 	</a:t>
            </a:r>
            <a:r>
              <a:rPr dirty="0"/>
              <a:t>training</a:t>
            </a:r>
            <a:r>
              <a:rPr spc="15" dirty="0"/>
              <a:t> </a:t>
            </a:r>
            <a:r>
              <a:rPr spc="-10" dirty="0"/>
              <a:t>data.</a:t>
            </a:r>
          </a:p>
          <a:p>
            <a:pPr marL="384810" marR="1048385" indent="-338455">
              <a:lnSpc>
                <a:spcPct val="125800"/>
              </a:lnSpc>
              <a:spcBef>
                <a:spcPts val="1795"/>
              </a:spcBef>
              <a:buChar char="•"/>
              <a:tabLst>
                <a:tab pos="398145" algn="l"/>
              </a:tabLst>
            </a:pPr>
            <a:r>
              <a:rPr spc="70" dirty="0"/>
              <a:t>IBM</a:t>
            </a:r>
            <a:r>
              <a:rPr spc="-90" dirty="0"/>
              <a:t> </a:t>
            </a:r>
            <a:r>
              <a:rPr spc="75" dirty="0"/>
              <a:t>Watson</a:t>
            </a:r>
            <a:r>
              <a:rPr spc="-20" dirty="0"/>
              <a:t> </a:t>
            </a:r>
            <a:r>
              <a:rPr spc="75" dirty="0"/>
              <a:t>Machine</a:t>
            </a:r>
            <a:r>
              <a:rPr spc="55" dirty="0"/>
              <a:t> </a:t>
            </a:r>
            <a:r>
              <a:rPr spc="95" dirty="0"/>
              <a:t>Learning</a:t>
            </a:r>
            <a:r>
              <a:rPr spc="40" dirty="0"/>
              <a:t> </a:t>
            </a:r>
            <a:r>
              <a:rPr spc="85" dirty="0"/>
              <a:t>Instance:</a:t>
            </a:r>
            <a:r>
              <a:rPr spc="100" dirty="0"/>
              <a:t> </a:t>
            </a:r>
            <a:r>
              <a:rPr dirty="0">
                <a:solidFill>
                  <a:srgbClr val="000123"/>
                </a:solidFill>
              </a:rPr>
              <a:t>The</a:t>
            </a:r>
            <a:r>
              <a:rPr spc="70" dirty="0">
                <a:solidFill>
                  <a:srgbClr val="000123"/>
                </a:solidFill>
              </a:rPr>
              <a:t> </a:t>
            </a:r>
            <a:r>
              <a:rPr dirty="0"/>
              <a:t>compute</a:t>
            </a:r>
            <a:r>
              <a:rPr spc="120" dirty="0"/>
              <a:t> </a:t>
            </a:r>
            <a:r>
              <a:rPr dirty="0"/>
              <a:t>environment</a:t>
            </a:r>
            <a:r>
              <a:rPr spc="260" dirty="0"/>
              <a:t> </a:t>
            </a:r>
            <a:r>
              <a:rPr dirty="0"/>
              <a:t>required</a:t>
            </a:r>
            <a:r>
              <a:rPr spc="120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>
                <a:solidFill>
                  <a:srgbClr val="000111"/>
                </a:solidFill>
              </a:rPr>
              <a:t>run</a:t>
            </a:r>
            <a:r>
              <a:rPr spc="-25" dirty="0">
                <a:solidFill>
                  <a:srgbClr val="000111"/>
                </a:solidFill>
              </a:rPr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model 	</a:t>
            </a:r>
            <a:r>
              <a:rPr dirty="0"/>
              <a:t>training</a:t>
            </a:r>
            <a:r>
              <a:rPr spc="65" dirty="0"/>
              <a:t> </a:t>
            </a:r>
            <a:r>
              <a:rPr dirty="0"/>
              <a:t>algorithms</a:t>
            </a:r>
            <a:r>
              <a:rPr spc="12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host</a:t>
            </a:r>
            <a:r>
              <a:rPr spc="-1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deployment.</a:t>
            </a:r>
          </a:p>
          <a:p>
            <a:pPr marL="393700" marR="88265" indent="-347345">
              <a:lnSpc>
                <a:spcPct val="127499"/>
              </a:lnSpc>
              <a:spcBef>
                <a:spcPts val="1789"/>
              </a:spcBef>
              <a:buChar char="•"/>
              <a:tabLst>
                <a:tab pos="399415" algn="l"/>
              </a:tabLst>
            </a:pPr>
            <a:r>
              <a:rPr spc="110" dirty="0"/>
              <a:t>Jupyter</a:t>
            </a:r>
            <a:r>
              <a:rPr spc="70" dirty="0"/>
              <a:t> </a:t>
            </a:r>
            <a:r>
              <a:rPr spc="95" dirty="0"/>
              <a:t>Notebooks:</a:t>
            </a:r>
            <a:r>
              <a:rPr spc="170" dirty="0"/>
              <a:t> </a:t>
            </a:r>
            <a:r>
              <a:rPr dirty="0"/>
              <a:t>Used</a:t>
            </a:r>
            <a:r>
              <a:rPr spc="25" dirty="0"/>
              <a:t> </a:t>
            </a:r>
            <a:r>
              <a:rPr dirty="0"/>
              <a:t>within</a:t>
            </a:r>
            <a:r>
              <a:rPr spc="20" dirty="0"/>
              <a:t> </a:t>
            </a:r>
            <a:r>
              <a:rPr dirty="0"/>
              <a:t>watsonx.ai</a:t>
            </a:r>
            <a:r>
              <a:rPr spc="120" dirty="0"/>
              <a:t> </a:t>
            </a:r>
            <a:r>
              <a:rPr dirty="0">
                <a:solidFill>
                  <a:srgbClr val="000116"/>
                </a:solidFill>
              </a:rPr>
              <a:t>for</a:t>
            </a:r>
            <a:r>
              <a:rPr spc="25" dirty="0">
                <a:solidFill>
                  <a:srgbClr val="000116"/>
                </a:solidFill>
              </a:rPr>
              <a:t> </a:t>
            </a:r>
            <a:r>
              <a:rPr dirty="0"/>
              <a:t>exploratory</a:t>
            </a:r>
            <a:r>
              <a:rPr spc="165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dirty="0"/>
              <a:t>analysis</a:t>
            </a:r>
            <a:r>
              <a:rPr spc="35" dirty="0"/>
              <a:t> </a:t>
            </a:r>
            <a:r>
              <a:rPr dirty="0"/>
              <a:t>(EDA),</a:t>
            </a:r>
            <a:r>
              <a:rPr spc="55" dirty="0"/>
              <a:t> </a:t>
            </a:r>
            <a:r>
              <a:rPr dirty="0"/>
              <a:t>feature</a:t>
            </a:r>
            <a:r>
              <a:rPr spc="100" dirty="0"/>
              <a:t> </a:t>
            </a:r>
            <a:r>
              <a:rPr spc="-10" dirty="0"/>
              <a:t>engineering, 	</a:t>
            </a:r>
            <a:r>
              <a:rPr dirty="0">
                <a:solidFill>
                  <a:srgbClr val="000511"/>
                </a:solidFill>
              </a:rPr>
              <a:t>and</a:t>
            </a:r>
            <a:r>
              <a:rPr spc="-80" dirty="0">
                <a:solidFill>
                  <a:srgbClr val="000511"/>
                </a:solidFill>
              </a:rPr>
              <a:t> </a:t>
            </a:r>
            <a:r>
              <a:rPr dirty="0"/>
              <a:t>model</a:t>
            </a:r>
            <a:r>
              <a:rPr spc="5" dirty="0"/>
              <a:t> </a:t>
            </a:r>
            <a:r>
              <a:rPr dirty="0"/>
              <a:t>evaluation</a:t>
            </a:r>
            <a:r>
              <a:rPr spc="65" dirty="0"/>
              <a:t> </a:t>
            </a:r>
            <a:r>
              <a:rPr spc="-10" dirty="0"/>
              <a:t>code.</a:t>
            </a:r>
          </a:p>
          <a:p>
            <a:pPr marL="391160" marR="469265" indent="-344805">
              <a:lnSpc>
                <a:spcPct val="125800"/>
              </a:lnSpc>
              <a:spcBef>
                <a:spcPts val="1795"/>
              </a:spcBef>
              <a:buChar char="•"/>
              <a:tabLst>
                <a:tab pos="399415" algn="l"/>
              </a:tabLst>
            </a:pPr>
            <a:r>
              <a:rPr spc="90" dirty="0"/>
              <a:t>Network</a:t>
            </a:r>
            <a:r>
              <a:rPr spc="70" dirty="0"/>
              <a:t> Traffic</a:t>
            </a:r>
            <a:r>
              <a:rPr spc="75" dirty="0"/>
              <a:t> </a:t>
            </a:r>
            <a:r>
              <a:rPr spc="50" dirty="0"/>
              <a:t>Dataset</a:t>
            </a:r>
            <a:r>
              <a:rPr spc="15" dirty="0"/>
              <a:t> </a:t>
            </a:r>
            <a:r>
              <a:rPr dirty="0"/>
              <a:t>(NSL-KDD):</a:t>
            </a:r>
            <a:r>
              <a:rPr spc="204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historical</a:t>
            </a:r>
            <a:r>
              <a:rPr spc="125" dirty="0"/>
              <a:t> </a:t>
            </a:r>
            <a:r>
              <a:rPr dirty="0"/>
              <a:t>dataset</a:t>
            </a:r>
            <a:r>
              <a:rPr spc="105" dirty="0"/>
              <a:t> </a:t>
            </a:r>
            <a:r>
              <a:rPr dirty="0"/>
              <a:t>containing</a:t>
            </a:r>
            <a:r>
              <a:rPr spc="155" dirty="0"/>
              <a:t> </a:t>
            </a:r>
            <a:r>
              <a:rPr dirty="0"/>
              <a:t>labeled</a:t>
            </a:r>
            <a:r>
              <a:rPr spc="25" dirty="0"/>
              <a:t> </a:t>
            </a:r>
            <a:r>
              <a:rPr dirty="0"/>
              <a:t>examples</a:t>
            </a:r>
            <a:r>
              <a:rPr spc="17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normal 	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malicious</a:t>
            </a:r>
            <a:r>
              <a:rPr spc="35" dirty="0"/>
              <a:t> </a:t>
            </a:r>
            <a:r>
              <a:rPr dirty="0"/>
              <a:t>network</a:t>
            </a:r>
            <a:r>
              <a:rPr spc="10" dirty="0"/>
              <a:t> </a:t>
            </a:r>
            <a:r>
              <a:rPr dirty="0"/>
              <a:t>connections</a:t>
            </a:r>
            <a:r>
              <a:rPr spc="125" dirty="0"/>
              <a:t> </a:t>
            </a:r>
            <a:r>
              <a:rPr dirty="0"/>
              <a:t>required</a:t>
            </a:r>
            <a:r>
              <a:rPr spc="3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supervised</a:t>
            </a:r>
            <a:r>
              <a:rPr spc="-30" dirty="0"/>
              <a:t> </a:t>
            </a:r>
            <a:r>
              <a:rPr spc="-10" dirty="0"/>
              <a:t>learning.</a:t>
            </a:r>
          </a:p>
          <a:p>
            <a:pPr marL="390525" marR="5080" indent="-344170">
              <a:lnSpc>
                <a:spcPct val="127499"/>
              </a:lnSpc>
              <a:spcBef>
                <a:spcPts val="1795"/>
              </a:spcBef>
              <a:buChar char="•"/>
              <a:tabLst>
                <a:tab pos="395605" algn="l"/>
              </a:tabLst>
            </a:pPr>
            <a:r>
              <a:rPr dirty="0"/>
              <a:t>REST</a:t>
            </a:r>
            <a:r>
              <a:rPr spc="15" dirty="0"/>
              <a:t> </a:t>
            </a:r>
            <a:r>
              <a:rPr dirty="0"/>
              <a:t>API</a:t>
            </a:r>
            <a:r>
              <a:rPr spc="-70" dirty="0"/>
              <a:t> </a:t>
            </a:r>
            <a:r>
              <a:rPr spc="80" dirty="0"/>
              <a:t>Client</a:t>
            </a:r>
            <a:r>
              <a:rPr spc="100" dirty="0"/>
              <a:t> </a:t>
            </a:r>
            <a:r>
              <a:rPr dirty="0"/>
              <a:t>(e.g.,</a:t>
            </a:r>
            <a:r>
              <a:rPr spc="-65" dirty="0"/>
              <a:t> </a:t>
            </a:r>
            <a:r>
              <a:rPr spc="95" dirty="0"/>
              <a:t>Postman</a:t>
            </a:r>
            <a:r>
              <a:rPr spc="35" dirty="0"/>
              <a:t> </a:t>
            </a:r>
            <a:r>
              <a:rPr i="1" dirty="0">
                <a:latin typeface="Arial"/>
                <a:cs typeface="Arial"/>
              </a:rPr>
              <a:t>I</a:t>
            </a:r>
            <a:r>
              <a:rPr i="1" spc="45" dirty="0">
                <a:latin typeface="Arial"/>
                <a:cs typeface="Arial"/>
              </a:rPr>
              <a:t> </a:t>
            </a:r>
            <a:r>
              <a:rPr spc="130" dirty="0"/>
              <a:t>Python</a:t>
            </a:r>
            <a:r>
              <a:rPr spc="5" dirty="0"/>
              <a:t> </a:t>
            </a:r>
            <a:r>
              <a:rPr spc="90" dirty="0"/>
              <a:t>requests):</a:t>
            </a:r>
            <a:r>
              <a:rPr spc="204" dirty="0"/>
              <a:t> </a:t>
            </a:r>
            <a:r>
              <a:rPr dirty="0"/>
              <a:t>Required</a:t>
            </a:r>
            <a:r>
              <a:rPr spc="204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send</a:t>
            </a:r>
            <a:r>
              <a:rPr spc="45" dirty="0"/>
              <a:t> </a:t>
            </a:r>
            <a:r>
              <a:rPr dirty="0"/>
              <a:t>test</a:t>
            </a:r>
            <a:r>
              <a:rPr spc="70" dirty="0"/>
              <a:t> </a:t>
            </a:r>
            <a:r>
              <a:rPr dirty="0"/>
              <a:t>payloads</a:t>
            </a:r>
            <a:r>
              <a:rPr spc="19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spc="-10" dirty="0"/>
              <a:t>deployed 	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receive</a:t>
            </a:r>
            <a:r>
              <a:rPr spc="20" dirty="0"/>
              <a:t> </a:t>
            </a:r>
            <a:r>
              <a:rPr dirty="0"/>
              <a:t>prediction</a:t>
            </a:r>
            <a:r>
              <a:rPr spc="60" dirty="0"/>
              <a:t> </a:t>
            </a:r>
            <a:r>
              <a:rPr spc="-10" dirty="0"/>
              <a:t>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25029" y="633085"/>
            <a:ext cx="16156259" cy="104579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5650" spc="245" dirty="0">
                <a:latin typeface="Calibri"/>
                <a:cs typeface="Calibri"/>
              </a:rPr>
              <a:t>Deployment</a:t>
            </a:r>
            <a:r>
              <a:rPr sz="5650" spc="595" dirty="0">
                <a:latin typeface="Calibri"/>
                <a:cs typeface="Calibri"/>
              </a:rPr>
              <a:t> </a:t>
            </a:r>
            <a:r>
              <a:rPr sz="5650" spc="340" dirty="0">
                <a:latin typeface="Calibri"/>
                <a:cs typeface="Calibri"/>
              </a:rPr>
              <a:t>Status</a:t>
            </a:r>
            <a:endParaRPr sz="56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669" y="1868146"/>
            <a:ext cx="17221835" cy="1993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sz="3100" spc="-55" dirty="0">
                <a:latin typeface="Arial MT"/>
                <a:cs typeface="Arial MT"/>
              </a:rPr>
              <a:t>The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model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has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been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successfully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deployed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as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live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REST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65" dirty="0">
                <a:solidFill>
                  <a:srgbClr val="00031F"/>
                </a:solidFill>
                <a:latin typeface="Arial MT"/>
                <a:cs typeface="Arial MT"/>
              </a:rPr>
              <a:t>API</a:t>
            </a:r>
            <a:r>
              <a:rPr sz="3100" spc="-150" dirty="0">
                <a:solidFill>
                  <a:srgbClr val="00031F"/>
                </a:solidFill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endpoint</a:t>
            </a:r>
            <a:r>
              <a:rPr sz="3100" spc="2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on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IBM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Cloud,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60" dirty="0">
                <a:solidFill>
                  <a:srgbClr val="000316"/>
                </a:solidFill>
                <a:latin typeface="Arial MT"/>
                <a:cs typeface="Arial MT"/>
              </a:rPr>
              <a:t>ready</a:t>
            </a:r>
            <a:r>
              <a:rPr sz="3100" spc="-85" dirty="0">
                <a:solidFill>
                  <a:srgbClr val="000316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00051D"/>
                </a:solidFill>
                <a:latin typeface="Arial MT"/>
                <a:cs typeface="Arial MT"/>
              </a:rPr>
              <a:t>to</a:t>
            </a:r>
            <a:r>
              <a:rPr sz="3100" spc="-170" dirty="0">
                <a:solidFill>
                  <a:srgbClr val="00051D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accept </a:t>
            </a:r>
            <a:r>
              <a:rPr sz="3100" spc="-100" dirty="0">
                <a:latin typeface="Arial MT"/>
                <a:cs typeface="Arial MT"/>
              </a:rPr>
              <a:t>real-</a:t>
            </a:r>
            <a:r>
              <a:rPr sz="3100" spc="-20" dirty="0">
                <a:latin typeface="Arial MT"/>
                <a:cs typeface="Arial MT"/>
              </a:rPr>
              <a:t>time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network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traffic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logs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JSON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format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for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inference.</a:t>
            </a:r>
            <a:endParaRPr sz="3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65"/>
              </a:spcBef>
            </a:pPr>
            <a:endParaRPr sz="3100" dirty="0">
              <a:latin typeface="Arial MT"/>
              <a:cs typeface="Arial M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35A7EF-C024-EEFD-9539-9A9FB314A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29" y="3292475"/>
            <a:ext cx="18654042" cy="7873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250" y="320675"/>
            <a:ext cx="16156259" cy="104579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40"/>
              </a:spcBef>
            </a:pPr>
            <a:r>
              <a:rPr lang="en-IN" spc="70"/>
              <a:t>Testing</a:t>
            </a:r>
            <a:r>
              <a:rPr lang="en-IN" spc="240"/>
              <a:t> </a:t>
            </a:r>
            <a:r>
              <a:rPr lang="en-IN" spc="145"/>
              <a:t>and</a:t>
            </a:r>
            <a:r>
              <a:rPr lang="en-IN" spc="-10"/>
              <a:t> </a:t>
            </a:r>
            <a:r>
              <a:rPr lang="en-IN" spc="110"/>
              <a:t>Evaluation</a:t>
            </a:r>
            <a:endParaRPr lang="en-IN" spc="110" dirty="0"/>
          </a:p>
        </p:txBody>
      </p:sp>
      <p:sp>
        <p:nvSpPr>
          <p:cNvPr id="4" name="object 4"/>
          <p:cNvSpPr txBox="1"/>
          <p:nvPr/>
        </p:nvSpPr>
        <p:spPr>
          <a:xfrm>
            <a:off x="948805" y="1539875"/>
            <a:ext cx="16369030" cy="115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25800"/>
              </a:lnSpc>
              <a:spcBef>
                <a:spcPts val="95"/>
              </a:spcBef>
            </a:pPr>
            <a:r>
              <a:rPr lang="en-US" sz="2950" dirty="0">
                <a:latin typeface="Arial MT"/>
                <a:cs typeface="Arial MT"/>
              </a:rPr>
              <a:t>The</a:t>
            </a:r>
            <a:r>
              <a:rPr lang="en-US" sz="2950" spc="-8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deployed</a:t>
            </a:r>
            <a:r>
              <a:rPr lang="en-US" sz="2950" spc="3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model</a:t>
            </a:r>
            <a:r>
              <a:rPr lang="en-US" sz="2950" spc="-7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undergoes</a:t>
            </a:r>
            <a:r>
              <a:rPr lang="en-US" sz="2950" spc="2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rigorous</a:t>
            </a:r>
            <a:r>
              <a:rPr lang="en-US" sz="2950" spc="1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testing.</a:t>
            </a:r>
            <a:r>
              <a:rPr lang="en-US" sz="2950" spc="2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The</a:t>
            </a:r>
            <a:r>
              <a:rPr lang="en-US" sz="2950" spc="-2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prediction</a:t>
            </a:r>
            <a:r>
              <a:rPr lang="en-US" sz="2950" spc="6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results</a:t>
            </a:r>
            <a:r>
              <a:rPr lang="en-US" sz="2950" spc="-3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demonstrate</a:t>
            </a:r>
            <a:r>
              <a:rPr lang="en-US" sz="2950" spc="80" dirty="0">
                <a:latin typeface="Arial MT"/>
                <a:cs typeface="Arial MT"/>
              </a:rPr>
              <a:t> </a:t>
            </a:r>
            <a:r>
              <a:rPr lang="en-US" sz="2950" dirty="0">
                <a:solidFill>
                  <a:srgbClr val="00000F"/>
                </a:solidFill>
                <a:latin typeface="Arial MT"/>
                <a:cs typeface="Arial MT"/>
              </a:rPr>
              <a:t>the</a:t>
            </a:r>
            <a:r>
              <a:rPr lang="en-US" sz="2950" spc="-50" dirty="0">
                <a:solidFill>
                  <a:srgbClr val="00000F"/>
                </a:solidFill>
                <a:latin typeface="Arial MT"/>
                <a:cs typeface="Arial MT"/>
              </a:rPr>
              <a:t> </a:t>
            </a:r>
            <a:r>
              <a:rPr lang="en-US" sz="2950" spc="-10" dirty="0">
                <a:latin typeface="Arial MT"/>
                <a:cs typeface="Arial MT"/>
              </a:rPr>
              <a:t>multiclass </a:t>
            </a:r>
            <a:r>
              <a:rPr lang="en-US" sz="2950" dirty="0">
                <a:latin typeface="Arial MT"/>
                <a:cs typeface="Arial MT"/>
              </a:rPr>
              <a:t>classification</a:t>
            </a:r>
            <a:r>
              <a:rPr lang="en-US" sz="2950" spc="-7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output</a:t>
            </a:r>
            <a:r>
              <a:rPr lang="en-US" sz="2950" spc="-2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along</a:t>
            </a:r>
            <a:r>
              <a:rPr lang="en-US" sz="2950" spc="-65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with</a:t>
            </a:r>
            <a:r>
              <a:rPr lang="en-US" sz="2950" spc="-11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high</a:t>
            </a:r>
            <a:r>
              <a:rPr lang="en-US" sz="2950" spc="-7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confidence</a:t>
            </a:r>
            <a:r>
              <a:rPr lang="en-US" sz="2950" spc="13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scores</a:t>
            </a:r>
            <a:r>
              <a:rPr lang="en-US" sz="2950" spc="40" dirty="0">
                <a:latin typeface="Arial MT"/>
                <a:cs typeface="Arial MT"/>
              </a:rPr>
              <a:t> </a:t>
            </a:r>
            <a:r>
              <a:rPr lang="en-US" sz="2950" dirty="0">
                <a:solidFill>
                  <a:srgbClr val="00050F"/>
                </a:solidFill>
                <a:latin typeface="Arial MT"/>
                <a:cs typeface="Arial MT"/>
              </a:rPr>
              <a:t>for</a:t>
            </a:r>
            <a:r>
              <a:rPr lang="en-US" sz="2950" spc="-10" dirty="0">
                <a:solidFill>
                  <a:srgbClr val="00050F"/>
                </a:solidFill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incoming</a:t>
            </a:r>
            <a:r>
              <a:rPr lang="en-US" sz="2950" spc="120" dirty="0">
                <a:latin typeface="Arial MT"/>
                <a:cs typeface="Arial MT"/>
              </a:rPr>
              <a:t> </a:t>
            </a:r>
            <a:r>
              <a:rPr lang="en-US" sz="2950" dirty="0">
                <a:latin typeface="Arial MT"/>
                <a:cs typeface="Arial MT"/>
              </a:rPr>
              <a:t>packet</a:t>
            </a:r>
            <a:r>
              <a:rPr lang="en-US" sz="2950" spc="75" dirty="0">
                <a:latin typeface="Arial MT"/>
                <a:cs typeface="Arial MT"/>
              </a:rPr>
              <a:t> </a:t>
            </a:r>
            <a:r>
              <a:rPr lang="en-US" sz="2950" spc="-10" dirty="0">
                <a:latin typeface="Arial MT"/>
                <a:cs typeface="Arial MT"/>
              </a:rPr>
              <a:t>data.</a:t>
            </a:r>
            <a:endParaRPr lang="en-US" sz="2950" dirty="0">
              <a:latin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C653F3-565D-46E7-21BA-145041226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05" y="2869617"/>
            <a:ext cx="16369030" cy="7807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sz="5400" spc="135" dirty="0"/>
              <a:t>Role</a:t>
            </a:r>
            <a:r>
              <a:rPr sz="5400" spc="229" dirty="0"/>
              <a:t> </a:t>
            </a:r>
            <a:r>
              <a:rPr sz="5400" spc="155" dirty="0"/>
              <a:t>of</a:t>
            </a:r>
            <a:r>
              <a:rPr sz="5400" spc="250" dirty="0"/>
              <a:t> </a:t>
            </a:r>
            <a:r>
              <a:rPr sz="5400" spc="195" dirty="0"/>
              <a:t>the</a:t>
            </a:r>
            <a:r>
              <a:rPr sz="5400" spc="15" dirty="0"/>
              <a:t> </a:t>
            </a:r>
            <a:r>
              <a:rPr sz="5400" spc="175" dirty="0"/>
              <a:t>Project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364266" y="2398221"/>
            <a:ext cx="17310735" cy="525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marR="241300" indent="-348615">
              <a:lnSpc>
                <a:spcPct val="119700"/>
              </a:lnSpc>
              <a:spcBef>
                <a:spcPts val="100"/>
              </a:spcBef>
              <a:buChar char="•"/>
              <a:tabLst>
                <a:tab pos="360680" algn="l"/>
                <a:tab pos="371475" algn="l"/>
              </a:tabLst>
            </a:pPr>
            <a:r>
              <a:rPr sz="3100" dirty="0">
                <a:latin typeface="Arial MT"/>
                <a:cs typeface="Arial MT"/>
              </a:rPr>
              <a:t>	Automating</a:t>
            </a:r>
            <a:r>
              <a:rPr sz="3100" spc="1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Security</a:t>
            </a:r>
            <a:r>
              <a:rPr sz="3100" spc="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Operations:</a:t>
            </a:r>
            <a:r>
              <a:rPr sz="3100" spc="5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The</a:t>
            </a:r>
            <a:r>
              <a:rPr sz="3100" spc="1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primary</a:t>
            </a:r>
            <a:r>
              <a:rPr sz="3100" spc="4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role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automate</a:t>
            </a:r>
            <a:r>
              <a:rPr sz="3100" spc="80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the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30" dirty="0">
                <a:latin typeface="Arial MT"/>
                <a:cs typeface="Arial MT"/>
              </a:rPr>
              <a:t>initial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triage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process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typically </a:t>
            </a:r>
            <a:r>
              <a:rPr sz="3100" spc="-70" dirty="0">
                <a:latin typeface="Arial MT"/>
                <a:cs typeface="Arial MT"/>
              </a:rPr>
              <a:t>handled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by</a:t>
            </a:r>
            <a:r>
              <a:rPr sz="3100" spc="-190" dirty="0"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Level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1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90" dirty="0">
                <a:latin typeface="Arial MT"/>
                <a:cs typeface="Arial MT"/>
              </a:rPr>
              <a:t>SOC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analysts, </a:t>
            </a:r>
            <a:r>
              <a:rPr sz="3100" spc="-50" dirty="0">
                <a:latin typeface="Arial MT"/>
                <a:cs typeface="Arial MT"/>
              </a:rPr>
              <a:t>filtering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out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benign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traffic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instantly.</a:t>
            </a:r>
            <a:endParaRPr sz="3100">
              <a:latin typeface="Arial MT"/>
              <a:cs typeface="Arial MT"/>
            </a:endParaRPr>
          </a:p>
          <a:p>
            <a:pPr marL="356870" marR="563245" indent="-343535">
              <a:lnSpc>
                <a:spcPct val="125800"/>
              </a:lnSpc>
              <a:spcBef>
                <a:spcPts val="1825"/>
              </a:spcBef>
              <a:buChar char="•"/>
              <a:tabLst>
                <a:tab pos="367665" algn="l"/>
              </a:tabLst>
            </a:pPr>
            <a:r>
              <a:rPr sz="2950" spc="100" dirty="0">
                <a:latin typeface="Arial MT"/>
                <a:cs typeface="Arial MT"/>
              </a:rPr>
              <a:t>Enhancing</a:t>
            </a:r>
            <a:r>
              <a:rPr sz="2950" spc="95" dirty="0">
                <a:latin typeface="Arial MT"/>
                <a:cs typeface="Arial MT"/>
              </a:rPr>
              <a:t> </a:t>
            </a:r>
            <a:r>
              <a:rPr sz="2950" spc="90" dirty="0">
                <a:latin typeface="Arial MT"/>
                <a:cs typeface="Arial MT"/>
              </a:rPr>
              <a:t>Network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spc="70" dirty="0">
                <a:latin typeface="Arial MT"/>
                <a:cs typeface="Arial MT"/>
              </a:rPr>
              <a:t>Safety:</a:t>
            </a:r>
            <a:r>
              <a:rPr sz="2950" spc="8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Provides</a:t>
            </a:r>
            <a:r>
              <a:rPr sz="2950" spc="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early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warning</a:t>
            </a:r>
            <a:r>
              <a:rPr sz="2950" spc="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system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that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operates</a:t>
            </a:r>
            <a:r>
              <a:rPr sz="2950" spc="1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24/7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without</a:t>
            </a:r>
            <a:r>
              <a:rPr sz="2950" spc="114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fatigue, 	</a:t>
            </a:r>
            <a:r>
              <a:rPr sz="2950" dirty="0">
                <a:latin typeface="Arial MT"/>
                <a:cs typeface="Arial MT"/>
              </a:rPr>
              <a:t>flagging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suspicious</a:t>
            </a:r>
            <a:r>
              <a:rPr sz="2950" spc="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connections</a:t>
            </a:r>
            <a:r>
              <a:rPr sz="2950" spc="1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before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they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can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compromise</a:t>
            </a:r>
            <a:r>
              <a:rPr sz="2950" spc="8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sensitive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data.</a:t>
            </a:r>
            <a:endParaRPr sz="2950">
              <a:latin typeface="Arial MT"/>
              <a:cs typeface="Arial MT"/>
            </a:endParaRPr>
          </a:p>
          <a:p>
            <a:pPr marL="355600" marR="5080" indent="-343535">
              <a:lnSpc>
                <a:spcPct val="121300"/>
              </a:lnSpc>
              <a:spcBef>
                <a:spcPts val="1825"/>
              </a:spcBef>
              <a:buChar char="•"/>
              <a:tabLst>
                <a:tab pos="361315" algn="l"/>
              </a:tabLst>
            </a:pPr>
            <a:r>
              <a:rPr sz="3100" dirty="0">
                <a:latin typeface="Arial MT"/>
                <a:cs typeface="Arial MT"/>
              </a:rPr>
              <a:t>Reducing</a:t>
            </a:r>
            <a:r>
              <a:rPr sz="3100" spc="1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Alert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Fatigue:</a:t>
            </a:r>
            <a:r>
              <a:rPr sz="3100" spc="2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By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utilizing</a:t>
            </a:r>
            <a:r>
              <a:rPr sz="3100" spc="10" dirty="0">
                <a:latin typeface="Arial MT"/>
                <a:cs typeface="Arial MT"/>
              </a:rPr>
              <a:t> </a:t>
            </a:r>
            <a:r>
              <a:rPr sz="3100" spc="-105" dirty="0">
                <a:latin typeface="Arial MT"/>
                <a:cs typeface="Arial MT"/>
              </a:rPr>
              <a:t>high-</a:t>
            </a:r>
            <a:r>
              <a:rPr sz="3100" spc="-65" dirty="0">
                <a:latin typeface="Arial MT"/>
                <a:cs typeface="Arial MT"/>
              </a:rPr>
              <a:t>accuracy</a:t>
            </a:r>
            <a:r>
              <a:rPr sz="3100" spc="12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machine</a:t>
            </a:r>
            <a:r>
              <a:rPr sz="3100" spc="2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learning,</a:t>
            </a:r>
            <a:r>
              <a:rPr sz="3100" spc="2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the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system</a:t>
            </a:r>
            <a:r>
              <a:rPr sz="3100" spc="-1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aims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significantly 	</a:t>
            </a:r>
            <a:r>
              <a:rPr sz="3100" spc="-60" dirty="0">
                <a:latin typeface="Arial MT"/>
                <a:cs typeface="Arial MT"/>
              </a:rPr>
              <a:t>reduce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false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positive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alerts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compared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traditional,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rigid</a:t>
            </a:r>
            <a:r>
              <a:rPr sz="3100" spc="-175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firewall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rules.</a:t>
            </a:r>
            <a:endParaRPr sz="3100">
              <a:latin typeface="Arial MT"/>
              <a:cs typeface="Arial MT"/>
            </a:endParaRPr>
          </a:p>
          <a:p>
            <a:pPr marL="358775" marR="518795" indent="-345440">
              <a:lnSpc>
                <a:spcPct val="125800"/>
              </a:lnSpc>
              <a:spcBef>
                <a:spcPts val="1760"/>
              </a:spcBef>
              <a:buChar char="•"/>
              <a:tabLst>
                <a:tab pos="361950" algn="l"/>
              </a:tabLst>
            </a:pPr>
            <a:r>
              <a:rPr sz="2950" spc="140" dirty="0">
                <a:latin typeface="Arial MT"/>
                <a:cs typeface="Arial MT"/>
              </a:rPr>
              <a:t>Bridging</a:t>
            </a:r>
            <a:r>
              <a:rPr sz="2950" spc="5" dirty="0">
                <a:latin typeface="Arial MT"/>
                <a:cs typeface="Arial MT"/>
              </a:rPr>
              <a:t> </a:t>
            </a:r>
            <a:r>
              <a:rPr sz="2950" spc="65" dirty="0">
                <a:latin typeface="Arial MT"/>
                <a:cs typeface="Arial MT"/>
              </a:rPr>
              <a:t>AI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90" dirty="0">
                <a:latin typeface="Arial MT"/>
                <a:cs typeface="Arial MT"/>
              </a:rPr>
              <a:t>and</a:t>
            </a:r>
            <a:r>
              <a:rPr sz="2950" spc="-95" dirty="0">
                <a:latin typeface="Arial MT"/>
                <a:cs typeface="Arial MT"/>
              </a:rPr>
              <a:t> </a:t>
            </a:r>
            <a:r>
              <a:rPr sz="2950" spc="130" dirty="0">
                <a:latin typeface="Arial MT"/>
                <a:cs typeface="Arial MT"/>
              </a:rPr>
              <a:t>Cybersecurity: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Demonstrates</a:t>
            </a:r>
            <a:r>
              <a:rPr sz="2950" spc="2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 practical</a:t>
            </a:r>
            <a:r>
              <a:rPr sz="2950" spc="1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application</a:t>
            </a:r>
            <a:r>
              <a:rPr sz="2950" spc="1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AI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modern</a:t>
            </a:r>
            <a:r>
              <a:rPr sz="2950" spc="10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enterprise 	</a:t>
            </a:r>
            <a:r>
              <a:rPr sz="2950" dirty="0">
                <a:latin typeface="Arial MT"/>
                <a:cs typeface="Arial MT"/>
              </a:rPr>
              <a:t>infrastructure,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showing</a:t>
            </a:r>
            <a:r>
              <a:rPr sz="2950" spc="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how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predictive</a:t>
            </a:r>
            <a:r>
              <a:rPr sz="2950" spc="1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models</a:t>
            </a:r>
            <a:r>
              <a:rPr sz="2950" spc="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can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secure</a:t>
            </a:r>
            <a:r>
              <a:rPr sz="2950" spc="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digital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perimeters.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562768"/>
              </p:ext>
            </p:extLst>
          </p:nvPr>
        </p:nvGraphicFramePr>
        <p:xfrm>
          <a:off x="1232946" y="2677928"/>
          <a:ext cx="17583150" cy="7529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2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8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5690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sz="2950" b="1" spc="-10" dirty="0">
                          <a:latin typeface="Arial"/>
                          <a:cs typeface="Arial"/>
                        </a:rPr>
                        <a:t>Category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T="241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sz="2950" b="1" spc="90" dirty="0">
                          <a:latin typeface="Arial MT"/>
                          <a:cs typeface="Arial MT"/>
                        </a:rPr>
                        <a:t>Technology</a:t>
                      </a:r>
                      <a:r>
                        <a:rPr sz="2950" b="1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b="1" spc="60" dirty="0">
                          <a:latin typeface="Arial MT"/>
                          <a:cs typeface="Arial MT"/>
                        </a:rPr>
                        <a:t>Used</a:t>
                      </a:r>
                      <a:endParaRPr sz="2950" b="1" dirty="0">
                        <a:latin typeface="Arial MT"/>
                        <a:cs typeface="Arial MT"/>
                      </a:endParaRPr>
                    </a:p>
                  </a:txBody>
                  <a:tcPr marL="0" marR="0" marT="241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sz="2950" b="1" spc="105" dirty="0">
                          <a:latin typeface="Arial MT"/>
                          <a:cs typeface="Arial MT"/>
                        </a:rPr>
                        <a:t>Purpose</a:t>
                      </a:r>
                      <a:r>
                        <a:rPr sz="2950" b="1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b="1" spc="7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950" b="1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b="1" spc="85" dirty="0">
                          <a:latin typeface="Arial MT"/>
                          <a:cs typeface="Arial MT"/>
                        </a:rPr>
                        <a:t>Project</a:t>
                      </a:r>
                      <a:endParaRPr sz="2950" b="1" dirty="0">
                        <a:latin typeface="Arial MT"/>
                        <a:cs typeface="Arial MT"/>
                      </a:endParaRPr>
                    </a:p>
                  </a:txBody>
                  <a:tcPr marL="0" marR="0" marT="241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2950" dirty="0">
                        <a:latin typeface="Times New Roman"/>
                        <a:cs typeface="Times New Roman"/>
                      </a:endParaRPr>
                    </a:p>
                    <a:p>
                      <a:pPr marL="259715">
                        <a:lnSpc>
                          <a:spcPct val="100000"/>
                        </a:lnSpc>
                      </a:pPr>
                      <a:r>
                        <a:rPr sz="2950" b="1" spc="114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2950" b="1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b="1" spc="95" dirty="0">
                          <a:latin typeface="Arial MT"/>
                          <a:cs typeface="Arial MT"/>
                        </a:rPr>
                        <a:t>Platform</a:t>
                      </a:r>
                      <a:endParaRPr sz="2950" b="1" dirty="0">
                        <a:latin typeface="Arial MT"/>
                        <a:cs typeface="Arial MT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2950" dirty="0">
                        <a:latin typeface="Times New Roman"/>
                        <a:cs typeface="Times New Roman"/>
                      </a:endParaRPr>
                    </a:p>
                    <a:p>
                      <a:pPr marL="274955">
                        <a:lnSpc>
                          <a:spcPct val="100000"/>
                        </a:lnSpc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IBM</a:t>
                      </a:r>
                      <a:r>
                        <a:rPr sz="2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295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20" dirty="0">
                          <a:latin typeface="Arial MT"/>
                          <a:cs typeface="Arial MT"/>
                        </a:rPr>
                        <a:t>Lite</a:t>
                      </a:r>
                      <a:endParaRPr sz="2950" dirty="0">
                        <a:latin typeface="Arial MT"/>
                        <a:cs typeface="Arial MT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 marR="762635">
                        <a:lnSpc>
                          <a:spcPct val="125800"/>
                        </a:lnSpc>
                        <a:spcBef>
                          <a:spcPts val="80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Provides</a:t>
                      </a:r>
                      <a:r>
                        <a:rPr sz="29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29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295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1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950" spc="-20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295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(PaaS)</a:t>
                      </a:r>
                      <a:r>
                        <a:rPr sz="2950" spc="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hosting</a:t>
                      </a:r>
                      <a:r>
                        <a:rPr sz="29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entire</a:t>
                      </a:r>
                      <a:r>
                        <a:rPr sz="29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sz="295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29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hardware</a:t>
                      </a:r>
                      <a:r>
                        <a:rPr sz="295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management.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1022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7345">
                <a:tc>
                  <a:txBody>
                    <a:bodyPr/>
                    <a:lstStyle/>
                    <a:p>
                      <a:pPr marL="257175" marR="1462405" indent="1905">
                        <a:lnSpc>
                          <a:spcPct val="125800"/>
                        </a:lnSpc>
                        <a:spcBef>
                          <a:spcPts val="865"/>
                        </a:spcBef>
                      </a:pPr>
                      <a:r>
                        <a:rPr sz="2950" b="1" spc="-10" dirty="0">
                          <a:latin typeface="Arial"/>
                          <a:cs typeface="Arial"/>
                        </a:rPr>
                        <a:t>Machine </a:t>
                      </a:r>
                      <a:r>
                        <a:rPr sz="2950" b="1" spc="-40" dirty="0">
                          <a:latin typeface="Arial"/>
                          <a:cs typeface="Arial"/>
                        </a:rPr>
                        <a:t>Learning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2749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IBM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watsonx.ai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 marR="325120">
                        <a:lnSpc>
                          <a:spcPct val="125800"/>
                        </a:lnSpc>
                        <a:spcBef>
                          <a:spcPts val="86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2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40" dirty="0">
                          <a:latin typeface="Arial MT"/>
                          <a:cs typeface="Arial MT"/>
                        </a:rPr>
                        <a:t>end-</a:t>
                      </a:r>
                      <a:r>
                        <a:rPr sz="2950" spc="-35" dirty="0">
                          <a:latin typeface="Arial MT"/>
                          <a:cs typeface="Arial MT"/>
                        </a:rPr>
                        <a:t>to-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end</a:t>
                      </a:r>
                      <a:r>
                        <a:rPr sz="295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model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lifecycle</a:t>
                      </a:r>
                      <a:r>
                        <a:rPr sz="29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sz="295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(build,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train,</a:t>
                      </a:r>
                      <a:r>
                        <a:rPr sz="2950" spc="-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deploy,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govern).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201420" algn="l"/>
                        </a:tabLst>
                      </a:pPr>
                      <a:r>
                        <a:rPr sz="2950" b="1" spc="-2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2950" b="1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950" b="1" spc="45" dirty="0">
                          <a:latin typeface="Cambria"/>
                          <a:cs typeface="Cambria"/>
                        </a:rPr>
                        <a:t>format</a:t>
                      </a:r>
                      <a:endParaRPr sz="2950">
                        <a:latin typeface="Cambria"/>
                        <a:cs typeface="Cambria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1106805" indent="-635">
                        <a:lnSpc>
                          <a:spcPct val="124000"/>
                        </a:lnSpc>
                        <a:spcBef>
                          <a:spcPts val="990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JSON </a:t>
                      </a:r>
                      <a:r>
                        <a:rPr sz="2950" spc="-30" dirty="0">
                          <a:latin typeface="Arial MT"/>
                          <a:cs typeface="Arial MT"/>
                        </a:rPr>
                        <a:t>(JavaScript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2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Notation)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1257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 marR="804545">
                        <a:lnSpc>
                          <a:spcPct val="124000"/>
                        </a:lnSpc>
                        <a:spcBef>
                          <a:spcPts val="990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9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lightweight</a:t>
                      </a:r>
                      <a:r>
                        <a:rPr sz="295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data-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interchange</a:t>
                      </a:r>
                      <a:r>
                        <a:rPr sz="2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format</a:t>
                      </a:r>
                      <a:r>
                        <a:rPr sz="295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29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9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20" dirty="0">
                          <a:latin typeface="Arial MT"/>
                          <a:cs typeface="Arial MT"/>
                        </a:rPr>
                        <a:t>pass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packet</a:t>
                      </a:r>
                      <a:r>
                        <a:rPr sz="29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features</a:t>
                      </a:r>
                      <a:r>
                        <a:rPr sz="2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solidFill>
                            <a:srgbClr val="0005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2950" spc="-75" dirty="0">
                          <a:solidFill>
                            <a:srgbClr val="0005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solidFill>
                            <a:srgbClr val="00051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2950" spc="-30" dirty="0">
                          <a:solidFill>
                            <a:srgbClr val="0005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deployed</a:t>
                      </a:r>
                      <a:r>
                        <a:rPr sz="295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endpoint.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1257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2950" dirty="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950" b="1" spc="95" dirty="0">
                          <a:latin typeface="Arial MT"/>
                          <a:cs typeface="Arial MT"/>
                        </a:rPr>
                        <a:t>Programming</a:t>
                      </a:r>
                      <a:endParaRPr sz="2950" b="1" dirty="0">
                        <a:latin typeface="Arial MT"/>
                        <a:cs typeface="Arial MT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273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Python</a:t>
                      </a:r>
                      <a:r>
                        <a:rPr sz="295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(Scikit-Learn)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 marR="664210" indent="-1905">
                        <a:lnSpc>
                          <a:spcPct val="127499"/>
                        </a:lnSpc>
                        <a:spcBef>
                          <a:spcPts val="80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9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solidFill>
                            <a:srgbClr val="000511"/>
                          </a:solidFill>
                          <a:latin typeface="Arial MT"/>
                          <a:cs typeface="Arial MT"/>
                        </a:rPr>
                        <a:t>core</a:t>
                      </a:r>
                      <a:r>
                        <a:rPr sz="2950" spc="-45" dirty="0">
                          <a:solidFill>
                            <a:srgbClr val="0005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logic</a:t>
                      </a:r>
                      <a:r>
                        <a:rPr sz="295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9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defining</a:t>
                      </a:r>
                      <a:r>
                        <a:rPr sz="29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9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classification</a:t>
                      </a:r>
                      <a:r>
                        <a:rPr sz="295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algorithms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(e.g.,</a:t>
                      </a:r>
                      <a:r>
                        <a:rPr sz="2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Decision</a:t>
                      </a:r>
                      <a:r>
                        <a:rPr sz="295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Trees).</a:t>
                      </a:r>
                      <a:endParaRPr sz="2950" dirty="0">
                        <a:latin typeface="Arial MT"/>
                        <a:cs typeface="Arial MT"/>
                      </a:endParaRPr>
                    </a:p>
                  </a:txBody>
                  <a:tcPr marL="0" marR="0" marT="1022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10"/>
              </a:spcBef>
            </a:pPr>
            <a:r>
              <a:rPr sz="5400" spc="165" dirty="0"/>
              <a:t>Technology</a:t>
            </a:r>
            <a:r>
              <a:rPr sz="5400" spc="545" dirty="0"/>
              <a:t> </a:t>
            </a:r>
            <a:r>
              <a:rPr sz="5400" spc="130" dirty="0"/>
              <a:t>Details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10"/>
              </a:spcBef>
            </a:pPr>
            <a:r>
              <a:rPr sz="5400" spc="180" dirty="0"/>
              <a:t>Novelty</a:t>
            </a:r>
            <a:r>
              <a:rPr sz="5400" spc="370" dirty="0"/>
              <a:t> </a:t>
            </a:r>
            <a:r>
              <a:rPr sz="5400" spc="175" dirty="0"/>
              <a:t>and</a:t>
            </a:r>
            <a:r>
              <a:rPr sz="5400" spc="20" dirty="0"/>
              <a:t> </a:t>
            </a:r>
            <a:r>
              <a:rPr sz="5400" spc="160" dirty="0"/>
              <a:t>Uniqueness</a:t>
            </a:r>
            <a:endParaRPr sz="5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94970" marR="1215390" indent="-348615">
              <a:lnSpc>
                <a:spcPct val="126600"/>
              </a:lnSpc>
              <a:spcBef>
                <a:spcPts val="65"/>
              </a:spcBef>
              <a:buChar char="•"/>
              <a:tabLst>
                <a:tab pos="395605" algn="l"/>
                <a:tab pos="405765" algn="l"/>
              </a:tabLst>
            </a:pPr>
            <a:r>
              <a:rPr dirty="0"/>
              <a:t>	</a:t>
            </a:r>
            <a:r>
              <a:rPr spc="95" dirty="0"/>
              <a:t>Anomaly</a:t>
            </a:r>
            <a:r>
              <a:rPr spc="90" dirty="0"/>
              <a:t> </a:t>
            </a:r>
            <a:r>
              <a:rPr spc="70" dirty="0"/>
              <a:t>vs.</a:t>
            </a:r>
            <a:r>
              <a:rPr spc="35" dirty="0"/>
              <a:t> </a:t>
            </a:r>
            <a:r>
              <a:rPr spc="85" dirty="0"/>
              <a:t>Signature:</a:t>
            </a:r>
            <a:r>
              <a:rPr spc="100" dirty="0"/>
              <a:t> </a:t>
            </a:r>
            <a:r>
              <a:rPr dirty="0"/>
              <a:t>Traditional</a:t>
            </a:r>
            <a:r>
              <a:rPr spc="90" dirty="0"/>
              <a:t> </a:t>
            </a:r>
            <a:r>
              <a:rPr dirty="0"/>
              <a:t>firewalls</a:t>
            </a:r>
            <a:r>
              <a:rPr spc="100" dirty="0"/>
              <a:t> </a:t>
            </a:r>
            <a:r>
              <a:rPr dirty="0"/>
              <a:t>rely</a:t>
            </a:r>
            <a:r>
              <a:rPr spc="55" dirty="0"/>
              <a:t> </a:t>
            </a:r>
            <a:r>
              <a:rPr dirty="0">
                <a:solidFill>
                  <a:srgbClr val="000818"/>
                </a:solidFill>
              </a:rPr>
              <a:t>on</a:t>
            </a:r>
            <a:r>
              <a:rPr spc="-15" dirty="0">
                <a:solidFill>
                  <a:srgbClr val="000818"/>
                </a:solidFill>
              </a:rPr>
              <a:t> </a:t>
            </a:r>
            <a:r>
              <a:rPr spc="-40" dirty="0"/>
              <a:t>pre-</a:t>
            </a:r>
            <a:r>
              <a:rPr dirty="0"/>
              <a:t>written</a:t>
            </a:r>
            <a:r>
              <a:rPr spc="170" dirty="0"/>
              <a:t> </a:t>
            </a:r>
            <a:r>
              <a:rPr dirty="0"/>
              <a:t>signatures</a:t>
            </a:r>
            <a:r>
              <a:rPr spc="45" dirty="0"/>
              <a:t> </a:t>
            </a:r>
            <a:r>
              <a:rPr spc="-25" dirty="0"/>
              <a:t>(If-</a:t>
            </a:r>
            <a:r>
              <a:rPr dirty="0"/>
              <a:t>Then</a:t>
            </a:r>
            <a:r>
              <a:rPr spc="45" dirty="0"/>
              <a:t> </a:t>
            </a:r>
            <a:r>
              <a:rPr dirty="0"/>
              <a:t>rules).</a:t>
            </a:r>
            <a:r>
              <a:rPr spc="35" dirty="0"/>
              <a:t> </a:t>
            </a:r>
            <a:r>
              <a:rPr spc="-20" dirty="0"/>
              <a:t>This </a:t>
            </a:r>
            <a:r>
              <a:rPr dirty="0"/>
              <a:t>project's</a:t>
            </a:r>
            <a:r>
              <a:rPr spc="-10" dirty="0"/>
              <a:t> </a:t>
            </a:r>
            <a:r>
              <a:rPr dirty="0"/>
              <a:t>novelty</a:t>
            </a:r>
            <a:r>
              <a:rPr spc="20" dirty="0"/>
              <a:t> </a:t>
            </a:r>
            <a:r>
              <a:rPr dirty="0"/>
              <a:t>lies</a:t>
            </a:r>
            <a:r>
              <a:rPr spc="-80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ability</a:t>
            </a:r>
            <a:r>
              <a:rPr spc="-60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dirty="0"/>
              <a:t>understand</a:t>
            </a:r>
            <a:r>
              <a:rPr spc="1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mathematical</a:t>
            </a:r>
            <a:r>
              <a:rPr spc="150" dirty="0"/>
              <a:t> </a:t>
            </a:r>
            <a:r>
              <a:rPr dirty="0"/>
              <a:t>relationship</a:t>
            </a:r>
            <a:r>
              <a:rPr spc="150" dirty="0"/>
              <a:t> </a:t>
            </a:r>
            <a:r>
              <a:rPr dirty="0"/>
              <a:t>between</a:t>
            </a:r>
            <a:r>
              <a:rPr spc="75" dirty="0"/>
              <a:t> </a:t>
            </a:r>
            <a:r>
              <a:rPr spc="-10" dirty="0"/>
              <a:t>network </a:t>
            </a:r>
            <a:r>
              <a:rPr dirty="0"/>
              <a:t>features,</a:t>
            </a:r>
            <a:r>
              <a:rPr spc="60" dirty="0"/>
              <a:t> </a:t>
            </a:r>
            <a:r>
              <a:rPr dirty="0"/>
              <a:t>acting</a:t>
            </a:r>
            <a:r>
              <a:rPr spc="35" dirty="0"/>
              <a:t> </a:t>
            </a:r>
            <a:r>
              <a:rPr dirty="0"/>
              <a:t>as</a:t>
            </a:r>
            <a:r>
              <a:rPr spc="-85" dirty="0"/>
              <a:t> </a:t>
            </a:r>
            <a:r>
              <a:rPr dirty="0">
                <a:solidFill>
                  <a:srgbClr val="00080F"/>
                </a:solidFill>
              </a:rPr>
              <a:t>an</a:t>
            </a:r>
            <a:r>
              <a:rPr spc="-85" dirty="0">
                <a:solidFill>
                  <a:srgbClr val="00080F"/>
                </a:solidFill>
              </a:rPr>
              <a:t> </a:t>
            </a:r>
            <a:r>
              <a:rPr dirty="0"/>
              <a:t>anomaly</a:t>
            </a:r>
            <a:r>
              <a:rPr spc="85" dirty="0"/>
              <a:t> </a:t>
            </a:r>
            <a:r>
              <a:rPr spc="-10" dirty="0"/>
              <a:t>detector.</a:t>
            </a:r>
          </a:p>
          <a:p>
            <a:pPr marL="397510" marR="5080" indent="-351155">
              <a:lnSpc>
                <a:spcPct val="125800"/>
              </a:lnSpc>
              <a:spcBef>
                <a:spcPts val="1795"/>
              </a:spcBef>
              <a:buChar char="•"/>
              <a:tabLst>
                <a:tab pos="398145" algn="l"/>
              </a:tabLst>
            </a:pPr>
            <a:r>
              <a:rPr dirty="0"/>
              <a:t>Zero-Day</a:t>
            </a:r>
            <a:r>
              <a:rPr spc="155" dirty="0"/>
              <a:t> </a:t>
            </a:r>
            <a:r>
              <a:rPr spc="65" dirty="0"/>
              <a:t>Threat</a:t>
            </a:r>
            <a:r>
              <a:rPr spc="45" dirty="0"/>
              <a:t> </a:t>
            </a:r>
            <a:r>
              <a:rPr spc="85" dirty="0"/>
              <a:t>Detection:</a:t>
            </a:r>
            <a:r>
              <a:rPr spc="190" dirty="0"/>
              <a:t> </a:t>
            </a:r>
            <a:r>
              <a:rPr dirty="0"/>
              <a:t>Because</a:t>
            </a:r>
            <a:r>
              <a:rPr spc="14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model</a:t>
            </a:r>
            <a:r>
              <a:rPr spc="100" dirty="0"/>
              <a:t> </a:t>
            </a:r>
            <a:r>
              <a:rPr dirty="0"/>
              <a:t>learns</a:t>
            </a:r>
            <a:r>
              <a:rPr spc="90" dirty="0"/>
              <a:t> </a:t>
            </a:r>
            <a:r>
              <a:rPr dirty="0"/>
              <a:t>what</a:t>
            </a:r>
            <a:r>
              <a:rPr spc="25" dirty="0"/>
              <a:t> </a:t>
            </a:r>
            <a:r>
              <a:rPr dirty="0"/>
              <a:t>"normal"</a:t>
            </a:r>
            <a:r>
              <a:rPr spc="130" dirty="0"/>
              <a:t> </a:t>
            </a:r>
            <a:r>
              <a:rPr dirty="0"/>
              <a:t>looks</a:t>
            </a:r>
            <a:r>
              <a:rPr spc="55" dirty="0"/>
              <a:t> </a:t>
            </a:r>
            <a:r>
              <a:rPr dirty="0"/>
              <a:t>like,</a:t>
            </a:r>
            <a:r>
              <a:rPr spc="65" dirty="0"/>
              <a:t> </a:t>
            </a:r>
            <a:r>
              <a:rPr dirty="0"/>
              <a:t>it</a:t>
            </a:r>
            <a:r>
              <a:rPr spc="-7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spc="-10" dirty="0"/>
              <a:t>successfully </a:t>
            </a:r>
            <a:r>
              <a:rPr dirty="0"/>
              <a:t>flag</a:t>
            </a:r>
            <a:r>
              <a:rPr spc="-20" dirty="0"/>
              <a:t> </a:t>
            </a:r>
            <a:r>
              <a:rPr dirty="0"/>
              <a:t>newly</a:t>
            </a:r>
            <a:r>
              <a:rPr spc="20" dirty="0"/>
              <a:t> </a:t>
            </a:r>
            <a:r>
              <a:rPr dirty="0"/>
              <a:t>invented</a:t>
            </a:r>
            <a:r>
              <a:rPr spc="125" dirty="0"/>
              <a:t> </a:t>
            </a:r>
            <a:r>
              <a:rPr spc="-35" dirty="0"/>
              <a:t>cyber-</a:t>
            </a:r>
            <a:r>
              <a:rPr dirty="0"/>
              <a:t>attacks</a:t>
            </a:r>
            <a:r>
              <a:rPr spc="170" dirty="0"/>
              <a:t> </a:t>
            </a:r>
            <a:r>
              <a:rPr dirty="0">
                <a:solidFill>
                  <a:srgbClr val="000313"/>
                </a:solidFill>
              </a:rPr>
              <a:t>that</a:t>
            </a:r>
            <a:r>
              <a:rPr spc="-5" dirty="0">
                <a:solidFill>
                  <a:srgbClr val="000313"/>
                </a:solidFill>
              </a:rPr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never</a:t>
            </a:r>
            <a:r>
              <a:rPr spc="55" dirty="0"/>
              <a:t> </a:t>
            </a:r>
            <a:r>
              <a:rPr dirty="0"/>
              <a:t>been</a:t>
            </a:r>
            <a:r>
              <a:rPr spc="-70" dirty="0"/>
              <a:t> </a:t>
            </a:r>
            <a:r>
              <a:rPr dirty="0"/>
              <a:t>seen</a:t>
            </a:r>
            <a:r>
              <a:rPr spc="-55" dirty="0"/>
              <a:t> </a:t>
            </a:r>
            <a:r>
              <a:rPr dirty="0"/>
              <a:t>before</a:t>
            </a:r>
            <a:r>
              <a:rPr spc="35" dirty="0"/>
              <a:t> </a:t>
            </a:r>
            <a:r>
              <a:rPr spc="-35" dirty="0"/>
              <a:t>(Zero-</a:t>
            </a:r>
            <a:r>
              <a:rPr dirty="0"/>
              <a:t>Day</a:t>
            </a:r>
            <a:r>
              <a:rPr spc="170" dirty="0"/>
              <a:t> </a:t>
            </a:r>
            <a:r>
              <a:rPr dirty="0"/>
              <a:t>exploits),</a:t>
            </a:r>
            <a:r>
              <a:rPr spc="65" dirty="0"/>
              <a:t> </a:t>
            </a:r>
            <a:r>
              <a:rPr dirty="0"/>
              <a:t>which</a:t>
            </a:r>
            <a:r>
              <a:rPr spc="10" dirty="0"/>
              <a:t> </a:t>
            </a:r>
            <a:r>
              <a:rPr spc="-10" dirty="0"/>
              <a:t>bypass </a:t>
            </a:r>
            <a:r>
              <a:rPr dirty="0"/>
              <a:t>traditional</a:t>
            </a:r>
            <a:r>
              <a:rPr spc="-5" dirty="0"/>
              <a:t> </a:t>
            </a:r>
            <a:r>
              <a:rPr spc="-10" dirty="0"/>
              <a:t>rules.</a:t>
            </a:r>
          </a:p>
          <a:p>
            <a:pPr marL="393700" marR="1149350" indent="-347345">
              <a:lnSpc>
                <a:spcPct val="125800"/>
              </a:lnSpc>
              <a:spcBef>
                <a:spcPts val="1855"/>
              </a:spcBef>
              <a:buChar char="•"/>
              <a:tabLst>
                <a:tab pos="398145" algn="l"/>
              </a:tabLst>
            </a:pPr>
            <a:r>
              <a:rPr spc="65" dirty="0"/>
              <a:t>Cloud-Native</a:t>
            </a:r>
            <a:r>
              <a:rPr spc="150" dirty="0"/>
              <a:t> </a:t>
            </a:r>
            <a:r>
              <a:rPr spc="100" dirty="0"/>
              <a:t>Deployment:</a:t>
            </a:r>
            <a:r>
              <a:rPr spc="125" dirty="0"/>
              <a:t> </a:t>
            </a:r>
            <a:r>
              <a:rPr dirty="0"/>
              <a:t>Unlike</a:t>
            </a:r>
            <a:r>
              <a:rPr spc="60" dirty="0"/>
              <a:t> </a:t>
            </a:r>
            <a:r>
              <a:rPr dirty="0"/>
              <a:t>legacy</a:t>
            </a:r>
            <a:r>
              <a:rPr spc="90" dirty="0"/>
              <a:t> </a:t>
            </a:r>
            <a:r>
              <a:rPr spc="-40" dirty="0"/>
              <a:t>on-</a:t>
            </a:r>
            <a:r>
              <a:rPr dirty="0"/>
              <a:t>premise</a:t>
            </a:r>
            <a:r>
              <a:rPr spc="210" dirty="0"/>
              <a:t> </a:t>
            </a:r>
            <a:r>
              <a:rPr dirty="0">
                <a:solidFill>
                  <a:srgbClr val="000516"/>
                </a:solidFill>
              </a:rPr>
              <a:t>NIDS</a:t>
            </a:r>
            <a:r>
              <a:rPr spc="20" dirty="0">
                <a:solidFill>
                  <a:srgbClr val="000516"/>
                </a:solidFill>
              </a:rPr>
              <a:t> </a:t>
            </a:r>
            <a:r>
              <a:rPr dirty="0"/>
              <a:t>hardware,</a:t>
            </a:r>
            <a:r>
              <a:rPr spc="140" dirty="0"/>
              <a:t> </a:t>
            </a:r>
            <a:r>
              <a:rPr dirty="0"/>
              <a:t>this</a:t>
            </a:r>
            <a:r>
              <a:rPr spc="-80" dirty="0"/>
              <a:t> </a:t>
            </a:r>
            <a:r>
              <a:rPr dirty="0"/>
              <a:t>solution</a:t>
            </a:r>
            <a:r>
              <a:rPr spc="7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deployed 	</a:t>
            </a:r>
            <a:r>
              <a:rPr dirty="0"/>
              <a:t>completely</a:t>
            </a:r>
            <a:r>
              <a:rPr spc="170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dirty="0"/>
              <a:t>IBM</a:t>
            </a:r>
            <a:r>
              <a:rPr spc="15" dirty="0"/>
              <a:t> </a:t>
            </a:r>
            <a:r>
              <a:rPr dirty="0"/>
              <a:t>Cloud,</a:t>
            </a:r>
            <a:r>
              <a:rPr spc="40" dirty="0"/>
              <a:t> </a:t>
            </a:r>
            <a:r>
              <a:rPr dirty="0"/>
              <a:t>allowing</a:t>
            </a:r>
            <a:r>
              <a:rPr spc="-15" dirty="0"/>
              <a:t> </a:t>
            </a:r>
            <a:r>
              <a:rPr dirty="0">
                <a:solidFill>
                  <a:srgbClr val="00030F"/>
                </a:solidFill>
              </a:rPr>
              <a:t>it</a:t>
            </a:r>
            <a:r>
              <a:rPr spc="-114" dirty="0">
                <a:solidFill>
                  <a:srgbClr val="00030F"/>
                </a:solidFill>
              </a:rPr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dirty="0"/>
              <a:t>scale</a:t>
            </a:r>
            <a:r>
              <a:rPr spc="-45" dirty="0"/>
              <a:t> </a:t>
            </a:r>
            <a:r>
              <a:rPr dirty="0"/>
              <a:t>instantly</a:t>
            </a:r>
            <a:r>
              <a:rPr spc="4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network</a:t>
            </a:r>
            <a:r>
              <a:rPr spc="85" dirty="0"/>
              <a:t> </a:t>
            </a:r>
            <a:r>
              <a:rPr dirty="0"/>
              <a:t>traffic</a:t>
            </a:r>
            <a:r>
              <a:rPr spc="65" dirty="0"/>
              <a:t> </a:t>
            </a:r>
            <a:r>
              <a:rPr spc="-10" dirty="0"/>
              <a:t>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10"/>
              </a:spcBef>
            </a:pPr>
            <a:r>
              <a:rPr sz="5400" spc="200" dirty="0"/>
              <a:t>Future</a:t>
            </a:r>
            <a:r>
              <a:rPr sz="5400" spc="75" dirty="0"/>
              <a:t> </a:t>
            </a:r>
            <a:r>
              <a:rPr sz="5400" spc="135" dirty="0"/>
              <a:t>Scope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365136" y="2394949"/>
            <a:ext cx="17349470" cy="559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 marR="495300" indent="-348615">
              <a:lnSpc>
                <a:spcPct val="125800"/>
              </a:lnSpc>
              <a:spcBef>
                <a:spcPts val="95"/>
              </a:spcBef>
              <a:buFont typeface="Arial MT"/>
              <a:buChar char="•"/>
              <a:tabLst>
                <a:tab pos="360680" algn="l"/>
              </a:tabLst>
            </a:pPr>
            <a:r>
              <a:rPr sz="2950" b="1" dirty="0">
                <a:latin typeface="Arial"/>
                <a:cs typeface="Arial"/>
              </a:rPr>
              <a:t>IoT</a:t>
            </a:r>
            <a:r>
              <a:rPr sz="2950" b="1" spc="-105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(Internet</a:t>
            </a:r>
            <a:r>
              <a:rPr sz="2950" b="1" spc="90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of</a:t>
            </a:r>
            <a:r>
              <a:rPr sz="2950" b="1" spc="-35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Things)</a:t>
            </a:r>
            <a:r>
              <a:rPr sz="2950" b="1" spc="65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Integration:</a:t>
            </a:r>
            <a:r>
              <a:rPr sz="2950" b="1" spc="15" dirty="0">
                <a:latin typeface="Arial"/>
                <a:cs typeface="Arial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1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model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can</a:t>
            </a:r>
            <a:r>
              <a:rPr sz="2950" spc="-1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be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retrained</a:t>
            </a:r>
            <a:r>
              <a:rPr sz="2950" spc="11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on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IoT-</a:t>
            </a:r>
            <a:r>
              <a:rPr sz="2950" dirty="0">
                <a:latin typeface="Arial MT"/>
                <a:cs typeface="Arial MT"/>
              </a:rPr>
              <a:t>specific</a:t>
            </a:r>
            <a:r>
              <a:rPr sz="2950" spc="1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traffic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datasets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to </a:t>
            </a:r>
            <a:r>
              <a:rPr sz="2950" dirty="0">
                <a:latin typeface="Arial MT"/>
                <a:cs typeface="Arial MT"/>
              </a:rPr>
              <a:t>secure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smart</a:t>
            </a:r>
            <a:r>
              <a:rPr sz="2950" spc="-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homes,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industrial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sensors,</a:t>
            </a:r>
            <a:r>
              <a:rPr sz="2950" spc="11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and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smart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city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infrastructure,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which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have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different</a:t>
            </a:r>
            <a:r>
              <a:rPr sz="2950" spc="9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traffic </a:t>
            </a:r>
            <a:r>
              <a:rPr sz="2950" dirty="0">
                <a:latin typeface="Arial MT"/>
                <a:cs typeface="Arial MT"/>
              </a:rPr>
              <a:t>profiles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than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standard</a:t>
            </a:r>
            <a:r>
              <a:rPr sz="2950" spc="1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computers.</a:t>
            </a:r>
            <a:endParaRPr sz="2950" dirty="0">
              <a:latin typeface="Arial MT"/>
              <a:cs typeface="Arial MT"/>
            </a:endParaRPr>
          </a:p>
          <a:p>
            <a:pPr marL="356235" marR="5080" indent="-344170">
              <a:lnSpc>
                <a:spcPct val="125800"/>
              </a:lnSpc>
              <a:spcBef>
                <a:spcPts val="1855"/>
              </a:spcBef>
              <a:buChar char="•"/>
              <a:tabLst>
                <a:tab pos="361950" algn="l"/>
              </a:tabLst>
            </a:pPr>
            <a:r>
              <a:rPr sz="2950" b="1" dirty="0">
                <a:latin typeface="Arial MT"/>
                <a:cs typeface="Arial MT"/>
              </a:rPr>
              <a:t>Real-Time</a:t>
            </a:r>
            <a:r>
              <a:rPr sz="2950" b="1" spc="114" dirty="0">
                <a:latin typeface="Arial MT"/>
                <a:cs typeface="Arial MT"/>
              </a:rPr>
              <a:t> </a:t>
            </a:r>
            <a:r>
              <a:rPr sz="2950" b="1" spc="60" dirty="0">
                <a:latin typeface="Arial MT"/>
                <a:cs typeface="Arial MT"/>
              </a:rPr>
              <a:t>Stream</a:t>
            </a:r>
            <a:r>
              <a:rPr sz="2950" b="1" dirty="0">
                <a:latin typeface="Arial MT"/>
                <a:cs typeface="Arial MT"/>
              </a:rPr>
              <a:t> </a:t>
            </a:r>
            <a:r>
              <a:rPr sz="2950" b="1" dirty="0">
                <a:latin typeface="Arial"/>
                <a:cs typeface="Arial"/>
              </a:rPr>
              <a:t>Processing:</a:t>
            </a:r>
            <a:r>
              <a:rPr sz="2950" b="1" spc="235" dirty="0">
                <a:latin typeface="Arial"/>
                <a:cs typeface="Arial"/>
              </a:rPr>
              <a:t> </a:t>
            </a:r>
            <a:r>
              <a:rPr sz="2950" dirty="0">
                <a:latin typeface="Arial MT"/>
                <a:cs typeface="Arial MT"/>
              </a:rPr>
              <a:t>Integrating</a:t>
            </a:r>
            <a:r>
              <a:rPr sz="2950" spc="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tools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like</a:t>
            </a:r>
            <a:r>
              <a:rPr sz="2950" spc="-1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Apache</a:t>
            </a:r>
            <a:r>
              <a:rPr sz="2950" spc="1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Kafka</a:t>
            </a:r>
            <a:r>
              <a:rPr sz="2950" spc="-95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00518"/>
                </a:solidFill>
                <a:latin typeface="Arial MT"/>
                <a:cs typeface="Arial MT"/>
              </a:rPr>
              <a:t>to</a:t>
            </a:r>
            <a:r>
              <a:rPr sz="2950" spc="-50" dirty="0">
                <a:solidFill>
                  <a:srgbClr val="000518"/>
                </a:solidFill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transition</a:t>
            </a:r>
            <a:r>
              <a:rPr sz="2950" spc="1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from</a:t>
            </a:r>
            <a:r>
              <a:rPr sz="2950" spc="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batch</a:t>
            </a:r>
            <a:r>
              <a:rPr sz="2950" spc="6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prediction 	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high-</a:t>
            </a:r>
            <a:r>
              <a:rPr sz="2950" dirty="0">
                <a:latin typeface="Arial MT"/>
                <a:cs typeface="Arial MT"/>
              </a:rPr>
              <a:t>throughput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stream</a:t>
            </a:r>
            <a:r>
              <a:rPr sz="2950" spc="-1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processing,</a:t>
            </a:r>
            <a:r>
              <a:rPr sz="2950" spc="1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handling</a:t>
            </a:r>
            <a:r>
              <a:rPr sz="2950" spc="1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millions</a:t>
            </a:r>
            <a:r>
              <a:rPr sz="2950" spc="7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packets</a:t>
            </a:r>
            <a:r>
              <a:rPr sz="2950" spc="-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per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second</a:t>
            </a:r>
            <a:r>
              <a:rPr sz="2950" spc="-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with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sub-</a:t>
            </a:r>
            <a:r>
              <a:rPr sz="2950" spc="-10" dirty="0">
                <a:latin typeface="Arial MT"/>
                <a:cs typeface="Arial MT"/>
              </a:rPr>
              <a:t>millisecond 	latency.</a:t>
            </a:r>
            <a:endParaRPr sz="2950" dirty="0">
              <a:latin typeface="Arial MT"/>
              <a:cs typeface="Arial MT"/>
            </a:endParaRPr>
          </a:p>
          <a:p>
            <a:pPr marL="358140" marR="369570" indent="-346075">
              <a:lnSpc>
                <a:spcPct val="126600"/>
              </a:lnSpc>
              <a:spcBef>
                <a:spcPts val="1825"/>
              </a:spcBef>
              <a:buFont typeface="Arial MT"/>
              <a:buChar char="•"/>
              <a:tabLst>
                <a:tab pos="360680" algn="l"/>
                <a:tab pos="14029055" algn="l"/>
              </a:tabLst>
            </a:pPr>
            <a:r>
              <a:rPr sz="2950" b="1" dirty="0">
                <a:latin typeface="Arial"/>
                <a:cs typeface="Arial"/>
              </a:rPr>
              <a:t>Hybrid</a:t>
            </a:r>
            <a:r>
              <a:rPr sz="2950" b="1" spc="-5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Cloud</a:t>
            </a:r>
            <a:r>
              <a:rPr sz="2950" b="1" spc="5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Scaling:</a:t>
            </a:r>
            <a:r>
              <a:rPr sz="2950" b="1" spc="60" dirty="0">
                <a:latin typeface="Arial"/>
                <a:cs typeface="Arial"/>
              </a:rPr>
              <a:t> </a:t>
            </a:r>
            <a:r>
              <a:rPr sz="2950" dirty="0">
                <a:latin typeface="Arial MT"/>
                <a:cs typeface="Arial MT"/>
              </a:rPr>
              <a:t>Expanding</a:t>
            </a:r>
            <a:r>
              <a:rPr sz="2950" spc="1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deployment</a:t>
            </a:r>
            <a:r>
              <a:rPr sz="2950" spc="1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</a:t>
            </a:r>
            <a:r>
              <a:rPr sz="2950" spc="-1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hybrid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cloud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architecture,</a:t>
            </a:r>
            <a:r>
              <a:rPr sz="2950" dirty="0">
                <a:latin typeface="Arial MT"/>
                <a:cs typeface="Arial MT"/>
              </a:rPr>
              <a:t>	allowing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the 	</a:t>
            </a:r>
            <a:r>
              <a:rPr sz="2950" dirty="0">
                <a:latin typeface="Arial MT"/>
                <a:cs typeface="Arial MT"/>
              </a:rPr>
              <a:t>detection</a:t>
            </a:r>
            <a:r>
              <a:rPr sz="2950" spc="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engine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protect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decentralized</a:t>
            </a:r>
            <a:r>
              <a:rPr sz="2950" spc="1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enterprise</a:t>
            </a:r>
            <a:r>
              <a:rPr sz="2950" spc="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networks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spanning</a:t>
            </a:r>
            <a:r>
              <a:rPr sz="2950" spc="-1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across</a:t>
            </a:r>
            <a:r>
              <a:rPr sz="2950" spc="-105" dirty="0">
                <a:latin typeface="Arial MT"/>
                <a:cs typeface="Arial MT"/>
              </a:rPr>
              <a:t> </a:t>
            </a:r>
            <a:r>
              <a:rPr sz="2950" spc="-40" dirty="0">
                <a:latin typeface="Arial MT"/>
                <a:cs typeface="Arial MT"/>
              </a:rPr>
              <a:t>AWS,</a:t>
            </a:r>
            <a:r>
              <a:rPr sz="2950" spc="-1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Azure,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and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on- 	</a:t>
            </a:r>
            <a:r>
              <a:rPr sz="2950" dirty="0">
                <a:latin typeface="Arial MT"/>
                <a:cs typeface="Arial MT"/>
              </a:rPr>
              <a:t>premise</a:t>
            </a:r>
            <a:r>
              <a:rPr sz="2950" spc="3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servers.</a:t>
            </a:r>
            <a:endParaRPr sz="2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6FEAFF1-E9AD-716F-ED42-F63E9BAE4B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613" y="822325"/>
            <a:ext cx="16155987" cy="10461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spc="110" dirty="0"/>
              <a:t>GitHub</a:t>
            </a:r>
            <a:r>
              <a:rPr spc="180" dirty="0"/>
              <a:t> </a:t>
            </a:r>
            <a:r>
              <a:rPr spc="145" dirty="0"/>
              <a:t>Repository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4D73227-B6F3-0F03-CABA-7AA42A20A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1997075"/>
            <a:ext cx="17443450" cy="302518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complete</a:t>
            </a:r>
            <a:r>
              <a:rPr sz="2950" spc="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code,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deployment</a:t>
            </a:r>
            <a:r>
              <a:rPr sz="2950" spc="1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configuration,</a:t>
            </a:r>
            <a:r>
              <a:rPr sz="2950" spc="-1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and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presentation</a:t>
            </a:r>
            <a:r>
              <a:rPr sz="2950" spc="1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files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are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hosted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00031F"/>
                </a:solidFill>
                <a:latin typeface="Arial MT"/>
                <a:cs typeface="Arial MT"/>
              </a:rPr>
              <a:t>on</a:t>
            </a:r>
            <a:r>
              <a:rPr sz="2950" spc="-140" dirty="0">
                <a:solidFill>
                  <a:srgbClr val="00031F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GitHub.</a:t>
            </a:r>
            <a:endParaRPr lang="en-US" sz="295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IN" spc="-10" dirty="0"/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IN" sz="295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IN" spc="-10" dirty="0"/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IN" sz="295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4400" dirty="0"/>
              <a:t>GitHub link</a:t>
            </a:r>
            <a:r>
              <a:rPr lang="en-IN" dirty="0"/>
              <a:t>:  https://github.com/Prathmeshk-web/IBM_NIDS</a:t>
            </a:r>
            <a:endParaRPr sz="29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46001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850" spc="-715" dirty="0">
                <a:solidFill>
                  <a:srgbClr val="011F60"/>
                </a:solidFill>
              </a:rPr>
              <a:t>Thank</a:t>
            </a:r>
            <a:r>
              <a:rPr sz="12850" spc="265" dirty="0">
                <a:solidFill>
                  <a:srgbClr val="011F60"/>
                </a:solidFill>
              </a:rPr>
              <a:t> </a:t>
            </a:r>
            <a:r>
              <a:rPr sz="12850" spc="-890" dirty="0">
                <a:solidFill>
                  <a:srgbClr val="011F60"/>
                </a:solidFill>
              </a:rPr>
              <a:t>You!</a:t>
            </a:r>
            <a:endParaRPr sz="12850"/>
          </a:p>
        </p:txBody>
      </p:sp>
      <p:sp>
        <p:nvSpPr>
          <p:cNvPr id="3" name="object 3"/>
          <p:cNvSpPr txBox="1"/>
          <p:nvPr/>
        </p:nvSpPr>
        <p:spPr>
          <a:xfrm>
            <a:off x="6455423" y="6793375"/>
            <a:ext cx="715772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45" dirty="0">
                <a:solidFill>
                  <a:srgbClr val="232323"/>
                </a:solidFill>
                <a:latin typeface="Arial MT"/>
                <a:cs typeface="Arial MT"/>
              </a:rPr>
              <a:t>Thank</a:t>
            </a:r>
            <a:r>
              <a:rPr sz="3600" spc="-20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82828"/>
                </a:solidFill>
                <a:latin typeface="Arial MT"/>
                <a:cs typeface="Arial MT"/>
              </a:rPr>
              <a:t>you</a:t>
            </a:r>
            <a:r>
              <a:rPr sz="3600" spc="-25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2A2A2A"/>
                </a:solidFill>
                <a:latin typeface="Arial MT"/>
                <a:cs typeface="Arial MT"/>
              </a:rPr>
              <a:t>for</a:t>
            </a:r>
            <a:r>
              <a:rPr sz="3600" spc="-1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3600" spc="-40" dirty="0">
                <a:solidFill>
                  <a:srgbClr val="1D1D1D"/>
                </a:solidFill>
                <a:latin typeface="Arial MT"/>
                <a:cs typeface="Arial MT"/>
              </a:rPr>
              <a:t>your</a:t>
            </a:r>
            <a:r>
              <a:rPr sz="3600" spc="-1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262626"/>
                </a:solidFill>
                <a:latin typeface="Arial MT"/>
                <a:cs typeface="Arial MT"/>
              </a:rPr>
              <a:t>time</a:t>
            </a:r>
            <a:r>
              <a:rPr sz="3600" spc="-229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3600" spc="-229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3600" spc="-70" dirty="0">
                <a:solidFill>
                  <a:srgbClr val="1F1F1F"/>
                </a:solidFill>
                <a:latin typeface="Arial MT"/>
                <a:cs typeface="Arial MT"/>
              </a:rPr>
              <a:t>interest.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1083</Words>
  <Application>Microsoft Office PowerPoint</Application>
  <PresentationFormat>Custom</PresentationFormat>
  <Paragraphs>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Electronics and Telecommunications Engineering: (Machine learning project)</vt:lpstr>
      <vt:lpstr>Technology Used</vt:lpstr>
      <vt:lpstr>Proposed Solution: NIDS</vt:lpstr>
      <vt:lpstr>Components Required</vt:lpstr>
      <vt:lpstr>Deployment Status</vt:lpstr>
      <vt:lpstr>Testing and Evaluation</vt:lpstr>
      <vt:lpstr>Role of the Project</vt:lpstr>
      <vt:lpstr>Technology Details</vt:lpstr>
      <vt:lpstr>Novelty and Uniqueness</vt:lpstr>
      <vt:lpstr>Future Scope</vt:lpstr>
      <vt:lpstr>GitHub Repository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Prathmesh Kadam</dc:creator>
  <cp:lastModifiedBy>Prathmesh Kadam</cp:lastModifiedBy>
  <cp:revision>4</cp:revision>
  <dcterms:created xsi:type="dcterms:W3CDTF">2026-06-04T18:02:43Z</dcterms:created>
  <dcterms:modified xsi:type="dcterms:W3CDTF">2026-06-05T16:50:36Z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LastSaved">
    <vt:filetime>2026-06-04T00:00:00Z</vt:filetime>
  </property>
</Properties>
</file>